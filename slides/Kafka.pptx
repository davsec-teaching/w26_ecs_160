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70"/>
  </p:notesMasterIdLst>
  <p:handoutMasterIdLst>
    <p:handoutMasterId r:id="rId71"/>
  </p:handoutMasterIdLst>
  <p:sldIdLst>
    <p:sldId id="256" r:id="rId2"/>
    <p:sldId id="257" r:id="rId3"/>
    <p:sldId id="285" r:id="rId4"/>
    <p:sldId id="286" r:id="rId5"/>
    <p:sldId id="287" r:id="rId6"/>
    <p:sldId id="288" r:id="rId7"/>
    <p:sldId id="258" r:id="rId8"/>
    <p:sldId id="259" r:id="rId9"/>
    <p:sldId id="333" r:id="rId10"/>
    <p:sldId id="290" r:id="rId11"/>
    <p:sldId id="291" r:id="rId12"/>
    <p:sldId id="334" r:id="rId13"/>
    <p:sldId id="260" r:id="rId14"/>
    <p:sldId id="261" r:id="rId15"/>
    <p:sldId id="262" r:id="rId16"/>
    <p:sldId id="292" r:id="rId17"/>
    <p:sldId id="293" r:id="rId18"/>
    <p:sldId id="294" r:id="rId19"/>
    <p:sldId id="265" r:id="rId20"/>
    <p:sldId id="295" r:id="rId21"/>
    <p:sldId id="296" r:id="rId22"/>
    <p:sldId id="332" r:id="rId23"/>
    <p:sldId id="330" r:id="rId24"/>
    <p:sldId id="331" r:id="rId25"/>
    <p:sldId id="335" r:id="rId26"/>
    <p:sldId id="336" r:id="rId27"/>
    <p:sldId id="337" r:id="rId28"/>
    <p:sldId id="319" r:id="rId29"/>
    <p:sldId id="320" r:id="rId30"/>
    <p:sldId id="321" r:id="rId31"/>
    <p:sldId id="322" r:id="rId32"/>
    <p:sldId id="324" r:id="rId33"/>
    <p:sldId id="325" r:id="rId34"/>
    <p:sldId id="326" r:id="rId35"/>
    <p:sldId id="327" r:id="rId36"/>
    <p:sldId id="267" r:id="rId37"/>
    <p:sldId id="268" r:id="rId38"/>
    <p:sldId id="270" r:id="rId39"/>
    <p:sldId id="271" r:id="rId40"/>
    <p:sldId id="297" r:id="rId41"/>
    <p:sldId id="298" r:id="rId42"/>
    <p:sldId id="302" r:id="rId43"/>
    <p:sldId id="300" r:id="rId44"/>
    <p:sldId id="301" r:id="rId45"/>
    <p:sldId id="303" r:id="rId46"/>
    <p:sldId id="304" r:id="rId47"/>
    <p:sldId id="305" r:id="rId48"/>
    <p:sldId id="272" r:id="rId49"/>
    <p:sldId id="274" r:id="rId50"/>
    <p:sldId id="275" r:id="rId51"/>
    <p:sldId id="306" r:id="rId52"/>
    <p:sldId id="277" r:id="rId53"/>
    <p:sldId id="307" r:id="rId54"/>
    <p:sldId id="308" r:id="rId55"/>
    <p:sldId id="309" r:id="rId56"/>
    <p:sldId id="311" r:id="rId57"/>
    <p:sldId id="310" r:id="rId58"/>
    <p:sldId id="313" r:id="rId59"/>
    <p:sldId id="314" r:id="rId60"/>
    <p:sldId id="315" r:id="rId61"/>
    <p:sldId id="312" r:id="rId62"/>
    <p:sldId id="316" r:id="rId63"/>
    <p:sldId id="317" r:id="rId64"/>
    <p:sldId id="318" r:id="rId65"/>
    <p:sldId id="280" r:id="rId66"/>
    <p:sldId id="329" r:id="rId67"/>
    <p:sldId id="328" r:id="rId68"/>
    <p:sldId id="338" r:id="rId69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6EFFD"/>
    <a:srgbClr val="DDDDFF"/>
    <a:srgbClr val="E6E0EC"/>
    <a:srgbClr val="FFD5D5"/>
    <a:srgbClr val="FFFFFF"/>
    <a:srgbClr val="B8B8B8"/>
    <a:srgbClr val="B9B9FF"/>
    <a:srgbClr val="646464"/>
    <a:srgbClr val="0033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 autoAdjust="0"/>
    <p:restoredTop sz="77395" autoAdjust="0"/>
  </p:normalViewPr>
  <p:slideViewPr>
    <p:cSldViewPr snapToGrid="0">
      <p:cViewPr varScale="1">
        <p:scale>
          <a:sx n="88" d="100"/>
          <a:sy n="88" d="100"/>
        </p:scale>
        <p:origin x="496" y="176"/>
      </p:cViewPr>
      <p:guideLst/>
    </p:cSldViewPr>
  </p:slideViewPr>
  <p:outlineViewPr>
    <p:cViewPr>
      <p:scale>
        <a:sx n="33" d="100"/>
        <a:sy n="33" d="100"/>
      </p:scale>
      <p:origin x="0" y="-465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946"/>
    </p:cViewPr>
  </p:sorter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78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programming models for distributed system</a:t>
            </a:r>
          </a:p>
          <a:p>
            <a:r>
              <a:rPr lang="en-US" dirty="0"/>
              <a:t>Understand internal architecture of distributed system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don’t go into why this is different</a:t>
            </a:r>
          </a:p>
        </p:txBody>
      </p:sp>
    </p:spTree>
    <p:extLst>
      <p:ext uri="{BB962C8B-B14F-4D97-AF65-F5344CB8AC3E}">
        <p14:creationId xmlns:p14="http://schemas.microsoft.com/office/powerpoint/2010/main" val="2850319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Whatever we have seen so far is similar a a message queue</a:t>
            </a:r>
          </a:p>
        </p:txBody>
      </p:sp>
    </p:spTree>
    <p:extLst>
      <p:ext uri="{BB962C8B-B14F-4D97-AF65-F5344CB8AC3E}">
        <p14:creationId xmlns:p14="http://schemas.microsoft.com/office/powerpoint/2010/main" val="625642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There is an in-memory position maintained by the broker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There is a saved commit position</a:t>
            </a:r>
          </a:p>
        </p:txBody>
      </p:sp>
    </p:spTree>
    <p:extLst>
      <p:ext uri="{BB962C8B-B14F-4D97-AF65-F5344CB8AC3E}">
        <p14:creationId xmlns:p14="http://schemas.microsoft.com/office/powerpoint/2010/main" val="1406848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Kafka admin sets it up</a:t>
            </a:r>
          </a:p>
        </p:txBody>
      </p:sp>
    </p:spTree>
    <p:extLst>
      <p:ext uri="{BB962C8B-B14F-4D97-AF65-F5344CB8AC3E}">
        <p14:creationId xmlns:p14="http://schemas.microsoft.com/office/powerpoint/2010/main" val="905409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Kafka admin sets it 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090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Can implement own partitioner</a:t>
            </a:r>
          </a:p>
        </p:txBody>
      </p:sp>
    </p:spTree>
    <p:extLst>
      <p:ext uri="{BB962C8B-B14F-4D97-AF65-F5344CB8AC3E}">
        <p14:creationId xmlns:p14="http://schemas.microsoft.com/office/powerpoint/2010/main" val="1145560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Wednesday, February 18, 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/>
          <a:p>
            <a:r>
              <a:rPr lang="en-US" dirty="0"/>
              <a:t>Tapti Palit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101" y="1754354"/>
            <a:ext cx="11377194" cy="1674645"/>
          </a:xfrm>
        </p:spPr>
        <p:txBody>
          <a:bodyPr/>
          <a:lstStyle/>
          <a:p>
            <a:r>
              <a:rPr lang="en-US" dirty="0"/>
              <a:t>Kafka: a use case for high-throughput data systems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F4CC95-3C12-8C2F-BBA2-624D566A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Caller blocks until the response arrives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If the callee is down, the caller fails or must retry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F9CF3D-B2F6-E49A-733E-B5929195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lang="en-US" dirty="0"/>
              <a:t>p</a:t>
            </a:r>
            <a:r>
              <a:rPr dirty="0"/>
              <a:t>roblem with </a:t>
            </a:r>
            <a:r>
              <a:rPr lang="en-US" dirty="0"/>
              <a:t>r</a:t>
            </a:r>
            <a:r>
              <a:rPr dirty="0"/>
              <a:t>equest/</a:t>
            </a:r>
            <a:r>
              <a:rPr lang="en-US" dirty="0"/>
              <a:t>r</a:t>
            </a:r>
            <a:r>
              <a:rPr dirty="0"/>
              <a:t>esponse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265EBF-309A-01EB-8660-382D5815E56F}"/>
              </a:ext>
            </a:extLst>
          </p:cNvPr>
          <p:cNvSpPr/>
          <p:nvPr/>
        </p:nvSpPr>
        <p:spPr>
          <a:xfrm>
            <a:off x="6539839" y="2857366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255B4-32C2-53D0-837A-7B14070290F4}"/>
              </a:ext>
            </a:extLst>
          </p:cNvPr>
          <p:cNvSpPr/>
          <p:nvPr/>
        </p:nvSpPr>
        <p:spPr>
          <a:xfrm>
            <a:off x="2767939" y="2857367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7E701-DD25-5BC0-0826-199DC3AA5E10}"/>
              </a:ext>
            </a:extLst>
          </p:cNvPr>
          <p:cNvSpPr txBox="1"/>
          <p:nvPr/>
        </p:nvSpPr>
        <p:spPr>
          <a:xfrm>
            <a:off x="4268354" y="2430085"/>
            <a:ext cx="3516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UpdateCust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(9002, UVW, ABCD)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4564B7-41FC-3D65-92B4-A0EEECEBD177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533229" y="3143184"/>
            <a:ext cx="200661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09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86A9-3145-23D6-03C6-BAB56EAB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00D63A-8F4D-E788-AF36-C87FCE818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Caller blocks until the response arrives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If the callee is down, the caller fails or must retry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B4FA2-AF21-8A18-91C8-153B9888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request/response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F35985-D968-DD67-C709-FE69AB088FFE}"/>
              </a:ext>
            </a:extLst>
          </p:cNvPr>
          <p:cNvSpPr/>
          <p:nvPr/>
        </p:nvSpPr>
        <p:spPr>
          <a:xfrm>
            <a:off x="6539839" y="2857366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0D91B-CC2F-ECCA-BEA0-7C58F1282F86}"/>
              </a:ext>
            </a:extLst>
          </p:cNvPr>
          <p:cNvSpPr/>
          <p:nvPr/>
        </p:nvSpPr>
        <p:spPr>
          <a:xfrm>
            <a:off x="2767939" y="2857367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61D1A7-47F1-A4C6-FA30-7A5682B47B83}"/>
              </a:ext>
            </a:extLst>
          </p:cNvPr>
          <p:cNvSpPr txBox="1"/>
          <p:nvPr/>
        </p:nvSpPr>
        <p:spPr>
          <a:xfrm>
            <a:off x="5295811" y="2518812"/>
            <a:ext cx="481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BFA62E-D0D1-6961-51FD-A804FADC0BFE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flipH="1">
            <a:off x="4533229" y="3143183"/>
            <a:ext cx="2006610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45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41BB-49AB-C741-A5DA-EA8F6218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FB56D2-2747-4791-6FA0-271FAC731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Message queues mitigate some of these problems</a:t>
            </a:r>
          </a:p>
          <a:p>
            <a:r>
              <a:rPr lang="en-US" dirty="0"/>
              <a:t>But still, the caller must know the callee (tight coupling)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82143C-7563-24F2-87C8-992BB478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request/response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8F167F-99E2-15C9-4797-C7E5C9E6FDF0}"/>
              </a:ext>
            </a:extLst>
          </p:cNvPr>
          <p:cNvSpPr/>
          <p:nvPr/>
        </p:nvSpPr>
        <p:spPr>
          <a:xfrm>
            <a:off x="6539839" y="3111366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E506B-14DD-55D0-E2DC-F63AAF0D5DAC}"/>
              </a:ext>
            </a:extLst>
          </p:cNvPr>
          <p:cNvSpPr/>
          <p:nvPr/>
        </p:nvSpPr>
        <p:spPr>
          <a:xfrm>
            <a:off x="2767939" y="3111367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39470AD2-B9E5-A268-4DB3-E2B4DE232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51" y="3211615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FFB147-63C3-9396-9084-8F8E341B2CE4}"/>
              </a:ext>
            </a:extLst>
          </p:cNvPr>
          <p:cNvSpPr txBox="1"/>
          <p:nvPr/>
        </p:nvSpPr>
        <p:spPr>
          <a:xfrm>
            <a:off x="4695984" y="3965756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RabbitMQ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1219FF-A9BE-9D44-4A13-323BBF38CD0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33229" y="3397182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BA325F-B738-4099-9C7F-B8B5B0620873}"/>
              </a:ext>
            </a:extLst>
          </p:cNvPr>
          <p:cNvCxnSpPr>
            <a:cxnSpLocks/>
            <a:stCxn id="8" idx="3"/>
            <a:endCxn id="2" idx="1"/>
          </p:cNvCxnSpPr>
          <p:nvPr/>
        </p:nvCxnSpPr>
        <p:spPr>
          <a:xfrm>
            <a:off x="5748917" y="3397182"/>
            <a:ext cx="790922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A8EB9C-D33B-CB9D-9B4A-6201A68CB221}"/>
              </a:ext>
            </a:extLst>
          </p:cNvPr>
          <p:cNvSpPr txBox="1"/>
          <p:nvPr/>
        </p:nvSpPr>
        <p:spPr>
          <a:xfrm>
            <a:off x="2815722" y="2605065"/>
            <a:ext cx="3280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UpdateCust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(9002, UVW, ABCD)</a:t>
            </a:r>
          </a:p>
        </p:txBody>
      </p:sp>
    </p:spTree>
    <p:extLst>
      <p:ext uri="{BB962C8B-B14F-4D97-AF65-F5344CB8AC3E}">
        <p14:creationId xmlns:p14="http://schemas.microsoft.com/office/powerpoint/2010/main" val="186452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ABAA-10B3-059F-E144-CA68AE67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09AF3D-3218-C325-68CC-CCB1D314C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Message queues mitigate some of these problems</a:t>
            </a:r>
          </a:p>
          <a:p>
            <a:r>
              <a:rPr lang="en-US" dirty="0"/>
              <a:t>But still, the caller must know the callee (tight coupling)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1BBA60-7F02-FDD3-9F2F-66E2F6C5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request/response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2611BE-CB8A-1F9E-FCAE-02608A02DD87}"/>
              </a:ext>
            </a:extLst>
          </p:cNvPr>
          <p:cNvSpPr/>
          <p:nvPr/>
        </p:nvSpPr>
        <p:spPr>
          <a:xfrm>
            <a:off x="6539839" y="3111366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3C67EA-16BB-5B00-9B7D-02215D7756CA}"/>
              </a:ext>
            </a:extLst>
          </p:cNvPr>
          <p:cNvSpPr/>
          <p:nvPr/>
        </p:nvSpPr>
        <p:spPr>
          <a:xfrm>
            <a:off x="2767939" y="3111367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DC040326-140E-ECF9-7647-18DC11990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51" y="3211615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350B46-AE61-4187-BE5D-9A4B990EC2A8}"/>
              </a:ext>
            </a:extLst>
          </p:cNvPr>
          <p:cNvSpPr txBox="1"/>
          <p:nvPr/>
        </p:nvSpPr>
        <p:spPr>
          <a:xfrm>
            <a:off x="4695984" y="3965756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RabbitMQ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2BF14C-3F2E-D37E-CAF3-6BA380D161C6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33229" y="3397182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8415F8-8433-C83A-9E35-EACAE125BA32}"/>
              </a:ext>
            </a:extLst>
          </p:cNvPr>
          <p:cNvCxnSpPr>
            <a:cxnSpLocks/>
            <a:stCxn id="8" idx="3"/>
            <a:endCxn id="2" idx="1"/>
          </p:cNvCxnSpPr>
          <p:nvPr/>
        </p:nvCxnSpPr>
        <p:spPr>
          <a:xfrm>
            <a:off x="5748917" y="3397182"/>
            <a:ext cx="790922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C21682-E83D-6C15-6C56-6F5316723353}"/>
              </a:ext>
            </a:extLst>
          </p:cNvPr>
          <p:cNvSpPr txBox="1"/>
          <p:nvPr/>
        </p:nvSpPr>
        <p:spPr>
          <a:xfrm>
            <a:off x="4042611" y="3691356"/>
            <a:ext cx="3236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UpdateCust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(9002, UVW, ABCD)</a:t>
            </a:r>
          </a:p>
        </p:txBody>
      </p:sp>
    </p:spTree>
    <p:extLst>
      <p:ext uri="{BB962C8B-B14F-4D97-AF65-F5344CB8AC3E}">
        <p14:creationId xmlns:p14="http://schemas.microsoft.com/office/powerpoint/2010/main" val="89363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B88A-A75E-C815-B3A0-2242E946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5EB70D-02B7-8942-B2D3-F50C87AED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Message queues mitigate some of these problems</a:t>
            </a:r>
          </a:p>
          <a:p>
            <a:r>
              <a:rPr lang="en-US" dirty="0"/>
              <a:t>But still, the caller must know the callee (tight coupling)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10D174-0661-4607-E443-3BBA6603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request/response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9E2046-FE0D-9F0F-ACCD-4A5881315095}"/>
              </a:ext>
            </a:extLst>
          </p:cNvPr>
          <p:cNvSpPr/>
          <p:nvPr/>
        </p:nvSpPr>
        <p:spPr>
          <a:xfrm>
            <a:off x="6539839" y="3111366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D5FA0-872F-9FC5-A6D1-55145F15D3F0}"/>
              </a:ext>
            </a:extLst>
          </p:cNvPr>
          <p:cNvSpPr/>
          <p:nvPr/>
        </p:nvSpPr>
        <p:spPr>
          <a:xfrm>
            <a:off x="2767939" y="3111367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91570745-4695-2709-DA68-763364403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151" y="3211615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2F92DE-901B-5B0E-EB22-D73F1A2ABCB8}"/>
              </a:ext>
            </a:extLst>
          </p:cNvPr>
          <p:cNvSpPr txBox="1"/>
          <p:nvPr/>
        </p:nvSpPr>
        <p:spPr>
          <a:xfrm>
            <a:off x="4695984" y="3965756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RabbitMQ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3FCC44-6194-3DB5-1EE7-9AA6FB67E28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33229" y="3397182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1C6C68-3759-8C11-B11F-77B6C0FEC23D}"/>
              </a:ext>
            </a:extLst>
          </p:cNvPr>
          <p:cNvCxnSpPr>
            <a:cxnSpLocks/>
            <a:stCxn id="8" idx="3"/>
            <a:endCxn id="2" idx="1"/>
          </p:cNvCxnSpPr>
          <p:nvPr/>
        </p:nvCxnSpPr>
        <p:spPr>
          <a:xfrm>
            <a:off x="5748917" y="3397182"/>
            <a:ext cx="790922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980014-AB9A-44DA-7525-0C37D9553F8C}"/>
              </a:ext>
            </a:extLst>
          </p:cNvPr>
          <p:cNvSpPr txBox="1"/>
          <p:nvPr/>
        </p:nvSpPr>
        <p:spPr>
          <a:xfrm>
            <a:off x="5748917" y="2657803"/>
            <a:ext cx="3202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UpdateCust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(9002, UVW, ABCD)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58B92-17B3-A3FD-49CF-5EA5DC23B02F}"/>
              </a:ext>
            </a:extLst>
          </p:cNvPr>
          <p:cNvSpPr txBox="1"/>
          <p:nvPr/>
        </p:nvSpPr>
        <p:spPr>
          <a:xfrm>
            <a:off x="5160015" y="5053636"/>
            <a:ext cx="667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* Note that the broker here deletes the message once it’s consumed</a:t>
            </a:r>
          </a:p>
        </p:txBody>
      </p:sp>
    </p:spTree>
    <p:extLst>
      <p:ext uri="{BB962C8B-B14F-4D97-AF65-F5344CB8AC3E}">
        <p14:creationId xmlns:p14="http://schemas.microsoft.com/office/powerpoint/2010/main" val="363171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2C14C-D307-3D91-D508-275CCC77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B2EE3D3-2141-10FA-AD10-5DDA1CA58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uses events instead of messages or commands</a:t>
            </a:r>
          </a:p>
          <a:p>
            <a:r>
              <a:rPr lang="en-US" dirty="0"/>
              <a:t>Message or command: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UpdateCust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(9002, UVW, ABCD)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Calibri"/>
              </a:rPr>
              <a:t>Directed at a specific service (Order microservice)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Calibri"/>
              </a:rPr>
              <a:t>Implies a known recipient and expected action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Event: 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CustomerUpdated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(9002, UVW, ABCD)</a:t>
            </a:r>
          </a:p>
          <a:p>
            <a:pPr lvl="1"/>
            <a:r>
              <a:rPr lang="en-US" dirty="0">
                <a:cs typeface="Consolas" panose="020B0609020204030204" pitchFamily="49" charset="0"/>
              </a:rPr>
              <a:t>A fact that happened</a:t>
            </a:r>
          </a:p>
          <a:p>
            <a:pPr lvl="1"/>
            <a:r>
              <a:rPr lang="en-US" dirty="0">
                <a:cs typeface="Consolas" panose="020B0609020204030204" pitchFamily="49" charset="0"/>
              </a:rPr>
              <a:t>Implies no specific recipient – anyone can subscribe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681296-4274-ACA9-C99C-9F21AD9B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 vs events</a:t>
            </a:r>
          </a:p>
        </p:txBody>
      </p:sp>
    </p:spTree>
    <p:extLst>
      <p:ext uri="{BB962C8B-B14F-4D97-AF65-F5344CB8AC3E}">
        <p14:creationId xmlns:p14="http://schemas.microsoft.com/office/powerpoint/2010/main" val="36017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AE55-7D83-33E9-ABFB-1551E12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80A38B-4A65-2DAC-0565-378185DE8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Calibri"/>
              </a:rPr>
              <a:t>A distributed event streaming platform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Originally built at LinkedIn for website activity data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Open-sourced in 2011, graduated from Apache Incubator in 2012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Used at Netflix, LinkedIn, Uber, and thousands of companies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Forms the substrate on which many streaming frameworks operate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Calibri"/>
              </a:rPr>
              <a:t>Apache Flink, Apache Spark (out of scope for this class)</a:t>
            </a:r>
          </a:p>
          <a:p>
            <a:r>
              <a:rPr lang="en-US" dirty="0">
                <a:solidFill>
                  <a:srgbClr val="333333"/>
                </a:solidFill>
                <a:latin typeface="Calibri"/>
              </a:rPr>
              <a:t>Processes trillions of events per day at scale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86D297-7C80-D4A3-BFF2-BFCF05AF3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Apache Kafka?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5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36482-DEB1-CD13-E7FF-2E0B4CDA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Producers append the events to a log</a:t>
            </a:r>
          </a:p>
          <a:p>
            <a:r>
              <a:rPr lang="en-US" dirty="0"/>
              <a:t>Consumers read from the log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B63B14-80A9-C4D5-34C3-318FE9AE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uses the log abstraction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DB7ED0-3BC7-AC4B-B3FE-F00BED1BC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08503"/>
              </p:ext>
            </p:extLst>
          </p:nvPr>
        </p:nvGraphicFramePr>
        <p:xfrm>
          <a:off x="3482222" y="3330517"/>
          <a:ext cx="4975978" cy="748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978">
                  <a:extLst>
                    <a:ext uri="{9D8B030D-6E8A-4147-A177-3AD203B41FA5}">
                      <a16:colId xmlns:a16="http://schemas.microsoft.com/office/drawing/2014/main" val="3925968878"/>
                    </a:ext>
                  </a:extLst>
                </a:gridCol>
              </a:tblGrid>
              <a:tr h="7481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EF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2653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A8CE1E-1E41-8A34-BDAD-7835467B469B}"/>
              </a:ext>
            </a:extLst>
          </p:cNvPr>
          <p:cNvSpPr txBox="1"/>
          <p:nvPr/>
        </p:nvSpPr>
        <p:spPr>
          <a:xfrm>
            <a:off x="5298200" y="2878246"/>
            <a:ext cx="1159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Event log</a:t>
            </a:r>
            <a:endParaRPr lang="en-US" b="1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E1A471-6D07-2152-7FE6-9F6859666097}"/>
              </a:ext>
            </a:extLst>
          </p:cNvPr>
          <p:cNvSpPr/>
          <p:nvPr/>
        </p:nvSpPr>
        <p:spPr>
          <a:xfrm>
            <a:off x="6809002" y="3484918"/>
            <a:ext cx="1469207" cy="409073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Event1:T1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2D149-298E-99AA-57E6-7F72B16C8871}"/>
              </a:ext>
            </a:extLst>
          </p:cNvPr>
          <p:cNvSpPr/>
          <p:nvPr/>
        </p:nvSpPr>
        <p:spPr>
          <a:xfrm>
            <a:off x="5082905" y="3484919"/>
            <a:ext cx="1594621" cy="409073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Event2:T2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E3231D-3DD8-A435-4371-7AF7EBBCEF37}"/>
              </a:ext>
            </a:extLst>
          </p:cNvPr>
          <p:cNvSpPr/>
          <p:nvPr/>
        </p:nvSpPr>
        <p:spPr>
          <a:xfrm>
            <a:off x="3547960" y="3481794"/>
            <a:ext cx="1469207" cy="409073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Event3:T3</a:t>
            </a:r>
          </a:p>
        </p:txBody>
      </p:sp>
    </p:spTree>
    <p:extLst>
      <p:ext uri="{BB962C8B-B14F-4D97-AF65-F5344CB8AC3E}">
        <p14:creationId xmlns:p14="http://schemas.microsoft.com/office/powerpoint/2010/main" val="186013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15D11B-C553-2B42-4A81-1D09A848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topics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37EBA9E-EC48-85DE-ECF6-1B2BEF0F2CE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Kafka events are organized into “topics”</a:t>
            </a:r>
          </a:p>
          <a:p>
            <a:r>
              <a:rPr lang="en-US" dirty="0"/>
              <a:t>A topic is a named logical abstraction</a:t>
            </a:r>
          </a:p>
          <a:p>
            <a:pPr lvl="1"/>
            <a:r>
              <a:rPr lang="en-US" dirty="0"/>
              <a:t>A feed of related events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: ‘customers', 'orders', ‘products'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892F4F3-605C-E12A-2CB2-30A5554D3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556873"/>
              </p:ext>
            </p:extLst>
          </p:nvPr>
        </p:nvGraphicFramePr>
        <p:xfrm>
          <a:off x="6658559" y="1188896"/>
          <a:ext cx="4975978" cy="748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978">
                  <a:extLst>
                    <a:ext uri="{9D8B030D-6E8A-4147-A177-3AD203B41FA5}">
                      <a16:colId xmlns:a16="http://schemas.microsoft.com/office/drawing/2014/main" val="3925968878"/>
                    </a:ext>
                  </a:extLst>
                </a:gridCol>
              </a:tblGrid>
              <a:tr h="7481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2653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A8D69AD-5251-00BB-BB79-6C0C0839E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43436"/>
              </p:ext>
            </p:extLst>
          </p:nvPr>
        </p:nvGraphicFramePr>
        <p:xfrm>
          <a:off x="6658559" y="2934136"/>
          <a:ext cx="4975978" cy="748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978">
                  <a:extLst>
                    <a:ext uri="{9D8B030D-6E8A-4147-A177-3AD203B41FA5}">
                      <a16:colId xmlns:a16="http://schemas.microsoft.com/office/drawing/2014/main" val="3925968878"/>
                    </a:ext>
                  </a:extLst>
                </a:gridCol>
              </a:tblGrid>
              <a:tr h="7481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2653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E3A62C9-712B-0DEA-4BE2-D1AAA8223B60}"/>
              </a:ext>
            </a:extLst>
          </p:cNvPr>
          <p:cNvSpPr txBox="1"/>
          <p:nvPr/>
        </p:nvSpPr>
        <p:spPr>
          <a:xfrm>
            <a:off x="8259242" y="690971"/>
            <a:ext cx="1867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Topic: Customer</a:t>
            </a:r>
            <a:endParaRPr lang="en-US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359A5-676F-5331-0DBC-0CC288F7C30E}"/>
              </a:ext>
            </a:extLst>
          </p:cNvPr>
          <p:cNvSpPr txBox="1"/>
          <p:nvPr/>
        </p:nvSpPr>
        <p:spPr>
          <a:xfrm>
            <a:off x="8301241" y="2440584"/>
            <a:ext cx="1783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Topic: Products</a:t>
            </a:r>
            <a:endParaRPr lang="en-US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0D8F0-9B78-9413-84E8-B454CAE61ED7}"/>
              </a:ext>
            </a:extLst>
          </p:cNvPr>
          <p:cNvSpPr/>
          <p:nvPr/>
        </p:nvSpPr>
        <p:spPr>
          <a:xfrm>
            <a:off x="9985339" y="1343297"/>
            <a:ext cx="1469207" cy="409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Cust1_Create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6E1CF7-1FBB-5A96-F082-0E7458F8CCE8}"/>
              </a:ext>
            </a:extLst>
          </p:cNvPr>
          <p:cNvSpPr/>
          <p:nvPr/>
        </p:nvSpPr>
        <p:spPr>
          <a:xfrm>
            <a:off x="8259242" y="1343298"/>
            <a:ext cx="1594621" cy="409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Cust1_Update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5AF248-81EF-B45D-F76D-F07DB491F663}"/>
              </a:ext>
            </a:extLst>
          </p:cNvPr>
          <p:cNvSpPr/>
          <p:nvPr/>
        </p:nvSpPr>
        <p:spPr>
          <a:xfrm>
            <a:off x="6724297" y="1340173"/>
            <a:ext cx="1469207" cy="409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Cust2_Del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CDDF9D-B20A-E103-716D-C65C129CFB5B}"/>
              </a:ext>
            </a:extLst>
          </p:cNvPr>
          <p:cNvSpPr/>
          <p:nvPr/>
        </p:nvSpPr>
        <p:spPr>
          <a:xfrm>
            <a:off x="9985339" y="3121019"/>
            <a:ext cx="1469207" cy="40907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Prod1_Create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EB0268-27C2-2C6B-7219-B86B4020C906}"/>
              </a:ext>
            </a:extLst>
          </p:cNvPr>
          <p:cNvSpPr/>
          <p:nvPr/>
        </p:nvSpPr>
        <p:spPr>
          <a:xfrm>
            <a:off x="8259242" y="3121020"/>
            <a:ext cx="1594621" cy="40907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Prod2_Update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2F8577-06E3-9311-C24D-7716D06E4D2D}"/>
              </a:ext>
            </a:extLst>
          </p:cNvPr>
          <p:cNvSpPr/>
          <p:nvPr/>
        </p:nvSpPr>
        <p:spPr>
          <a:xfrm>
            <a:off x="6724297" y="3117895"/>
            <a:ext cx="1469207" cy="40907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Prod3_Del</a:t>
            </a:r>
          </a:p>
        </p:txBody>
      </p:sp>
    </p:spTree>
    <p:extLst>
      <p:ext uri="{BB962C8B-B14F-4D97-AF65-F5344CB8AC3E}">
        <p14:creationId xmlns:p14="http://schemas.microsoft.com/office/powerpoint/2010/main" val="3270247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E81F-8CE9-B667-C2F7-5435EB95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D4DCCB-765D-7268-FE00-B99F43F0A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Topics are units of subscription:</a:t>
            </a:r>
          </a:p>
          <a:p>
            <a:pPr lvl="1"/>
            <a:r>
              <a:rPr lang="en-US" dirty="0"/>
              <a:t>Producers write events to a topic</a:t>
            </a:r>
          </a:p>
          <a:p>
            <a:pPr lvl="1"/>
            <a:r>
              <a:rPr lang="en-US" dirty="0"/>
              <a:t>Consumers subscribe to one or more topics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Topics also help improve concurrency (more later)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2D4FFE-FE76-C9FB-3BAB-8E7DC63F6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Kafka topics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6AFD00-59D7-098F-3760-25AC55DA5E0F}"/>
              </a:ext>
            </a:extLst>
          </p:cNvPr>
          <p:cNvSpPr/>
          <p:nvPr/>
        </p:nvSpPr>
        <p:spPr>
          <a:xfrm>
            <a:off x="7583424" y="342900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3472D-325E-6210-1135-594C7182C99C}"/>
              </a:ext>
            </a:extLst>
          </p:cNvPr>
          <p:cNvSpPr/>
          <p:nvPr/>
        </p:nvSpPr>
        <p:spPr>
          <a:xfrm>
            <a:off x="2229680" y="3429000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queue&quot; Icon - Download for free – Iconduck">
            <a:extLst>
              <a:ext uri="{FF2B5EF4-FFF2-40B4-BE49-F238E27FC236}">
                <a16:creationId xmlns:a16="http://schemas.microsoft.com/office/drawing/2014/main" id="{98972B66-D523-5AA1-BA77-20D46099B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814" y="3529249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957926-FAB2-03F7-607D-4BFDF6AE2475}"/>
              </a:ext>
            </a:extLst>
          </p:cNvPr>
          <p:cNvSpPr txBox="1"/>
          <p:nvPr/>
        </p:nvSpPr>
        <p:spPr>
          <a:xfrm>
            <a:off x="4948647" y="4141955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D884DF-DD85-41EC-AC77-97C25B7700F6}"/>
              </a:ext>
            </a:extLst>
          </p:cNvPr>
          <p:cNvSpPr/>
          <p:nvPr/>
        </p:nvSpPr>
        <p:spPr>
          <a:xfrm>
            <a:off x="4906551" y="2955869"/>
            <a:ext cx="1765290" cy="4211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Topic: customer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358EA0-5E68-7C4C-F63C-05800810D6C0}"/>
              </a:ext>
            </a:extLst>
          </p:cNvPr>
          <p:cNvSpPr/>
          <p:nvPr/>
        </p:nvSpPr>
        <p:spPr>
          <a:xfrm>
            <a:off x="4764505" y="2779295"/>
            <a:ext cx="2093495" cy="2070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0E3F66CB-322F-F053-24E1-CBCF9C010A66}"/>
              </a:ext>
            </a:extLst>
          </p:cNvPr>
          <p:cNvCxnSpPr>
            <a:stCxn id="3" idx="3"/>
            <a:endCxn id="16" idx="1"/>
          </p:cNvCxnSpPr>
          <p:nvPr/>
        </p:nvCxnSpPr>
        <p:spPr>
          <a:xfrm flipV="1">
            <a:off x="3994970" y="3166422"/>
            <a:ext cx="911581" cy="5483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B236A7A-2D73-7803-60AB-B68A1BF066F9}"/>
              </a:ext>
            </a:extLst>
          </p:cNvPr>
          <p:cNvCxnSpPr>
            <a:cxnSpLocks/>
            <a:stCxn id="2" idx="1"/>
            <a:endCxn id="16" idx="3"/>
          </p:cNvCxnSpPr>
          <p:nvPr/>
        </p:nvCxnSpPr>
        <p:spPr>
          <a:xfrm rot="10800000">
            <a:off x="6671842" y="3166423"/>
            <a:ext cx="911583" cy="5483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FAC6621-C475-1EDF-3BC2-FF02CC92D903}"/>
              </a:ext>
            </a:extLst>
          </p:cNvPr>
          <p:cNvSpPr txBox="1"/>
          <p:nvPr/>
        </p:nvSpPr>
        <p:spPr>
          <a:xfrm>
            <a:off x="3666764" y="2896883"/>
            <a:ext cx="911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  <a:cs typeface="Consolas" panose="020B0609020204030204" pitchFamily="49" charset="0"/>
              </a:rPr>
              <a:t>publish</a:t>
            </a:r>
            <a:endParaRPr lang="en-US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B942A5-57E0-CEA6-6FEA-2F9C689B1432}"/>
              </a:ext>
            </a:extLst>
          </p:cNvPr>
          <p:cNvSpPr txBox="1"/>
          <p:nvPr/>
        </p:nvSpPr>
        <p:spPr>
          <a:xfrm>
            <a:off x="7023032" y="2880608"/>
            <a:ext cx="112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  <a:cs typeface="Consolas" panose="020B0609020204030204" pitchFamily="49" charset="0"/>
              </a:rPr>
              <a:t>consume</a:t>
            </a:r>
            <a:endParaRPr lang="en-US" dirty="0">
              <a:latin typeface="Helvetic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31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/>
      <p:bldP spid="16" grpId="0" animBg="1"/>
      <p:bldP spid="17" grpId="0" animBg="1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2EAD-B42E-DBEB-5B9B-A822BB41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C9C35D-088B-D645-0766-C780275DF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Kafka uses a binary protocol over TCP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70E901-47B0-4A75-1CC4-23913FD1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uses a binary protocol</a:t>
            </a:r>
          </a:p>
        </p:txBody>
      </p:sp>
      <p:pic>
        <p:nvPicPr>
          <p:cNvPr id="13" name="Picture 12" descr="queue&quot; Icon - Download for free – Iconduck">
            <a:extLst>
              <a:ext uri="{FF2B5EF4-FFF2-40B4-BE49-F238E27FC236}">
                <a16:creationId xmlns:a16="http://schemas.microsoft.com/office/drawing/2014/main" id="{97BA6B70-0B71-98A3-EB0A-763C691A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396" y="4074491"/>
            <a:ext cx="654435" cy="57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D6490A8-D898-CF25-A989-5C69F5331ABD}"/>
              </a:ext>
            </a:extLst>
          </p:cNvPr>
          <p:cNvSpPr/>
          <p:nvPr/>
        </p:nvSpPr>
        <p:spPr>
          <a:xfrm>
            <a:off x="1731890" y="4074490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5FDE1C-7B3D-673E-8EB5-C1675920213E}"/>
              </a:ext>
            </a:extLst>
          </p:cNvPr>
          <p:cNvSpPr/>
          <p:nvPr/>
        </p:nvSpPr>
        <p:spPr>
          <a:xfrm>
            <a:off x="8434421" y="4074491"/>
            <a:ext cx="1748916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MicroService</a:t>
            </a:r>
            <a:r>
              <a:rPr lang="en-US" dirty="0">
                <a:solidFill>
                  <a:schemeClr val="tx1"/>
                </a:solidFill>
              </a:rPr>
              <a:t> 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9177C3-6F15-C933-6AAB-E6D56A283F3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3480806" y="4360307"/>
            <a:ext cx="2149590" cy="86"/>
          </a:xfrm>
          <a:prstGeom prst="straightConnector1">
            <a:avLst/>
          </a:prstGeom>
          <a:ln>
            <a:prstDash val="dashDot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A2F8BF-B4ED-07C7-35F3-B957673A9719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284831" y="4360308"/>
            <a:ext cx="2149590" cy="85"/>
          </a:xfrm>
          <a:prstGeom prst="straightConnector1">
            <a:avLst/>
          </a:prstGeom>
          <a:ln>
            <a:prstDash val="dashDot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CF8E12A0-4F2C-CEB4-78DD-2635E09EB4C1}"/>
              </a:ext>
            </a:extLst>
          </p:cNvPr>
          <p:cNvSpPr/>
          <p:nvPr/>
        </p:nvSpPr>
        <p:spPr>
          <a:xfrm>
            <a:off x="3480805" y="3502772"/>
            <a:ext cx="2229201" cy="57163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TCP</a:t>
            </a:r>
          </a:p>
        </p:txBody>
      </p:sp>
      <p:sp>
        <p:nvSpPr>
          <p:cNvPr id="19" name="Left-Right Arrow 18">
            <a:extLst>
              <a:ext uri="{FF2B5EF4-FFF2-40B4-BE49-F238E27FC236}">
                <a16:creationId xmlns:a16="http://schemas.microsoft.com/office/drawing/2014/main" id="{ECADB664-FBEC-60F7-85CA-3B5631E4D05F}"/>
              </a:ext>
            </a:extLst>
          </p:cNvPr>
          <p:cNvSpPr/>
          <p:nvPr/>
        </p:nvSpPr>
        <p:spPr>
          <a:xfrm>
            <a:off x="6284831" y="3502772"/>
            <a:ext cx="2229201" cy="57163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TCP</a:t>
            </a:r>
          </a:p>
        </p:txBody>
      </p:sp>
      <p:sp>
        <p:nvSpPr>
          <p:cNvPr id="20" name="Left-Right Arrow 19">
            <a:extLst>
              <a:ext uri="{FF2B5EF4-FFF2-40B4-BE49-F238E27FC236}">
                <a16:creationId xmlns:a16="http://schemas.microsoft.com/office/drawing/2014/main" id="{6F948FE0-7F5F-5C57-F526-DA84306BC0DA}"/>
              </a:ext>
            </a:extLst>
          </p:cNvPr>
          <p:cNvSpPr/>
          <p:nvPr/>
        </p:nvSpPr>
        <p:spPr>
          <a:xfrm>
            <a:off x="3441000" y="2788189"/>
            <a:ext cx="2229201" cy="571632"/>
          </a:xfrm>
          <a:prstGeom prst="leftRightArrow">
            <a:avLst/>
          </a:prstGeom>
          <a:solidFill>
            <a:srgbClr val="F6EF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Kafka binary </a:t>
            </a:r>
            <a:r>
              <a:rPr lang="en-US" dirty="0" err="1">
                <a:solidFill>
                  <a:schemeClr val="tx1"/>
                </a:solidFill>
              </a:rPr>
              <a:t>prot.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Left-Right Arrow 20">
            <a:extLst>
              <a:ext uri="{FF2B5EF4-FFF2-40B4-BE49-F238E27FC236}">
                <a16:creationId xmlns:a16="http://schemas.microsoft.com/office/drawing/2014/main" id="{A97ADFBB-EB32-3736-7846-8C137ADB060A}"/>
              </a:ext>
            </a:extLst>
          </p:cNvPr>
          <p:cNvSpPr/>
          <p:nvPr/>
        </p:nvSpPr>
        <p:spPr>
          <a:xfrm>
            <a:off x="6245025" y="2799678"/>
            <a:ext cx="2229201" cy="571632"/>
          </a:xfrm>
          <a:prstGeom prst="leftRightArrow">
            <a:avLst/>
          </a:prstGeom>
          <a:solidFill>
            <a:srgbClr val="F6EF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Kafka binary </a:t>
            </a:r>
            <a:r>
              <a:rPr lang="en-US" dirty="0" err="1">
                <a:solidFill>
                  <a:schemeClr val="tx1"/>
                </a:solidFill>
              </a:rPr>
              <a:t>prot.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822145-8B1E-05F0-B910-2B584150A368}"/>
              </a:ext>
            </a:extLst>
          </p:cNvPr>
          <p:cNvSpPr txBox="1"/>
          <p:nvPr/>
        </p:nvSpPr>
        <p:spPr>
          <a:xfrm>
            <a:off x="5117063" y="4757533"/>
            <a:ext cx="1681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Kafka</a:t>
            </a:r>
          </a:p>
          <a:p>
            <a:pPr algn="ctr"/>
            <a:r>
              <a:rPr lang="en-US" sz="2400" b="1" i="1" dirty="0"/>
              <a:t>broker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218047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9EAB-D30D-C55D-5659-12A12E3F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F6961F-0471-C2CC-B823-561546D00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All Kafka events have the same record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Keys and values are byte arrays</a:t>
            </a:r>
          </a:p>
          <a:p>
            <a:r>
              <a:rPr lang="en-US" dirty="0"/>
              <a:t>Serialization and deserialization is the client’s responsibility</a:t>
            </a:r>
          </a:p>
          <a:p>
            <a:pPr lvl="1"/>
            <a:r>
              <a:rPr lang="en-US" dirty="0"/>
              <a:t>For example, using </a:t>
            </a:r>
            <a:r>
              <a:rPr lang="en-US" dirty="0" err="1"/>
              <a:t>protobuf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187AEF-4391-2AF7-D142-EC41333E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/>
              <a:t>The Kafka Record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89F1CB-AB56-C4F3-CD27-BE49CBCAE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589670"/>
              </p:ext>
            </p:extLst>
          </p:nvPr>
        </p:nvGraphicFramePr>
        <p:xfrm>
          <a:off x="1346200" y="2038511"/>
          <a:ext cx="8940800" cy="822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83664807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221752019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95175360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619192922"/>
                    </a:ext>
                  </a:extLst>
                </a:gridCol>
              </a:tblGrid>
              <a:tr h="7574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Key (optional)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Headers (optional)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2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477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417E-19A1-43D5-9A54-0665BF4D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970719-30FE-1658-24B1-A1FD2CB35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Once an event is written to Kafka, it cannot be modified or deleted</a:t>
            </a:r>
          </a:p>
          <a:p>
            <a:r>
              <a:rPr lang="en-US" dirty="0"/>
              <a:t>An event is a fact: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CustomerUpdated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at time T with these details”</a:t>
            </a:r>
          </a:p>
          <a:p>
            <a:r>
              <a:rPr lang="en-US" dirty="0"/>
              <a:t>If something changes, produce a new event: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CustomerUpdated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at time T+1”</a:t>
            </a:r>
          </a:p>
          <a:p>
            <a:r>
              <a:rPr lang="en-US" dirty="0"/>
              <a:t>The log captures the complete history of what happened</a:t>
            </a:r>
          </a:p>
          <a:p>
            <a:r>
              <a:rPr lang="en-US" dirty="0"/>
              <a:t>Almost as a database: </a:t>
            </a:r>
            <a:r>
              <a:rPr lang="en-US" b="1" i="1" dirty="0"/>
              <a:t>“Data on the outside”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76D81D-3A85-36F9-8B9E-BD441BA3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Events as immutable facts</a:t>
            </a:r>
          </a:p>
        </p:txBody>
      </p:sp>
    </p:spTree>
    <p:extLst>
      <p:ext uri="{BB962C8B-B14F-4D97-AF65-F5344CB8AC3E}">
        <p14:creationId xmlns:p14="http://schemas.microsoft.com/office/powerpoint/2010/main" val="91179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AF6E-7403-E660-1CA4-A6BE3AAF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ED9092-BA74-9591-1995-1920403CD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Traditional message brokers (e.g., RabbitMQ): push model</a:t>
            </a:r>
          </a:p>
          <a:p>
            <a:pPr lvl="1"/>
            <a:r>
              <a:rPr lang="en-US" dirty="0"/>
              <a:t>Broker actively sends messages to each consumer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A1466C-C812-5878-A76C-3D18359F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basics – pull vs. push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673A50-2E49-A3AB-95D8-ABF7254ED485}"/>
              </a:ext>
            </a:extLst>
          </p:cNvPr>
          <p:cNvSpPr/>
          <p:nvPr/>
        </p:nvSpPr>
        <p:spPr>
          <a:xfrm>
            <a:off x="6263112" y="3143183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B15B5F-757E-B747-2CD1-19A1063E2B74}"/>
              </a:ext>
            </a:extLst>
          </p:cNvPr>
          <p:cNvSpPr/>
          <p:nvPr/>
        </p:nvSpPr>
        <p:spPr>
          <a:xfrm>
            <a:off x="2491212" y="3143184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B18554B0-9046-6D54-BA8F-0952F9E37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424" y="3243432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ECF301-8588-C269-8BA0-DECA1B482F7E}"/>
              </a:ext>
            </a:extLst>
          </p:cNvPr>
          <p:cNvSpPr txBox="1"/>
          <p:nvPr/>
        </p:nvSpPr>
        <p:spPr>
          <a:xfrm>
            <a:off x="4419257" y="3997573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RabbitMQ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05F5CE-B473-A017-7C7E-7003E6DF163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256502" y="3428999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699CB1-CCB0-0AAB-83BA-6C78FA6AC36C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5472190" y="3428999"/>
            <a:ext cx="790922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82B544-8B0E-278E-3042-D19EE28AE1AE}"/>
              </a:ext>
            </a:extLst>
          </p:cNvPr>
          <p:cNvSpPr txBox="1"/>
          <p:nvPr/>
        </p:nvSpPr>
        <p:spPr>
          <a:xfrm>
            <a:off x="4147426" y="2830444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sendMsg</a:t>
            </a:r>
            <a:endParaRPr lang="en-US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596006-DF59-412F-D676-71A81F8B7478}"/>
              </a:ext>
            </a:extLst>
          </p:cNvPr>
          <p:cNvSpPr txBox="1"/>
          <p:nvPr/>
        </p:nvSpPr>
        <p:spPr>
          <a:xfrm>
            <a:off x="5285232" y="2830444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pushMsg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12108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11A8-8D1C-D5DB-8A54-5C42A3F3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24805C-7851-8844-71B5-31795C825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Broker must know consumer speed / capacity</a:t>
            </a:r>
          </a:p>
          <a:p>
            <a:r>
              <a:rPr lang="en-US" dirty="0"/>
              <a:t>Slow consumer → broker queues messages or drops them</a:t>
            </a:r>
          </a:p>
          <a:p>
            <a:r>
              <a:rPr lang="en-US" dirty="0"/>
              <a:t>Need separate (often complex) backpressure mechanisms</a:t>
            </a:r>
          </a:p>
          <a:p>
            <a:pPr lvl="1"/>
            <a:r>
              <a:rPr lang="en-US" dirty="0"/>
              <a:t>Usually done by withholding message acknowledgements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32EEEB-11B5-9D1F-CB2F-6C1850EC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basics – pull vs. push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9A7843-0CD0-A43F-6D42-81A755A7BF35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CD3478-64A6-D89C-FC17-111123DB73B1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9" name="Picture 18" descr="queue&quot; Icon - Download for free – Iconduck">
            <a:extLst>
              <a:ext uri="{FF2B5EF4-FFF2-40B4-BE49-F238E27FC236}">
                <a16:creationId xmlns:a16="http://schemas.microsoft.com/office/drawing/2014/main" id="{26B27C1F-08A6-90A9-524C-40C7FEECA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65B7309-7D81-5153-7BB0-69C8F4A492BF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RabbitMQ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896ED32-E0CD-8ED0-A9AB-B016E9CE72E3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9EC195-2A35-51F2-C67C-A264D54E6FD4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>
            <a:off x="5580474" y="4546507"/>
            <a:ext cx="790922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EC5A381-0E97-963D-6DCE-AF62D0FF1732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D02ECF-5C53-BF83-D771-464890B322C2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354608-8D1E-3A41-2E8C-28A85E8C3D20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DDF3A4-88B6-3A97-F13C-134A3A53D65D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8D3E86-D2CA-C8B8-58FE-6A212D5C596B}"/>
              </a:ext>
            </a:extLst>
          </p:cNvPr>
          <p:cNvSpPr txBox="1"/>
          <p:nvPr/>
        </p:nvSpPr>
        <p:spPr>
          <a:xfrm>
            <a:off x="6761747" y="5284358"/>
            <a:ext cx="318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Microservice slows down</a:t>
            </a:r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4D4CB78D-56B2-A480-6D44-4BF55011FDAE}"/>
              </a:ext>
            </a:extLst>
          </p:cNvPr>
          <p:cNvCxnSpPr>
            <a:cxnSpLocks/>
            <a:stCxn id="17" idx="0"/>
            <a:endCxn id="19" idx="0"/>
          </p:cNvCxnSpPr>
          <p:nvPr/>
        </p:nvCxnSpPr>
        <p:spPr>
          <a:xfrm rot="16200000" flipH="1" flipV="1">
            <a:off x="6260941" y="3367840"/>
            <a:ext cx="100249" cy="1885950"/>
          </a:xfrm>
          <a:prstGeom prst="curvedConnector3">
            <a:avLst>
              <a:gd name="adj1" fmla="val -2280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BED48DD-09E2-380C-1732-227D0F85CB6C}"/>
              </a:ext>
            </a:extLst>
          </p:cNvPr>
          <p:cNvSpPr txBox="1"/>
          <p:nvPr/>
        </p:nvSpPr>
        <p:spPr>
          <a:xfrm>
            <a:off x="6509084" y="355091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Slow down!</a:t>
            </a:r>
          </a:p>
        </p:txBody>
      </p:sp>
    </p:spTree>
    <p:extLst>
      <p:ext uri="{BB962C8B-B14F-4D97-AF65-F5344CB8AC3E}">
        <p14:creationId xmlns:p14="http://schemas.microsoft.com/office/powerpoint/2010/main" val="136331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9509E-E62D-CF04-F063-477C8ACB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75F3A3-320E-6FB8-BB14-ED88FFA04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Kafka: pull model — consumer requests messages from broker</a:t>
            </a:r>
          </a:p>
          <a:p>
            <a:r>
              <a:rPr lang="en-US" dirty="0"/>
              <a:t>Consumer controls its own read rate and throughput</a:t>
            </a:r>
          </a:p>
          <a:p>
            <a:pPr lvl="1"/>
            <a:r>
              <a:rPr lang="en-US" dirty="0"/>
              <a:t>Scales easily</a:t>
            </a:r>
          </a:p>
          <a:p>
            <a:r>
              <a:rPr lang="en-US" dirty="0"/>
              <a:t>Consumer-driven: each app controls its own consumption rate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E90A04-BF16-BA36-B335-0AA3E458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basics – pull vs. push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B0F16-0EAA-AA64-D72B-4D036D6E8AED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5428A-4AB8-1C29-76CA-374D29ADCEA3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52AEE59C-A2EC-5673-5710-4B67D737E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F96FEA-A9E6-30AE-E152-501F9A129685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F390AA-3029-C589-9CC8-ABBF06ED61B1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D2BBB-6364-F51C-E445-86F61FB49D37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E69409-4D41-672E-60E5-042C7486FD4F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8EEC98-A1C4-8FF0-F4A8-3C4788D5D729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87BF2-0F36-DD55-BBCC-3E16F71394A0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8E0DCE0F-74F8-0AE6-4598-78B0CEF319CF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 flipV="1">
            <a:off x="6260941" y="3367840"/>
            <a:ext cx="100249" cy="1885950"/>
          </a:xfrm>
          <a:prstGeom prst="curvedConnector3">
            <a:avLst>
              <a:gd name="adj1" fmla="val -2280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CBEF24-1465-312F-E7B1-5F652BEC4AC5}"/>
              </a:ext>
            </a:extLst>
          </p:cNvPr>
          <p:cNvSpPr txBox="1"/>
          <p:nvPr/>
        </p:nvSpPr>
        <p:spPr>
          <a:xfrm>
            <a:off x="6509084" y="355091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Poll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145AEBD5-418F-E45D-2816-74D7673DF9EE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16200000" flipH="1">
            <a:off x="6260941" y="3839224"/>
            <a:ext cx="100250" cy="1885950"/>
          </a:xfrm>
          <a:prstGeom prst="curvedConnector3">
            <a:avLst>
              <a:gd name="adj1" fmla="val 328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68D0E1-1A6E-E870-678F-C89A29FCC983}"/>
              </a:ext>
            </a:extLst>
          </p:cNvPr>
          <p:cNvSpPr txBox="1"/>
          <p:nvPr/>
        </p:nvSpPr>
        <p:spPr>
          <a:xfrm>
            <a:off x="6122301" y="50707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64578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BA21-0E2D-D81E-591E-019931F6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D91ED9-16F1-EDED-2CAF-A9B132112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Kafka: pull model — consumer requests messages from broker</a:t>
            </a:r>
          </a:p>
          <a:p>
            <a:r>
              <a:rPr lang="en-US" dirty="0"/>
              <a:t>Consumer controls its own read rate and throughput</a:t>
            </a:r>
          </a:p>
          <a:p>
            <a:pPr lvl="1"/>
            <a:r>
              <a:rPr lang="en-US" dirty="0"/>
              <a:t>Scales easily</a:t>
            </a:r>
          </a:p>
          <a:p>
            <a:r>
              <a:rPr lang="en-US" dirty="0"/>
              <a:t>Consumer-driven: each app controls its own consumption rate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838B9A-841E-572B-EBA3-374FEF8C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basics – pull vs. push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88043F-1C1E-E786-66D5-76427E84E1A1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ADE69-800E-6B33-20B0-8033DEFA4CD3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ED1A8517-C5F6-8E84-B700-C649D7063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6A5581-4F86-233B-D915-A745CAA548BA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0A2B97-E087-D1D8-4687-86978D840106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638D7B4-44A6-615C-59D0-96C0CF93A97B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9A8CB2-F79B-0EBA-9C00-791FEB641D15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4A558-71B1-1414-90C9-86BCA4D9454E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6CAA8D-C9CB-5651-068E-16A7F4C88A60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39F377-62AE-95D4-765D-C683CF29B75A}"/>
              </a:ext>
            </a:extLst>
          </p:cNvPr>
          <p:cNvSpPr txBox="1"/>
          <p:nvPr/>
        </p:nvSpPr>
        <p:spPr>
          <a:xfrm>
            <a:off x="6761747" y="5284358"/>
            <a:ext cx="318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Microservice slows 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EFEDC-12EF-5006-3938-54DCF8AD5C7E}"/>
              </a:ext>
            </a:extLst>
          </p:cNvPr>
          <p:cNvSpPr txBox="1"/>
          <p:nvPr/>
        </p:nvSpPr>
        <p:spPr>
          <a:xfrm>
            <a:off x="7063946" y="3662330"/>
            <a:ext cx="367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Order Microservice just stops polling</a:t>
            </a:r>
          </a:p>
        </p:txBody>
      </p:sp>
    </p:spTree>
    <p:extLst>
      <p:ext uri="{BB962C8B-B14F-4D97-AF65-F5344CB8AC3E}">
        <p14:creationId xmlns:p14="http://schemas.microsoft.com/office/powerpoint/2010/main" val="106758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08FDE-1532-4CD3-5D5A-8DA4D70A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27461C-E6D6-8EF5-AEE9-F3AFE0D51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remember the last committed offset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627B1-FC0F-5EB8-D8EF-C417C0AE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3CB01F-5F02-0AA7-D9ED-4B562A908C49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348EE8-1F4C-C1D6-68DB-5F6B4AE2579D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607B133D-7FCA-1255-8798-270740DC9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B53B19-4FE3-013B-9E0F-87DA649509B7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50CED7-43CF-4BBB-8B8A-60A29730C48E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49699-6928-05F2-E915-207BC338A338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CD6F3-D400-00C2-A12A-7D2B520ECC77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767505-B70F-50D5-ADB3-810B4B315010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A45C3F-C138-FD87-63EE-E247ED4E2EAA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13F77271-A28A-E079-394C-826A2F6EA8C7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 flipV="1">
            <a:off x="6260941" y="3367840"/>
            <a:ext cx="100249" cy="1885950"/>
          </a:xfrm>
          <a:prstGeom prst="curvedConnector3">
            <a:avLst>
              <a:gd name="adj1" fmla="val -2280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6A826A4-E832-415E-B392-4A5B3F99DC00}"/>
              </a:ext>
            </a:extLst>
          </p:cNvPr>
          <p:cNvSpPr txBox="1"/>
          <p:nvPr/>
        </p:nvSpPr>
        <p:spPr>
          <a:xfrm>
            <a:off x="6509084" y="355091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Poll</a:t>
            </a:r>
          </a:p>
        </p:txBody>
      </p:sp>
    </p:spTree>
    <p:extLst>
      <p:ext uri="{BB962C8B-B14F-4D97-AF65-F5344CB8AC3E}">
        <p14:creationId xmlns:p14="http://schemas.microsoft.com/office/powerpoint/2010/main" val="355924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9DCB-FF7A-A4B5-ABAC-52887D67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CFF3A0-1407-6CAF-B516-2171D9D64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D473BF-C3CA-042A-C6BB-ACCD3689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206D3-A183-331D-C7DB-A6442B783217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11FFA-91D4-077B-F785-75DC4B5C996D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5D15A751-C425-5170-1793-ACD96CA1F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F6D1B5-4E60-7D18-3CC4-7F8EFEDD5EC5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44C4C1-F085-02E1-A5D6-F4C1C6841E53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CB6BB67-349B-D31A-9774-7732C2A6B5F0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14E0EA-0683-005B-F961-BB4F99AF0CB2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41FE72-A377-3982-D8E4-475D37382ABB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F591F3-919B-6485-8688-07EC71851CC8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BABC6FED-DE86-AFB5-3F24-C50C7BE5C2E7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16200000" flipH="1">
            <a:off x="6260941" y="3839224"/>
            <a:ext cx="100250" cy="1885950"/>
          </a:xfrm>
          <a:prstGeom prst="curvedConnector3">
            <a:avLst>
              <a:gd name="adj1" fmla="val 328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59275B-7D34-5848-CCBF-CCD20BA4D9B9}"/>
              </a:ext>
            </a:extLst>
          </p:cNvPr>
          <p:cNvSpPr txBox="1"/>
          <p:nvPr/>
        </p:nvSpPr>
        <p:spPr>
          <a:xfrm>
            <a:off x="6096000" y="5164161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Events [40, 41, 42]</a:t>
            </a:r>
          </a:p>
        </p:txBody>
      </p:sp>
    </p:spTree>
    <p:extLst>
      <p:ext uri="{BB962C8B-B14F-4D97-AF65-F5344CB8AC3E}">
        <p14:creationId xmlns:p14="http://schemas.microsoft.com/office/powerpoint/2010/main" val="144303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9A1C-3AF7-742E-D7EB-FF6AB143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FF2E8A-AF69-4B9F-CA7C-8802FF384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064AC1-F8BB-613D-4DEC-71A114C4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CDD27-D485-EC3B-0EB6-7F595997A364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FCC379-EFC9-2AF5-DE0B-802F561C788B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8F003F0B-70A9-3A4F-EDD8-10401E0E1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5AE0C8-6089-32F8-1147-2B8E7841093B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4F317F-2A6A-4C73-2936-4F997D9739CD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1E32246-7FAE-C5BF-0BFF-09C65DC68D0C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FF7EE6-AABD-B901-9448-691A6AAF7737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9BE457-468B-8581-3324-0F1CDB636602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CA342F-D499-80C7-F4ED-EBE7159374CC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3F21C856-77A9-3D79-8FFE-77D55797898D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 flipV="1">
            <a:off x="6260941" y="3367840"/>
            <a:ext cx="100249" cy="1885950"/>
          </a:xfrm>
          <a:prstGeom prst="curvedConnector3">
            <a:avLst>
              <a:gd name="adj1" fmla="val -2280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73CDD5-B9AB-2A30-2A65-A74FFEFBAAFB}"/>
              </a:ext>
            </a:extLst>
          </p:cNvPr>
          <p:cNvSpPr txBox="1"/>
          <p:nvPr/>
        </p:nvSpPr>
        <p:spPr>
          <a:xfrm>
            <a:off x="6146202" y="366233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Commit(42)</a:t>
            </a:r>
          </a:p>
        </p:txBody>
      </p:sp>
    </p:spTree>
    <p:extLst>
      <p:ext uri="{BB962C8B-B14F-4D97-AF65-F5344CB8AC3E}">
        <p14:creationId xmlns:p14="http://schemas.microsoft.com/office/powerpoint/2010/main" val="209579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8024-153F-65A9-1B5E-84B2857B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BD73B3-DDB4-F838-3C4C-6BD60D19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7270C0-C44D-157B-1A23-DF344CF8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D9B07E-7153-BF88-9C89-0B32EA1C15D1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456BF-EFF3-5235-FDF3-A434B82B16B2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033F93FE-04F1-A32D-154F-822870C4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E3859F-8AE5-BB17-1ACE-7D36D7705550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D15C84-B8E9-9356-4148-6D2B7C0700B8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5E080-E204-D600-8C1C-95B0945414A0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E24548-FFC1-2DE5-26AF-5D5C50E04EC0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A586EB-CE92-E8F9-7CB0-C636436DAC3E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9FB8A0-3E8A-9E08-2B73-8CAF15AB1704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8DA878-8928-EB8A-9CC7-EE19FDB1E923}"/>
              </a:ext>
            </a:extLst>
          </p:cNvPr>
          <p:cNvSpPr txBox="1"/>
          <p:nvPr/>
        </p:nvSpPr>
        <p:spPr>
          <a:xfrm>
            <a:off x="7934933" y="4732074"/>
            <a:ext cx="827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❌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4BF93-F0E0-7758-F1B6-7BAB9B3E6E4E}"/>
              </a:ext>
            </a:extLst>
          </p:cNvPr>
          <p:cNvSpPr txBox="1"/>
          <p:nvPr/>
        </p:nvSpPr>
        <p:spPr>
          <a:xfrm>
            <a:off x="8398753" y="4060636"/>
            <a:ext cx="3785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Order Service crashes and reboots</a:t>
            </a:r>
          </a:p>
        </p:txBody>
      </p:sp>
    </p:spTree>
    <p:extLst>
      <p:ext uri="{BB962C8B-B14F-4D97-AF65-F5344CB8AC3E}">
        <p14:creationId xmlns:p14="http://schemas.microsoft.com/office/powerpoint/2010/main" val="3797016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9990-4B73-E360-5F75-45C01227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43DFA1-5C6C-A2E0-8922-6A89231FE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6F2224-D565-F4F4-9446-4A8FDE69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8FFD0-599E-5CB5-D453-A4FC7A6B57FC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0695C3-B108-832D-7A4D-5EA2CD78EA35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0BF5E352-F60E-A981-793D-A9C39DE2C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C56462-CB24-A4FB-E67F-C8879046F866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46BBBD-7655-B611-8723-E29A5CA633C5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C488F5B-D8A5-CB76-CB72-718104C19C2F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C130EF-B909-EDF3-E429-90332D75C152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B464-98E4-0D9D-1EF7-9846CAB48C15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79A1F6-5C6E-4754-2CEA-2DFB9D7241DA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7C646077-D4AF-F269-5DF2-B3B60B1B1D79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 flipV="1">
            <a:off x="6260941" y="3367840"/>
            <a:ext cx="100249" cy="1885950"/>
          </a:xfrm>
          <a:prstGeom prst="curvedConnector3">
            <a:avLst>
              <a:gd name="adj1" fmla="val -2280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6380B49-C756-504E-048B-D0DF49102ABE}"/>
              </a:ext>
            </a:extLst>
          </p:cNvPr>
          <p:cNvSpPr txBox="1"/>
          <p:nvPr/>
        </p:nvSpPr>
        <p:spPr>
          <a:xfrm>
            <a:off x="6146202" y="366233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CommittedOffset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547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3D59-6AFC-31FD-7535-C1641B2B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DEEE0D-8D51-A4E1-1813-9AA5D13D8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32970F-51FB-2739-C96C-0EB5BFCB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21308C-1EE5-B716-74DB-5FB610D3E0F0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B20E7F-0FBE-513D-9312-0DE17825249D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F109A842-9241-7BAE-AE73-A5AEDD85B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759A0A-F68B-65F9-E1E1-0317D3560E4A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B5F026-3B81-FD90-AB7D-80E970FC8EF5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53278A1-83A4-5FED-828F-8F6B238D1E61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77AC5-C375-8D16-2138-9E7354A04C1C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67F40B-E354-3634-4E26-5B360F2A53FA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5918E1-0900-1B09-8800-124C23FB670D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D2E4E22C-5D7D-C4A2-0002-8A2F7331269B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16200000" flipH="1">
            <a:off x="6260941" y="3839224"/>
            <a:ext cx="100250" cy="1885950"/>
          </a:xfrm>
          <a:prstGeom prst="curvedConnector3">
            <a:avLst>
              <a:gd name="adj1" fmla="val 328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4EBF8D-A3E1-E00D-5CDE-9D6CD6684CCF}"/>
              </a:ext>
            </a:extLst>
          </p:cNvPr>
          <p:cNvSpPr txBox="1"/>
          <p:nvPr/>
        </p:nvSpPr>
        <p:spPr>
          <a:xfrm>
            <a:off x="6243745" y="511904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Offset: 42</a:t>
            </a:r>
          </a:p>
        </p:txBody>
      </p:sp>
    </p:spTree>
    <p:extLst>
      <p:ext uri="{BB962C8B-B14F-4D97-AF65-F5344CB8AC3E}">
        <p14:creationId xmlns:p14="http://schemas.microsoft.com/office/powerpoint/2010/main" val="90829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1613F-C8A8-84EA-67AD-BA9756D7D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593932-0F4C-4E57-36A9-00786BB5C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D4ABAC-5A15-26DD-1C9E-523130C4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AA42F3-514C-D3B6-51E4-8896E4F43B1C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04C67A-CF4E-1713-EA18-C65730CE6330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7CEE4CC1-C9A8-2B83-6113-E23912FA5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B09DD2-D8DA-910C-9F00-D835B1E490C2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9D16F3-5B53-D7D8-FB18-262554648DCD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3D2F1-498B-B77D-50FD-15F123629169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C7E838-CEF8-356F-3EC9-B007D00756EB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CD3F9-6949-6AAA-6004-01C9C1EF95B2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8BDC8C-5330-25EF-BD11-197397309673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237621CD-1CEF-9F50-7178-B57EEB50EA42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rot="16200000" flipH="1" flipV="1">
            <a:off x="6075374" y="3553407"/>
            <a:ext cx="471383" cy="1885950"/>
          </a:xfrm>
          <a:prstGeom prst="curvedConnector5">
            <a:avLst>
              <a:gd name="adj1" fmla="val -48496"/>
              <a:gd name="adj2" fmla="val 67770"/>
              <a:gd name="adj3" fmla="val 14849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85DFC59-3E1D-6847-989F-E914192F9F35}"/>
              </a:ext>
            </a:extLst>
          </p:cNvPr>
          <p:cNvSpPr txBox="1"/>
          <p:nvPr/>
        </p:nvSpPr>
        <p:spPr>
          <a:xfrm>
            <a:off x="6395423" y="365272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Seek(42)</a:t>
            </a:r>
          </a:p>
        </p:txBody>
      </p:sp>
    </p:spTree>
    <p:extLst>
      <p:ext uri="{BB962C8B-B14F-4D97-AF65-F5344CB8AC3E}">
        <p14:creationId xmlns:p14="http://schemas.microsoft.com/office/powerpoint/2010/main" val="389511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4950-DDDC-AAA3-7909-7BD55AC8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C2EA17-774C-B525-3B35-838897D70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C7503B-1F85-C554-BE5C-1A5FAAD0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538E37-516A-1674-E533-69BE65F8890D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A8C4CB-6218-4D12-AB55-6B6377A63854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72AF907B-1C7D-2D63-32C1-DC50D2A00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75EA04-57FC-7C8F-A3C0-EEADF335A8B4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FBA6AE-BE2D-2328-11F8-16680D297F47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DAD0A-361A-80DE-5398-CFA32C90F5AC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CE1291-45FD-2136-F233-17A5807EB908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B88D4-69CC-3916-D4E2-654B91FF4201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55F2D-5379-81A7-B54A-CB5FB2B02B65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75F50447-E4DF-230D-BBB0-0065238A1472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rot="16200000" flipH="1" flipV="1">
            <a:off x="6075374" y="3553407"/>
            <a:ext cx="471383" cy="1885950"/>
          </a:xfrm>
          <a:prstGeom prst="curvedConnector5">
            <a:avLst>
              <a:gd name="adj1" fmla="val -48496"/>
              <a:gd name="adj2" fmla="val 67770"/>
              <a:gd name="adj3" fmla="val 14849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D361AB-6024-F19E-0DC3-40506831E7F0}"/>
              </a:ext>
            </a:extLst>
          </p:cNvPr>
          <p:cNvSpPr txBox="1"/>
          <p:nvPr/>
        </p:nvSpPr>
        <p:spPr>
          <a:xfrm>
            <a:off x="6395423" y="365272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Poll()</a:t>
            </a:r>
          </a:p>
        </p:txBody>
      </p:sp>
    </p:spTree>
    <p:extLst>
      <p:ext uri="{BB962C8B-B14F-4D97-AF65-F5344CB8AC3E}">
        <p14:creationId xmlns:p14="http://schemas.microsoft.com/office/powerpoint/2010/main" val="133161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D5DA-FB94-E3E3-AF7D-8D16299E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A60FDE-E163-F28D-6D63-A9728899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Consumer can crash; needs to remember offset read</a:t>
            </a:r>
          </a:p>
          <a:p>
            <a:r>
              <a:rPr lang="en-US" dirty="0"/>
              <a:t>Unlike traditional MQs, the consumer must commit the offset up to which it has processed</a:t>
            </a:r>
          </a:p>
          <a:p>
            <a:r>
              <a:rPr lang="en-US" dirty="0"/>
              <a:t>Kafka broker will save the last committed offset on disk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640617-F925-7596-B5A8-E0EB171D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Consumer </a:t>
            </a:r>
            <a:r>
              <a:rPr lang="en-US" i="1" dirty="0"/>
              <a:t>committed</a:t>
            </a:r>
            <a:r>
              <a:rPr lang="en-US" dirty="0"/>
              <a:t>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F5174-EAA3-0956-0361-62C9EEFC9450}"/>
              </a:ext>
            </a:extLst>
          </p:cNvPr>
          <p:cNvSpPr/>
          <p:nvPr/>
        </p:nvSpPr>
        <p:spPr>
          <a:xfrm>
            <a:off x="6371396" y="426069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F597A1-AB63-45CB-0C7A-EA178CC63F95}"/>
              </a:ext>
            </a:extLst>
          </p:cNvPr>
          <p:cNvSpPr/>
          <p:nvPr/>
        </p:nvSpPr>
        <p:spPr>
          <a:xfrm>
            <a:off x="2599496" y="426069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376551CD-1013-4EF2-25BA-9056C41F9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436094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B581C3-7E46-3386-227C-83DEAA856F62}"/>
              </a:ext>
            </a:extLst>
          </p:cNvPr>
          <p:cNvSpPr txBox="1"/>
          <p:nvPr/>
        </p:nvSpPr>
        <p:spPr>
          <a:xfrm>
            <a:off x="4527541" y="511508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23EFB-CA2C-06B5-8A53-98AF4D44A48B}"/>
              </a:ext>
            </a:extLst>
          </p:cNvPr>
          <p:cNvCxnSpPr>
            <a:cxnSpLocks/>
          </p:cNvCxnSpPr>
          <p:nvPr/>
        </p:nvCxnSpPr>
        <p:spPr>
          <a:xfrm flipV="1">
            <a:off x="4394091" y="454650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3AA86-55B1-4431-0D9F-395113D730B4}"/>
              </a:ext>
            </a:extLst>
          </p:cNvPr>
          <p:cNvSpPr/>
          <p:nvPr/>
        </p:nvSpPr>
        <p:spPr>
          <a:xfrm>
            <a:off x="5553361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9CFFF8-8C8C-FF5D-6EC6-DA4F6EB95D29}"/>
              </a:ext>
            </a:extLst>
          </p:cNvPr>
          <p:cNvSpPr/>
          <p:nvPr/>
        </p:nvSpPr>
        <p:spPr>
          <a:xfrm>
            <a:off x="5262848" y="375579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0D148F-D117-7E5B-27B3-E6661FAE4AAD}"/>
              </a:ext>
            </a:extLst>
          </p:cNvPr>
          <p:cNvSpPr/>
          <p:nvPr/>
        </p:nvSpPr>
        <p:spPr>
          <a:xfrm>
            <a:off x="4971414" y="374809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FC64B5-5F02-F97C-071D-B00C799A8453}"/>
              </a:ext>
            </a:extLst>
          </p:cNvPr>
          <p:cNvSpPr/>
          <p:nvPr/>
        </p:nvSpPr>
        <p:spPr>
          <a:xfrm>
            <a:off x="4620126" y="355091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B157EF1A-4B4E-E916-4915-0ACE55B11E2A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16200000" flipH="1">
            <a:off x="6260941" y="3839224"/>
            <a:ext cx="100250" cy="1885950"/>
          </a:xfrm>
          <a:prstGeom prst="curvedConnector3">
            <a:avLst>
              <a:gd name="adj1" fmla="val 328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4E3607-4569-8333-D157-27686626E6E2}"/>
              </a:ext>
            </a:extLst>
          </p:cNvPr>
          <p:cNvSpPr txBox="1"/>
          <p:nvPr/>
        </p:nvSpPr>
        <p:spPr>
          <a:xfrm>
            <a:off x="6208640" y="511904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Events [43, 45]</a:t>
            </a:r>
          </a:p>
        </p:txBody>
      </p:sp>
    </p:spTree>
    <p:extLst>
      <p:ext uri="{BB962C8B-B14F-4D97-AF65-F5344CB8AC3E}">
        <p14:creationId xmlns:p14="http://schemas.microsoft.com/office/powerpoint/2010/main" val="154068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01490-AA0D-E105-8792-8F30BF9B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D1C4B2-6EFD-A409-8745-B4B1DFFDB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b="1" i="1" dirty="0"/>
              <a:t>When</a:t>
            </a:r>
            <a:r>
              <a:rPr lang="en-US" dirty="0"/>
              <a:t> the consumer commits determines delivery semantics</a:t>
            </a:r>
          </a:p>
          <a:p>
            <a:r>
              <a:rPr lang="en-US" dirty="0"/>
              <a:t>Before processing -&gt; </a:t>
            </a:r>
            <a:r>
              <a:rPr lang="en-US" b="1" dirty="0"/>
              <a:t>at-most-once</a:t>
            </a:r>
            <a:r>
              <a:rPr lang="en-US" dirty="0"/>
              <a:t> delivery guarantees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68F009-C7CD-4695-00E3-A6EB27BFD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11C7F-D129-D8D9-32A9-3ED2709F0638}"/>
              </a:ext>
            </a:extLst>
          </p:cNvPr>
          <p:cNvSpPr/>
          <p:nvPr/>
        </p:nvSpPr>
        <p:spPr>
          <a:xfrm>
            <a:off x="6382131" y="3189882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B457C-9335-3495-DF6A-7C36FE26CBF7}"/>
              </a:ext>
            </a:extLst>
          </p:cNvPr>
          <p:cNvSpPr/>
          <p:nvPr/>
        </p:nvSpPr>
        <p:spPr>
          <a:xfrm>
            <a:off x="2610231" y="3189883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8CFE26A2-3283-79BB-EC0F-4F3D6A66A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443" y="3290131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20E86F-54CB-DBBF-8F6A-0CCB3D166349}"/>
              </a:ext>
            </a:extLst>
          </p:cNvPr>
          <p:cNvSpPr txBox="1"/>
          <p:nvPr/>
        </p:nvSpPr>
        <p:spPr>
          <a:xfrm>
            <a:off x="4538276" y="4044272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831F0B-A0F8-E052-FC8B-E39557996E55}"/>
              </a:ext>
            </a:extLst>
          </p:cNvPr>
          <p:cNvCxnSpPr>
            <a:cxnSpLocks/>
          </p:cNvCxnSpPr>
          <p:nvPr/>
        </p:nvCxnSpPr>
        <p:spPr>
          <a:xfrm flipV="1">
            <a:off x="4404826" y="3475698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CD8E88D-C3B6-B211-C846-E52F4D257009}"/>
              </a:ext>
            </a:extLst>
          </p:cNvPr>
          <p:cNvSpPr/>
          <p:nvPr/>
        </p:nvSpPr>
        <p:spPr>
          <a:xfrm>
            <a:off x="5564096" y="2684984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609D5-4C83-DA95-1149-1F25E12EDB71}"/>
              </a:ext>
            </a:extLst>
          </p:cNvPr>
          <p:cNvSpPr/>
          <p:nvPr/>
        </p:nvSpPr>
        <p:spPr>
          <a:xfrm>
            <a:off x="5273583" y="2684984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0C6201-96CF-B81B-EB33-9920F315BDEC}"/>
              </a:ext>
            </a:extLst>
          </p:cNvPr>
          <p:cNvSpPr/>
          <p:nvPr/>
        </p:nvSpPr>
        <p:spPr>
          <a:xfrm>
            <a:off x="4982149" y="2677281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A2DAC-897B-D423-C6E9-5C78247A9E5E}"/>
              </a:ext>
            </a:extLst>
          </p:cNvPr>
          <p:cNvSpPr/>
          <p:nvPr/>
        </p:nvSpPr>
        <p:spPr>
          <a:xfrm>
            <a:off x="4630861" y="2480101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A97985F-1319-AD93-C8FF-056872A6E23B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 flipV="1">
            <a:off x="6271676" y="2297031"/>
            <a:ext cx="100249" cy="1885950"/>
          </a:xfrm>
          <a:prstGeom prst="curvedConnector3">
            <a:avLst>
              <a:gd name="adj1" fmla="val -2280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7637A34-D04B-DFAC-0C07-1C128806FCCF}"/>
              </a:ext>
            </a:extLst>
          </p:cNvPr>
          <p:cNvSpPr txBox="1"/>
          <p:nvPr/>
        </p:nvSpPr>
        <p:spPr>
          <a:xfrm>
            <a:off x="6156937" y="25915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Poll</a:t>
            </a:r>
          </a:p>
        </p:txBody>
      </p:sp>
    </p:spTree>
    <p:extLst>
      <p:ext uri="{BB962C8B-B14F-4D97-AF65-F5344CB8AC3E}">
        <p14:creationId xmlns:p14="http://schemas.microsoft.com/office/powerpoint/2010/main" val="419715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643B-B87F-D663-D86F-DD603272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282F4D-9C46-0BEC-4F31-2C7E7A0EF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b="1" i="1" dirty="0"/>
              <a:t>When</a:t>
            </a:r>
            <a:r>
              <a:rPr lang="en-US" dirty="0"/>
              <a:t> the consumer commits determines delivery semantics</a:t>
            </a:r>
          </a:p>
          <a:p>
            <a:r>
              <a:rPr lang="en-US" dirty="0"/>
              <a:t>Before processing -&gt; </a:t>
            </a:r>
            <a:r>
              <a:rPr lang="en-US" b="1" dirty="0"/>
              <a:t>at-most-once</a:t>
            </a:r>
            <a:r>
              <a:rPr lang="en-US" dirty="0"/>
              <a:t> delivery guarantees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6F0F3B-7BA6-D2B8-B137-4D1DCDB6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AD618-F965-017C-846F-0A0236D3C63A}"/>
              </a:ext>
            </a:extLst>
          </p:cNvPr>
          <p:cNvSpPr/>
          <p:nvPr/>
        </p:nvSpPr>
        <p:spPr>
          <a:xfrm>
            <a:off x="6382131" y="318988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4E711-C539-A3A7-2B85-67DF068C25F8}"/>
              </a:ext>
            </a:extLst>
          </p:cNvPr>
          <p:cNvSpPr/>
          <p:nvPr/>
        </p:nvSpPr>
        <p:spPr>
          <a:xfrm>
            <a:off x="2610231" y="318988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DD56ABC2-04CF-D441-331E-9A2B15DDD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443" y="329013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5EB251-BEDF-5BEB-20C5-781F2613BB8E}"/>
              </a:ext>
            </a:extLst>
          </p:cNvPr>
          <p:cNvSpPr txBox="1"/>
          <p:nvPr/>
        </p:nvSpPr>
        <p:spPr>
          <a:xfrm>
            <a:off x="4538276" y="404427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3D44C3-55B4-99B9-7C3B-DE5DE7CDD518}"/>
              </a:ext>
            </a:extLst>
          </p:cNvPr>
          <p:cNvCxnSpPr>
            <a:cxnSpLocks/>
          </p:cNvCxnSpPr>
          <p:nvPr/>
        </p:nvCxnSpPr>
        <p:spPr>
          <a:xfrm flipV="1">
            <a:off x="4404826" y="347569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F7E84D8-4B07-76B6-6133-179501B1A5FE}"/>
              </a:ext>
            </a:extLst>
          </p:cNvPr>
          <p:cNvSpPr/>
          <p:nvPr/>
        </p:nvSpPr>
        <p:spPr>
          <a:xfrm>
            <a:off x="5564096" y="268498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C6BF3-FECC-1709-555E-0A2DE3ABC01C}"/>
              </a:ext>
            </a:extLst>
          </p:cNvPr>
          <p:cNvSpPr/>
          <p:nvPr/>
        </p:nvSpPr>
        <p:spPr>
          <a:xfrm>
            <a:off x="5273583" y="268498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7E28D4-D665-9F8D-1A54-E423FC46E1E7}"/>
              </a:ext>
            </a:extLst>
          </p:cNvPr>
          <p:cNvSpPr/>
          <p:nvPr/>
        </p:nvSpPr>
        <p:spPr>
          <a:xfrm>
            <a:off x="4982149" y="267728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16201F-FE36-EFAD-E9C9-3DE659C74E67}"/>
              </a:ext>
            </a:extLst>
          </p:cNvPr>
          <p:cNvSpPr/>
          <p:nvPr/>
        </p:nvSpPr>
        <p:spPr>
          <a:xfrm>
            <a:off x="4630861" y="248010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91F6F652-F57D-47EC-9A75-5B4930AEAF8D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rot="5400000" flipH="1" flipV="1">
            <a:off x="6086109" y="2482598"/>
            <a:ext cx="471383" cy="1885950"/>
          </a:xfrm>
          <a:prstGeom prst="curvedConnector5">
            <a:avLst>
              <a:gd name="adj1" fmla="val -48496"/>
              <a:gd name="adj2" fmla="val 32230"/>
              <a:gd name="adj3" fmla="val 14849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E4DA1E-1559-E8D7-C4DD-B99E38C63535}"/>
              </a:ext>
            </a:extLst>
          </p:cNvPr>
          <p:cNvSpPr txBox="1"/>
          <p:nvPr/>
        </p:nvSpPr>
        <p:spPr>
          <a:xfrm>
            <a:off x="6156937" y="2591520"/>
            <a:ext cx="2590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Events [40, 41, 42]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80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5206-CBB7-DF3C-2830-3C5967631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FCEEEE-A2B0-86C4-9A42-763571FF0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b="1" i="1" dirty="0"/>
              <a:t>When</a:t>
            </a:r>
            <a:r>
              <a:rPr lang="en-US" dirty="0"/>
              <a:t> the consumer commits determines delivery semantics</a:t>
            </a:r>
          </a:p>
          <a:p>
            <a:r>
              <a:rPr lang="en-US" dirty="0"/>
              <a:t>Before processing -&gt; </a:t>
            </a:r>
            <a:r>
              <a:rPr lang="en-US" b="1" dirty="0"/>
              <a:t>at-most-once</a:t>
            </a:r>
            <a:r>
              <a:rPr lang="en-US" dirty="0"/>
              <a:t> delivery guarantees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FB45B6-CD9B-421F-61B0-763E05D4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08A48D-29F0-E88D-60CE-94502056B5FE}"/>
              </a:ext>
            </a:extLst>
          </p:cNvPr>
          <p:cNvSpPr/>
          <p:nvPr/>
        </p:nvSpPr>
        <p:spPr>
          <a:xfrm>
            <a:off x="6371396" y="3177850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3BC3D1-2F28-0438-0553-4B6CEA96EAF2}"/>
              </a:ext>
            </a:extLst>
          </p:cNvPr>
          <p:cNvSpPr/>
          <p:nvPr/>
        </p:nvSpPr>
        <p:spPr>
          <a:xfrm>
            <a:off x="2599496" y="3177851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EC8EDCDE-D570-7950-0717-4CF94D631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3278099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E8D5F2-825C-DF81-D4FE-B4251F25AF55}"/>
              </a:ext>
            </a:extLst>
          </p:cNvPr>
          <p:cNvSpPr txBox="1"/>
          <p:nvPr/>
        </p:nvSpPr>
        <p:spPr>
          <a:xfrm>
            <a:off x="4527541" y="4032240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056B26-28F8-BFEB-90A7-E3573A303ADA}"/>
              </a:ext>
            </a:extLst>
          </p:cNvPr>
          <p:cNvCxnSpPr>
            <a:cxnSpLocks/>
          </p:cNvCxnSpPr>
          <p:nvPr/>
        </p:nvCxnSpPr>
        <p:spPr>
          <a:xfrm flipV="1">
            <a:off x="4394091" y="3463666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E5285-76C4-2167-304B-5D03230BB437}"/>
              </a:ext>
            </a:extLst>
          </p:cNvPr>
          <p:cNvSpPr/>
          <p:nvPr/>
        </p:nvSpPr>
        <p:spPr>
          <a:xfrm>
            <a:off x="5553361" y="2672952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768EC-61AA-9460-408C-F82FCD9371D0}"/>
              </a:ext>
            </a:extLst>
          </p:cNvPr>
          <p:cNvSpPr/>
          <p:nvPr/>
        </p:nvSpPr>
        <p:spPr>
          <a:xfrm>
            <a:off x="5262848" y="2672952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D68ACB-B875-9669-A0D4-E293D8833CC2}"/>
              </a:ext>
            </a:extLst>
          </p:cNvPr>
          <p:cNvSpPr/>
          <p:nvPr/>
        </p:nvSpPr>
        <p:spPr>
          <a:xfrm>
            <a:off x="4971414" y="2665249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28BCBC-20FC-1FAE-475E-9AF3BD14709E}"/>
              </a:ext>
            </a:extLst>
          </p:cNvPr>
          <p:cNvSpPr/>
          <p:nvPr/>
        </p:nvSpPr>
        <p:spPr>
          <a:xfrm>
            <a:off x="4620126" y="2468069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91F9185C-FCFF-2BD3-D368-FAB969A9EDF7}"/>
              </a:ext>
            </a:extLst>
          </p:cNvPr>
          <p:cNvCxnSpPr>
            <a:cxnSpLocks/>
            <a:stCxn id="6" idx="2"/>
            <a:endCxn id="8" idx="2"/>
          </p:cNvCxnSpPr>
          <p:nvPr/>
        </p:nvCxnSpPr>
        <p:spPr>
          <a:xfrm rot="5400000" flipH="1">
            <a:off x="6260941" y="2756383"/>
            <a:ext cx="100250" cy="1885950"/>
          </a:xfrm>
          <a:prstGeom prst="curvedConnector3">
            <a:avLst>
              <a:gd name="adj1" fmla="val -228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D0278C-7295-FC15-95A0-31035671A06A}"/>
              </a:ext>
            </a:extLst>
          </p:cNvPr>
          <p:cNvSpPr txBox="1"/>
          <p:nvPr/>
        </p:nvSpPr>
        <p:spPr>
          <a:xfrm>
            <a:off x="6301225" y="405002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Commit(42)</a:t>
            </a:r>
          </a:p>
        </p:txBody>
      </p:sp>
    </p:spTree>
    <p:extLst>
      <p:ext uri="{BB962C8B-B14F-4D97-AF65-F5344CB8AC3E}">
        <p14:creationId xmlns:p14="http://schemas.microsoft.com/office/powerpoint/2010/main" val="877330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0F9B5-DD15-D302-2BA4-FB1AF56B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0BFDA4-FF39-796A-A238-290985195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b="1" i="1" dirty="0"/>
              <a:t>When</a:t>
            </a:r>
            <a:r>
              <a:rPr lang="en-US" dirty="0"/>
              <a:t> the consumer commits determines delivery semantics</a:t>
            </a:r>
          </a:p>
          <a:p>
            <a:r>
              <a:rPr lang="en-US" dirty="0"/>
              <a:t>Before processing -&gt; </a:t>
            </a:r>
            <a:r>
              <a:rPr lang="en-US" b="1" dirty="0"/>
              <a:t>at-most-once</a:t>
            </a:r>
            <a:r>
              <a:rPr lang="en-US" dirty="0"/>
              <a:t> delivery guarantees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EE42B9-41FD-F957-2578-2AFA8D6B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E264B-3A5C-487D-8321-9F9E73D44B01}"/>
              </a:ext>
            </a:extLst>
          </p:cNvPr>
          <p:cNvSpPr/>
          <p:nvPr/>
        </p:nvSpPr>
        <p:spPr>
          <a:xfrm>
            <a:off x="6370099" y="3177842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3D94F-A7EE-BFF7-5446-506F5BAD02B2}"/>
              </a:ext>
            </a:extLst>
          </p:cNvPr>
          <p:cNvSpPr/>
          <p:nvPr/>
        </p:nvSpPr>
        <p:spPr>
          <a:xfrm>
            <a:off x="2598199" y="3177843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32AC7F1A-E645-15DC-38F2-D3D7A6A14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411" y="3278091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1707A0-3C08-8DC2-E11E-F34E270F1929}"/>
              </a:ext>
            </a:extLst>
          </p:cNvPr>
          <p:cNvSpPr txBox="1"/>
          <p:nvPr/>
        </p:nvSpPr>
        <p:spPr>
          <a:xfrm>
            <a:off x="4526244" y="4032232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C51ECA-72E9-0794-64E7-D3C9B31459AF}"/>
              </a:ext>
            </a:extLst>
          </p:cNvPr>
          <p:cNvCxnSpPr>
            <a:cxnSpLocks/>
          </p:cNvCxnSpPr>
          <p:nvPr/>
        </p:nvCxnSpPr>
        <p:spPr>
          <a:xfrm flipV="1">
            <a:off x="4392794" y="3463658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24B5643-6069-B9FA-2C52-193009A38816}"/>
              </a:ext>
            </a:extLst>
          </p:cNvPr>
          <p:cNvSpPr/>
          <p:nvPr/>
        </p:nvSpPr>
        <p:spPr>
          <a:xfrm>
            <a:off x="5552064" y="2672944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DF9B47-BA7B-806A-6E07-F7BDFC52B038}"/>
              </a:ext>
            </a:extLst>
          </p:cNvPr>
          <p:cNvSpPr/>
          <p:nvPr/>
        </p:nvSpPr>
        <p:spPr>
          <a:xfrm>
            <a:off x="5261551" y="2672944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E8A04C-07C1-6215-89AE-25C3DEC1BA38}"/>
              </a:ext>
            </a:extLst>
          </p:cNvPr>
          <p:cNvSpPr/>
          <p:nvPr/>
        </p:nvSpPr>
        <p:spPr>
          <a:xfrm>
            <a:off x="4970117" y="2665241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173E7E-4B3E-CA34-6D47-107C3941CCA7}"/>
              </a:ext>
            </a:extLst>
          </p:cNvPr>
          <p:cNvSpPr/>
          <p:nvPr/>
        </p:nvSpPr>
        <p:spPr>
          <a:xfrm>
            <a:off x="4618829" y="2468061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C2E78C6B-DD58-A513-188D-F58FE89C47C1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 rot="16200000" flipH="1">
            <a:off x="7551157" y="2879428"/>
            <a:ext cx="285817" cy="882645"/>
          </a:xfrm>
          <a:prstGeom prst="curvedConnector4">
            <a:avLst>
              <a:gd name="adj1" fmla="val -79981"/>
              <a:gd name="adj2" fmla="val 1258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8D7DC56-AA4E-74A5-FDD8-02374C10D46D}"/>
              </a:ext>
            </a:extLst>
          </p:cNvPr>
          <p:cNvSpPr txBox="1"/>
          <p:nvPr/>
        </p:nvSpPr>
        <p:spPr>
          <a:xfrm>
            <a:off x="8422767" y="279833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D3A44-81D6-F302-8A6D-4F376CA43B15}"/>
              </a:ext>
            </a:extLst>
          </p:cNvPr>
          <p:cNvSpPr txBox="1"/>
          <p:nvPr/>
        </p:nvSpPr>
        <p:spPr>
          <a:xfrm flipH="1">
            <a:off x="6489350" y="3873640"/>
            <a:ext cx="4937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Order microservice can crash during processing; but the broker thinks Event 42 is consumed and will resume from Event 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C54BC-08CC-7841-1AD1-C737B2F54BF0}"/>
              </a:ext>
            </a:extLst>
          </p:cNvPr>
          <p:cNvSpPr txBox="1"/>
          <p:nvPr/>
        </p:nvSpPr>
        <p:spPr>
          <a:xfrm>
            <a:off x="9080256" y="2346844"/>
            <a:ext cx="827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❌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138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92F0-6320-E6A9-7F6B-46E146EA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65FDFB-39F3-BECA-BD76-3668D6E24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b="1" i="1" dirty="0"/>
              <a:t>When</a:t>
            </a:r>
            <a:r>
              <a:rPr lang="en-US" dirty="0"/>
              <a:t> the consumer commits determines delivery semantics</a:t>
            </a:r>
          </a:p>
          <a:p>
            <a:r>
              <a:rPr lang="en-US" dirty="0"/>
              <a:t>After processing -&gt; </a:t>
            </a:r>
            <a:r>
              <a:rPr lang="en-US" b="1" dirty="0"/>
              <a:t>at-least-once</a:t>
            </a:r>
            <a:r>
              <a:rPr lang="en-US" dirty="0"/>
              <a:t> delivery guarantees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27854A-1A1E-A7C6-7009-8918DFA4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8F5BB-9A83-D6D3-302F-08395A53CE1A}"/>
              </a:ext>
            </a:extLst>
          </p:cNvPr>
          <p:cNvSpPr/>
          <p:nvPr/>
        </p:nvSpPr>
        <p:spPr>
          <a:xfrm>
            <a:off x="6371396" y="3177838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34D220-F5EB-14B0-1AAF-ABBD1017E37E}"/>
              </a:ext>
            </a:extLst>
          </p:cNvPr>
          <p:cNvSpPr/>
          <p:nvPr/>
        </p:nvSpPr>
        <p:spPr>
          <a:xfrm>
            <a:off x="2599496" y="3177839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27D9E3BC-33A3-9325-2A3B-C2AA32A2D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708" y="3278087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85C106-679A-203C-7EAE-D3249133F695}"/>
              </a:ext>
            </a:extLst>
          </p:cNvPr>
          <p:cNvSpPr txBox="1"/>
          <p:nvPr/>
        </p:nvSpPr>
        <p:spPr>
          <a:xfrm>
            <a:off x="4527541" y="4032228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9D28B5-D2ED-7817-3EFB-7C4F146EFFBA}"/>
              </a:ext>
            </a:extLst>
          </p:cNvPr>
          <p:cNvCxnSpPr>
            <a:cxnSpLocks/>
          </p:cNvCxnSpPr>
          <p:nvPr/>
        </p:nvCxnSpPr>
        <p:spPr>
          <a:xfrm flipV="1">
            <a:off x="4394091" y="3463654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F852B6B-3D6F-5EEB-2BC5-3532426ECD8B}"/>
              </a:ext>
            </a:extLst>
          </p:cNvPr>
          <p:cNvSpPr/>
          <p:nvPr/>
        </p:nvSpPr>
        <p:spPr>
          <a:xfrm>
            <a:off x="5553361" y="267294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9D253-1BF1-5B19-7DE9-177558A884F1}"/>
              </a:ext>
            </a:extLst>
          </p:cNvPr>
          <p:cNvSpPr/>
          <p:nvPr/>
        </p:nvSpPr>
        <p:spPr>
          <a:xfrm>
            <a:off x="5262848" y="267294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191C6-D49B-714A-C471-EE783474F31E}"/>
              </a:ext>
            </a:extLst>
          </p:cNvPr>
          <p:cNvSpPr/>
          <p:nvPr/>
        </p:nvSpPr>
        <p:spPr>
          <a:xfrm>
            <a:off x="4971414" y="2665237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B82A0-FCF3-49B3-FC0E-121B7F68351C}"/>
              </a:ext>
            </a:extLst>
          </p:cNvPr>
          <p:cNvSpPr/>
          <p:nvPr/>
        </p:nvSpPr>
        <p:spPr>
          <a:xfrm>
            <a:off x="4620126" y="2468057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553CCDE0-6D9B-6A93-2194-3CE2E409AF2C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16200000" flipH="1" flipV="1">
            <a:off x="6260941" y="2284987"/>
            <a:ext cx="100249" cy="1885950"/>
          </a:xfrm>
          <a:prstGeom prst="curvedConnector3">
            <a:avLst>
              <a:gd name="adj1" fmla="val -22803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8F6E1A-486B-EBD6-8DF7-F7D679B5D334}"/>
              </a:ext>
            </a:extLst>
          </p:cNvPr>
          <p:cNvSpPr txBox="1"/>
          <p:nvPr/>
        </p:nvSpPr>
        <p:spPr>
          <a:xfrm>
            <a:off x="6146202" y="257947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Poll</a:t>
            </a:r>
          </a:p>
        </p:txBody>
      </p:sp>
      <p:cxnSp>
        <p:nvCxnSpPr>
          <p:cNvPr id="2" name="Curved Connector 1">
            <a:extLst>
              <a:ext uri="{FF2B5EF4-FFF2-40B4-BE49-F238E27FC236}">
                <a16:creationId xmlns:a16="http://schemas.microsoft.com/office/drawing/2014/main" id="{28EEC6A5-19B8-3CB1-6DAC-1ED030F33F40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16200000" flipH="1">
            <a:off x="6260941" y="2756371"/>
            <a:ext cx="100250" cy="1885950"/>
          </a:xfrm>
          <a:prstGeom prst="curvedConnector3">
            <a:avLst>
              <a:gd name="adj1" fmla="val 328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C0FE6-050B-7D92-7281-A3A6B511FA28}"/>
              </a:ext>
            </a:extLst>
          </p:cNvPr>
          <p:cNvSpPr txBox="1"/>
          <p:nvPr/>
        </p:nvSpPr>
        <p:spPr>
          <a:xfrm>
            <a:off x="6165376" y="4142032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Event: 42</a:t>
            </a:r>
          </a:p>
        </p:txBody>
      </p:sp>
    </p:spTree>
    <p:extLst>
      <p:ext uri="{BB962C8B-B14F-4D97-AF65-F5344CB8AC3E}">
        <p14:creationId xmlns:p14="http://schemas.microsoft.com/office/powerpoint/2010/main" val="340382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1164-F981-5356-12AB-04FF33C8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D84928-2A50-D091-3AD9-03A3712F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b="1" i="1" dirty="0"/>
              <a:t>When</a:t>
            </a:r>
            <a:r>
              <a:rPr lang="en-US" dirty="0"/>
              <a:t> the consumer commits determines delivery semantics</a:t>
            </a:r>
          </a:p>
          <a:p>
            <a:r>
              <a:rPr lang="en-US" dirty="0"/>
              <a:t>After processing -&gt; </a:t>
            </a:r>
            <a:r>
              <a:rPr lang="en-US" b="1" dirty="0"/>
              <a:t>at-least-once</a:t>
            </a:r>
            <a:r>
              <a:rPr lang="en-US" dirty="0"/>
              <a:t> delivery guarantees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A90110-0718-D2B8-70CC-CA0BF398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BF7CB0-F074-5F10-C550-0E8BFFD7861C}"/>
              </a:ext>
            </a:extLst>
          </p:cNvPr>
          <p:cNvSpPr/>
          <p:nvPr/>
        </p:nvSpPr>
        <p:spPr>
          <a:xfrm>
            <a:off x="6370099" y="3177849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83D4D7-214C-1695-8A80-459FA199079F}"/>
              </a:ext>
            </a:extLst>
          </p:cNvPr>
          <p:cNvSpPr/>
          <p:nvPr/>
        </p:nvSpPr>
        <p:spPr>
          <a:xfrm>
            <a:off x="2598199" y="3177850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BD85D5E7-2575-63DA-982D-EC12B2626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411" y="3278098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5CBF32-12F3-ED65-6BF5-D8A13DFB5C09}"/>
              </a:ext>
            </a:extLst>
          </p:cNvPr>
          <p:cNvSpPr txBox="1"/>
          <p:nvPr/>
        </p:nvSpPr>
        <p:spPr>
          <a:xfrm>
            <a:off x="4526244" y="4032239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219915-23A2-9FB1-7ECA-058005D9C49B}"/>
              </a:ext>
            </a:extLst>
          </p:cNvPr>
          <p:cNvCxnSpPr>
            <a:cxnSpLocks/>
          </p:cNvCxnSpPr>
          <p:nvPr/>
        </p:nvCxnSpPr>
        <p:spPr>
          <a:xfrm flipV="1">
            <a:off x="4392794" y="3463665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07527-578A-43AC-D0D1-64A8DBF6B30E}"/>
              </a:ext>
            </a:extLst>
          </p:cNvPr>
          <p:cNvSpPr/>
          <p:nvPr/>
        </p:nvSpPr>
        <p:spPr>
          <a:xfrm>
            <a:off x="5552064" y="2672951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326EE9-4330-0A1D-B048-AB1A4724BC93}"/>
              </a:ext>
            </a:extLst>
          </p:cNvPr>
          <p:cNvSpPr/>
          <p:nvPr/>
        </p:nvSpPr>
        <p:spPr>
          <a:xfrm>
            <a:off x="5261551" y="2672951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6F54BD-76B2-BEAC-C53D-B7879BDACB9E}"/>
              </a:ext>
            </a:extLst>
          </p:cNvPr>
          <p:cNvSpPr/>
          <p:nvPr/>
        </p:nvSpPr>
        <p:spPr>
          <a:xfrm>
            <a:off x="4970117" y="2665248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E4680A-D93A-18AB-CB94-0EAAE6E47108}"/>
              </a:ext>
            </a:extLst>
          </p:cNvPr>
          <p:cNvSpPr/>
          <p:nvPr/>
        </p:nvSpPr>
        <p:spPr>
          <a:xfrm>
            <a:off x="4618829" y="2468068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D07604DF-7385-2508-320A-92681884693F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 rot="16200000" flipH="1">
            <a:off x="7551157" y="2879435"/>
            <a:ext cx="285817" cy="882645"/>
          </a:xfrm>
          <a:prstGeom prst="curvedConnector4">
            <a:avLst>
              <a:gd name="adj1" fmla="val -79981"/>
              <a:gd name="adj2" fmla="val 1258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4CE52D0-C0B0-F528-B4CF-2F03ADF92C64}"/>
              </a:ext>
            </a:extLst>
          </p:cNvPr>
          <p:cNvSpPr txBox="1"/>
          <p:nvPr/>
        </p:nvSpPr>
        <p:spPr>
          <a:xfrm>
            <a:off x="8422767" y="2798343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3550690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A73C-2193-B498-2241-E6DB8238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EC715A-11EF-58D0-82E1-FAF7FEE21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b="1" i="1" dirty="0"/>
              <a:t>When</a:t>
            </a:r>
            <a:r>
              <a:rPr lang="en-US" dirty="0"/>
              <a:t> the consumer commits determines delivery semantics</a:t>
            </a:r>
          </a:p>
          <a:p>
            <a:r>
              <a:rPr lang="en-US" dirty="0"/>
              <a:t>After processing -&gt; </a:t>
            </a:r>
            <a:r>
              <a:rPr lang="en-US" b="1" dirty="0"/>
              <a:t>at-least-once</a:t>
            </a:r>
            <a:r>
              <a:rPr lang="en-US" dirty="0"/>
              <a:t> delivery guarantees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F94B9C-A305-0A5E-B239-2B3CC68E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C541D-9042-CEA9-AFC8-5BD7D07898B2}"/>
              </a:ext>
            </a:extLst>
          </p:cNvPr>
          <p:cNvSpPr/>
          <p:nvPr/>
        </p:nvSpPr>
        <p:spPr>
          <a:xfrm>
            <a:off x="6370099" y="317785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7912BC-6595-9611-3129-C8C7A885766C}"/>
              </a:ext>
            </a:extLst>
          </p:cNvPr>
          <p:cNvSpPr/>
          <p:nvPr/>
        </p:nvSpPr>
        <p:spPr>
          <a:xfrm>
            <a:off x="2598199" y="317785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queue&quot; Icon - Download for free – Iconduck">
            <a:extLst>
              <a:ext uri="{FF2B5EF4-FFF2-40B4-BE49-F238E27FC236}">
                <a16:creationId xmlns:a16="http://schemas.microsoft.com/office/drawing/2014/main" id="{A5497186-1659-A4B7-A85C-EF9144B60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411" y="3278100"/>
            <a:ext cx="424766" cy="37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4B25AA-D807-D56A-35CA-BFD4793AA1DA}"/>
              </a:ext>
            </a:extLst>
          </p:cNvPr>
          <p:cNvSpPr txBox="1"/>
          <p:nvPr/>
        </p:nvSpPr>
        <p:spPr>
          <a:xfrm>
            <a:off x="4526244" y="4032241"/>
            <a:ext cx="1681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</a:t>
            </a:r>
          </a:p>
          <a:p>
            <a:pPr algn="ctr"/>
            <a:r>
              <a:rPr lang="en-US" sz="2000" b="1" i="1" dirty="0"/>
              <a:t>broker</a:t>
            </a:r>
            <a:endParaRPr lang="en-US" sz="1600" b="1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C8FC2F-F748-A7DE-CC36-D4B5D455B514}"/>
              </a:ext>
            </a:extLst>
          </p:cNvPr>
          <p:cNvCxnSpPr>
            <a:cxnSpLocks/>
          </p:cNvCxnSpPr>
          <p:nvPr/>
        </p:nvCxnSpPr>
        <p:spPr>
          <a:xfrm flipV="1">
            <a:off x="4392794" y="3463667"/>
            <a:ext cx="790922" cy="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7686B20-012A-B75F-27DB-5EE220C64511}"/>
              </a:ext>
            </a:extLst>
          </p:cNvPr>
          <p:cNvSpPr/>
          <p:nvPr/>
        </p:nvSpPr>
        <p:spPr>
          <a:xfrm>
            <a:off x="5552064" y="267295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B6624F-8D2A-F108-4E4B-C9787702C38A}"/>
              </a:ext>
            </a:extLst>
          </p:cNvPr>
          <p:cNvSpPr/>
          <p:nvPr/>
        </p:nvSpPr>
        <p:spPr>
          <a:xfrm>
            <a:off x="5261551" y="2672953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565BE2-41E9-4D1B-4BB5-1B14435E95C7}"/>
              </a:ext>
            </a:extLst>
          </p:cNvPr>
          <p:cNvSpPr/>
          <p:nvPr/>
        </p:nvSpPr>
        <p:spPr>
          <a:xfrm>
            <a:off x="4970117" y="2665250"/>
            <a:ext cx="240632" cy="396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99CC64-B0FF-A0C7-70D8-7712C0E38D51}"/>
              </a:ext>
            </a:extLst>
          </p:cNvPr>
          <p:cNvSpPr/>
          <p:nvPr/>
        </p:nvSpPr>
        <p:spPr>
          <a:xfrm>
            <a:off x="4618829" y="2468070"/>
            <a:ext cx="1489203" cy="23942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D611FF9E-8801-CC8D-DB23-37FD47469ED6}"/>
              </a:ext>
            </a:extLst>
          </p:cNvPr>
          <p:cNvCxnSpPr>
            <a:cxnSpLocks/>
            <a:stCxn id="6" idx="0"/>
            <a:endCxn id="15" idx="3"/>
          </p:cNvCxnSpPr>
          <p:nvPr/>
        </p:nvCxnSpPr>
        <p:spPr>
          <a:xfrm rot="16200000" flipH="1" flipV="1">
            <a:off x="6436707" y="2849175"/>
            <a:ext cx="487361" cy="1144712"/>
          </a:xfrm>
          <a:prstGeom prst="curvedConnector4">
            <a:avLst>
              <a:gd name="adj1" fmla="val -46906"/>
              <a:gd name="adj2" fmla="val 8855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4B5C87C-2440-104F-95AA-A97479024C75}"/>
              </a:ext>
            </a:extLst>
          </p:cNvPr>
          <p:cNvSpPr txBox="1"/>
          <p:nvPr/>
        </p:nvSpPr>
        <p:spPr>
          <a:xfrm>
            <a:off x="6334067" y="25570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Commit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56649-ED56-4FF9-AF7F-F2D3A8ED9267}"/>
              </a:ext>
            </a:extLst>
          </p:cNvPr>
          <p:cNvSpPr txBox="1"/>
          <p:nvPr/>
        </p:nvSpPr>
        <p:spPr>
          <a:xfrm flipH="1">
            <a:off x="6333310" y="3762952"/>
            <a:ext cx="5857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Order microservice can crash AFTER processing; but BEFORE sending the commit message. This will lead the broker to send Event 42 as last committed event</a:t>
            </a:r>
          </a:p>
        </p:txBody>
      </p:sp>
    </p:spTree>
    <p:extLst>
      <p:ext uri="{BB962C8B-B14F-4D97-AF65-F5344CB8AC3E}">
        <p14:creationId xmlns:p14="http://schemas.microsoft.com/office/powerpoint/2010/main" val="183748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26E6-00C7-E2C1-F264-7199314E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5C2A11-85E4-CE60-225B-E48D3074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Selecting the correct delivery guarantees is use-case specific</a:t>
            </a:r>
          </a:p>
          <a:p>
            <a:r>
              <a:rPr lang="en-US" dirty="0"/>
              <a:t>At-most vs at-least delivery guarantees assumes client is relying solely on the broker to maintain its state</a:t>
            </a:r>
          </a:p>
          <a:p>
            <a:pPr lvl="1"/>
            <a:r>
              <a:rPr lang="en-US" dirty="0"/>
              <a:t>Consumer can maintain state locally to augment broker state maintenance</a:t>
            </a:r>
          </a:p>
          <a:p>
            <a:r>
              <a:rPr lang="en-US" dirty="0"/>
              <a:t>Ideally processing should be idempotent</a:t>
            </a:r>
          </a:p>
          <a:p>
            <a:pPr lvl="1"/>
            <a:r>
              <a:rPr lang="en-US" dirty="0"/>
              <a:t>E.g.: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setBankBalance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(1000) </a:t>
            </a:r>
            <a:r>
              <a:rPr lang="en-US" dirty="0"/>
              <a:t>instead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incrementBankBalanceBy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87B26A-17EC-72F4-8183-AF546E53E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At-most once vs. at-least once delivery guarantees</a:t>
            </a:r>
          </a:p>
        </p:txBody>
      </p:sp>
    </p:spTree>
    <p:extLst>
      <p:ext uri="{BB962C8B-B14F-4D97-AF65-F5344CB8AC3E}">
        <p14:creationId xmlns:p14="http://schemas.microsoft.com/office/powerpoint/2010/main" val="116854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F908-F048-5483-1F09-0B592B72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0C3BCD-C396-BD01-42B7-EDA8B34D1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systems perspective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55D48-72F1-2E10-5BA8-2243B3D7CE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Kafka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80533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10976-D899-B1A1-9919-A66F8581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1795A1-B84B-16EF-EFA2-93017C56A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Kafka is an append-only, ordered, immutable log</a:t>
            </a:r>
          </a:p>
          <a:p>
            <a:r>
              <a:rPr lang="en-US" dirty="0"/>
              <a:t>Every event is appended to the end of a log</a:t>
            </a:r>
          </a:p>
          <a:p>
            <a:r>
              <a:rPr lang="en-US" dirty="0"/>
              <a:t>Events are never modified or deleted (within the retention period)</a:t>
            </a:r>
          </a:p>
          <a:p>
            <a:r>
              <a:rPr lang="en-US" dirty="0"/>
              <a:t>Note: unlike </a:t>
            </a:r>
            <a:r>
              <a:rPr lang="en-US" dirty="0" err="1"/>
              <a:t>SSTables</a:t>
            </a:r>
            <a:r>
              <a:rPr lang="en-US" dirty="0"/>
              <a:t> and LSM trees, consumers can only read sequentially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D7B4AC-CA56-D6C6-2A02-12CBFBEC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Kafka is a distributed log</a:t>
            </a:r>
          </a:p>
        </p:txBody>
      </p:sp>
    </p:spTree>
    <p:extLst>
      <p:ext uri="{BB962C8B-B14F-4D97-AF65-F5344CB8AC3E}">
        <p14:creationId xmlns:p14="http://schemas.microsoft.com/office/powerpoint/2010/main" val="1457834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F0B4-1BF8-733D-01E0-AC08C69D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3205D-26D2-D896-4BAE-B118AF403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A single log on a single machine has limited throughput</a:t>
            </a:r>
          </a:p>
          <a:p>
            <a:r>
              <a:rPr lang="en-US" dirty="0"/>
              <a:t>What if a topic receives millions of events per second?</a:t>
            </a:r>
          </a:p>
          <a:p>
            <a:r>
              <a:rPr lang="en-US" dirty="0"/>
              <a:t>A single machine’s disk I/O and network bandwidth become bottlenecks</a:t>
            </a:r>
          </a:p>
          <a:p>
            <a:r>
              <a:rPr lang="en-US" dirty="0"/>
              <a:t>Solution: split the topic’s log across machines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8CEE98-1F09-8C60-40B3-9E85E06E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The scalability problem</a:t>
            </a:r>
          </a:p>
        </p:txBody>
      </p:sp>
    </p:spTree>
    <p:extLst>
      <p:ext uri="{BB962C8B-B14F-4D97-AF65-F5344CB8AC3E}">
        <p14:creationId xmlns:p14="http://schemas.microsoft.com/office/powerpoint/2010/main" val="156624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AE177-A25B-8B99-36F3-0881EFD3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DAC9B1-53F2-5338-380A-4380CB0D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Kafka usually consists of a cluster of brokers</a:t>
            </a:r>
          </a:p>
          <a:p>
            <a:r>
              <a:rPr lang="en-US" dirty="0"/>
              <a:t>Each broker is a single node or machine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DC9F00-BA83-A058-DA1B-4EBC40AEF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Scaling Kafka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FCBD82-70B0-A049-2254-8C2ED7F18EAF}"/>
              </a:ext>
            </a:extLst>
          </p:cNvPr>
          <p:cNvSpPr/>
          <p:nvPr/>
        </p:nvSpPr>
        <p:spPr>
          <a:xfrm>
            <a:off x="9425906" y="348306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B2C339-C5F9-2C53-3A4B-8265B5C700C4}"/>
              </a:ext>
            </a:extLst>
          </p:cNvPr>
          <p:cNvSpPr/>
          <p:nvPr/>
        </p:nvSpPr>
        <p:spPr>
          <a:xfrm>
            <a:off x="613408" y="341280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1943E2-D2A1-209F-77EE-D0782F6AC220}"/>
              </a:ext>
            </a:extLst>
          </p:cNvPr>
          <p:cNvSpPr txBox="1"/>
          <p:nvPr/>
        </p:nvSpPr>
        <p:spPr>
          <a:xfrm>
            <a:off x="5225716" y="49372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E9E11-89E0-7CE8-B713-E5181B18A7B5}"/>
              </a:ext>
            </a:extLst>
          </p:cNvPr>
          <p:cNvSpPr/>
          <p:nvPr/>
        </p:nvSpPr>
        <p:spPr>
          <a:xfrm>
            <a:off x="3128212" y="3152273"/>
            <a:ext cx="5895472" cy="1636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4C66D4-F954-93CE-72DA-1040FC873B9D}"/>
              </a:ext>
            </a:extLst>
          </p:cNvPr>
          <p:cNvSpPr/>
          <p:nvPr/>
        </p:nvSpPr>
        <p:spPr>
          <a:xfrm>
            <a:off x="3324145" y="3591349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C3C73D-947A-A673-FD3A-3517EDD65A74}"/>
              </a:ext>
            </a:extLst>
          </p:cNvPr>
          <p:cNvSpPr/>
          <p:nvPr/>
        </p:nvSpPr>
        <p:spPr>
          <a:xfrm>
            <a:off x="5225717" y="3609338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82AE34-1251-C1D8-0091-FBF0EDA620A9}"/>
              </a:ext>
            </a:extLst>
          </p:cNvPr>
          <p:cNvSpPr/>
          <p:nvPr/>
        </p:nvSpPr>
        <p:spPr>
          <a:xfrm>
            <a:off x="7074570" y="3609338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3CA803-3B4C-77BD-31B4-97C4D1D8CBDD}"/>
              </a:ext>
            </a:extLst>
          </p:cNvPr>
          <p:cNvSpPr txBox="1"/>
          <p:nvPr/>
        </p:nvSpPr>
        <p:spPr>
          <a:xfrm>
            <a:off x="3324144" y="317175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BA1E37-3B12-A241-0874-D0317E4C3866}"/>
              </a:ext>
            </a:extLst>
          </p:cNvPr>
          <p:cNvSpPr txBox="1"/>
          <p:nvPr/>
        </p:nvSpPr>
        <p:spPr>
          <a:xfrm>
            <a:off x="5245769" y="3165572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F66F8F-119C-57BF-B21E-3FFD10FB0770}"/>
              </a:ext>
            </a:extLst>
          </p:cNvPr>
          <p:cNvSpPr txBox="1"/>
          <p:nvPr/>
        </p:nvSpPr>
        <p:spPr>
          <a:xfrm>
            <a:off x="7074569" y="3174389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574B2A15-44D8-E3BC-0BA1-DE85507A5D38}"/>
              </a:ext>
            </a:extLst>
          </p:cNvPr>
          <p:cNvCxnSpPr>
            <a:cxnSpLocks/>
          </p:cNvCxnSpPr>
          <p:nvPr/>
        </p:nvCxnSpPr>
        <p:spPr>
          <a:xfrm rot="10800000" flipV="1">
            <a:off x="9023684" y="3768877"/>
            <a:ext cx="402222" cy="201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41CBF0B7-1383-EEDB-1EA9-EEB2D1AB1534}"/>
              </a:ext>
            </a:extLst>
          </p:cNvPr>
          <p:cNvCxnSpPr/>
          <p:nvPr/>
        </p:nvCxnSpPr>
        <p:spPr>
          <a:xfrm>
            <a:off x="2378698" y="3698625"/>
            <a:ext cx="749514" cy="2717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9126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38FC-607C-C93C-DE5B-B86726E03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F8648C-FC9E-5800-634D-DC007E437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The logical “log” is divided into physical partitions</a:t>
            </a:r>
          </a:p>
          <a:p>
            <a:r>
              <a:rPr lang="en-US" dirty="0"/>
              <a:t>A partition is a single, ordered, immutable log</a:t>
            </a:r>
          </a:p>
          <a:p>
            <a:r>
              <a:rPr lang="en-US" dirty="0"/>
              <a:t>Each partition lives on a single broker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2FFBBC-B79C-4E8B-D7F6-575703E17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Scaling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9E9B2E-B66C-DC61-F281-CE8477B08841}"/>
              </a:ext>
            </a:extLst>
          </p:cNvPr>
          <p:cNvSpPr/>
          <p:nvPr/>
        </p:nvSpPr>
        <p:spPr>
          <a:xfrm>
            <a:off x="9425906" y="348306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A74338-49F1-6FFC-D1F3-625688339D18}"/>
              </a:ext>
            </a:extLst>
          </p:cNvPr>
          <p:cNvSpPr/>
          <p:nvPr/>
        </p:nvSpPr>
        <p:spPr>
          <a:xfrm>
            <a:off x="613408" y="341280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C69BB-D8C0-553B-DF3E-A82509329825}"/>
              </a:ext>
            </a:extLst>
          </p:cNvPr>
          <p:cNvSpPr txBox="1"/>
          <p:nvPr/>
        </p:nvSpPr>
        <p:spPr>
          <a:xfrm>
            <a:off x="5225716" y="49372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59A984-3DB0-5414-69FB-C0EB9D6F2E94}"/>
              </a:ext>
            </a:extLst>
          </p:cNvPr>
          <p:cNvSpPr/>
          <p:nvPr/>
        </p:nvSpPr>
        <p:spPr>
          <a:xfrm>
            <a:off x="3128212" y="3152273"/>
            <a:ext cx="5895472" cy="1636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35C89E-F9DF-7012-5EDE-BE20FA2A377E}"/>
              </a:ext>
            </a:extLst>
          </p:cNvPr>
          <p:cNvSpPr/>
          <p:nvPr/>
        </p:nvSpPr>
        <p:spPr>
          <a:xfrm>
            <a:off x="3324145" y="3591349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837447-EA7C-20D5-F335-5D313C802C63}"/>
              </a:ext>
            </a:extLst>
          </p:cNvPr>
          <p:cNvSpPr/>
          <p:nvPr/>
        </p:nvSpPr>
        <p:spPr>
          <a:xfrm>
            <a:off x="5225717" y="3609338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1E9863-F44F-AC03-6C05-9B1FA26E191E}"/>
              </a:ext>
            </a:extLst>
          </p:cNvPr>
          <p:cNvSpPr/>
          <p:nvPr/>
        </p:nvSpPr>
        <p:spPr>
          <a:xfrm>
            <a:off x="7074570" y="3609338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FB0D00-C970-E769-89B8-0AEC43E96407}"/>
              </a:ext>
            </a:extLst>
          </p:cNvPr>
          <p:cNvSpPr txBox="1"/>
          <p:nvPr/>
        </p:nvSpPr>
        <p:spPr>
          <a:xfrm>
            <a:off x="3324144" y="317175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419FEE-7680-C839-86EC-63497FE11385}"/>
              </a:ext>
            </a:extLst>
          </p:cNvPr>
          <p:cNvSpPr txBox="1"/>
          <p:nvPr/>
        </p:nvSpPr>
        <p:spPr>
          <a:xfrm>
            <a:off x="5245769" y="3165572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DC98CD-6A3E-B2F8-6EC7-27574D660BE7}"/>
              </a:ext>
            </a:extLst>
          </p:cNvPr>
          <p:cNvSpPr txBox="1"/>
          <p:nvPr/>
        </p:nvSpPr>
        <p:spPr>
          <a:xfrm>
            <a:off x="7074569" y="3174389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DD840F-2FB4-440A-9702-05323AEBBB49}"/>
              </a:ext>
            </a:extLst>
          </p:cNvPr>
          <p:cNvSpPr/>
          <p:nvPr/>
        </p:nvSpPr>
        <p:spPr>
          <a:xfrm>
            <a:off x="3428919" y="3672601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B22139-FB13-96DE-B8E4-5594514473C7}"/>
              </a:ext>
            </a:extLst>
          </p:cNvPr>
          <p:cNvSpPr/>
          <p:nvPr/>
        </p:nvSpPr>
        <p:spPr>
          <a:xfrm>
            <a:off x="4226762" y="36785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4F5A1B-D554-55DE-6D4A-8DEF7540F6D4}"/>
              </a:ext>
            </a:extLst>
          </p:cNvPr>
          <p:cNvSpPr/>
          <p:nvPr/>
        </p:nvSpPr>
        <p:spPr>
          <a:xfrm>
            <a:off x="5267494" y="36986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814577-2F7B-CCB5-31E0-8F3E3BEF78DA}"/>
              </a:ext>
            </a:extLst>
          </p:cNvPr>
          <p:cNvSpPr/>
          <p:nvPr/>
        </p:nvSpPr>
        <p:spPr>
          <a:xfrm>
            <a:off x="7182585" y="369059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724641-06B3-8EF3-C244-EED9C7200320}"/>
              </a:ext>
            </a:extLst>
          </p:cNvPr>
          <p:cNvSpPr/>
          <p:nvPr/>
        </p:nvSpPr>
        <p:spPr>
          <a:xfrm>
            <a:off x="7976399" y="36986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8EAA7F59-D16F-6587-E503-2138A6B3B057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2378698" y="3698625"/>
            <a:ext cx="749514" cy="2717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1E17D4EE-ADD8-268C-79C9-B7FB091BBC3A}"/>
              </a:ext>
            </a:extLst>
          </p:cNvPr>
          <p:cNvCxnSpPr>
            <a:cxnSpLocks/>
            <a:stCxn id="2" idx="1"/>
            <a:endCxn id="10" idx="3"/>
          </p:cNvCxnSpPr>
          <p:nvPr/>
        </p:nvCxnSpPr>
        <p:spPr>
          <a:xfrm rot="10800000" flipV="1">
            <a:off x="9023684" y="3768877"/>
            <a:ext cx="402222" cy="201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17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6E4E-329C-C43E-4A56-0EAC86AF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54C7C1-26AF-BF01-5FE4-EC12800A5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Each topic is divided into one or more partitions</a:t>
            </a:r>
          </a:p>
          <a:p>
            <a:r>
              <a:rPr lang="en-US" dirty="0"/>
              <a:t>A topic </a:t>
            </a:r>
            <a:r>
              <a:rPr lang="en-US" i="1" dirty="0"/>
              <a:t>can </a:t>
            </a:r>
            <a:r>
              <a:rPr lang="en-US" dirty="0"/>
              <a:t>live in many partitions on the same broker, but that limits concurrency – ideally a topic is distributed among partitions on different brokers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17A481-E441-9273-0512-3EF2B0969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Scaling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1B3A3-1251-6D8C-C5F7-A41CECA0EB0B}"/>
              </a:ext>
            </a:extLst>
          </p:cNvPr>
          <p:cNvSpPr/>
          <p:nvPr/>
        </p:nvSpPr>
        <p:spPr>
          <a:xfrm>
            <a:off x="9425906" y="3483061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D0539-4E4C-2E60-7AAC-8E6A7F9CDFB3}"/>
              </a:ext>
            </a:extLst>
          </p:cNvPr>
          <p:cNvSpPr/>
          <p:nvPr/>
        </p:nvSpPr>
        <p:spPr>
          <a:xfrm>
            <a:off x="613408" y="3412808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94D2F-235C-932A-EF76-6B44C6271809}"/>
              </a:ext>
            </a:extLst>
          </p:cNvPr>
          <p:cNvSpPr txBox="1"/>
          <p:nvPr/>
        </p:nvSpPr>
        <p:spPr>
          <a:xfrm>
            <a:off x="5225716" y="49372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64055-A572-441B-DB42-C212454B1866}"/>
              </a:ext>
            </a:extLst>
          </p:cNvPr>
          <p:cNvSpPr/>
          <p:nvPr/>
        </p:nvSpPr>
        <p:spPr>
          <a:xfrm>
            <a:off x="3128212" y="3152273"/>
            <a:ext cx="5895472" cy="1636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C3D034-1753-17ED-F944-4D1864027A52}"/>
              </a:ext>
            </a:extLst>
          </p:cNvPr>
          <p:cNvSpPr/>
          <p:nvPr/>
        </p:nvSpPr>
        <p:spPr>
          <a:xfrm>
            <a:off x="3324145" y="3591349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A6EF7-4060-BC74-A679-3BFD2838219B}"/>
              </a:ext>
            </a:extLst>
          </p:cNvPr>
          <p:cNvSpPr/>
          <p:nvPr/>
        </p:nvSpPr>
        <p:spPr>
          <a:xfrm>
            <a:off x="5225717" y="3609338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6B039B-1A4A-5B8F-0EBA-6BF0256FBD77}"/>
              </a:ext>
            </a:extLst>
          </p:cNvPr>
          <p:cNvSpPr/>
          <p:nvPr/>
        </p:nvSpPr>
        <p:spPr>
          <a:xfrm>
            <a:off x="7074570" y="3609338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95E3EE-691E-4E0F-B7B1-CEC29DDF1B1A}"/>
              </a:ext>
            </a:extLst>
          </p:cNvPr>
          <p:cNvSpPr txBox="1"/>
          <p:nvPr/>
        </p:nvSpPr>
        <p:spPr>
          <a:xfrm>
            <a:off x="3324144" y="317175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A86C2D-C884-C541-17AC-052C6DA878C6}"/>
              </a:ext>
            </a:extLst>
          </p:cNvPr>
          <p:cNvSpPr txBox="1"/>
          <p:nvPr/>
        </p:nvSpPr>
        <p:spPr>
          <a:xfrm>
            <a:off x="5245769" y="3165572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1EF363-6625-09B3-3BCF-84F37A27D2A3}"/>
              </a:ext>
            </a:extLst>
          </p:cNvPr>
          <p:cNvSpPr txBox="1"/>
          <p:nvPr/>
        </p:nvSpPr>
        <p:spPr>
          <a:xfrm>
            <a:off x="7074569" y="3174389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D8B8CA-D62D-83C1-D2ED-6974DA060212}"/>
              </a:ext>
            </a:extLst>
          </p:cNvPr>
          <p:cNvSpPr/>
          <p:nvPr/>
        </p:nvSpPr>
        <p:spPr>
          <a:xfrm>
            <a:off x="3428919" y="3672601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58D524-9E86-63B4-DC7E-A6BE33A124BE}"/>
              </a:ext>
            </a:extLst>
          </p:cNvPr>
          <p:cNvSpPr/>
          <p:nvPr/>
        </p:nvSpPr>
        <p:spPr>
          <a:xfrm>
            <a:off x="4226762" y="36785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0B6A29-1F05-EBF0-74D5-3DAB51F0EA0F}"/>
              </a:ext>
            </a:extLst>
          </p:cNvPr>
          <p:cNvSpPr/>
          <p:nvPr/>
        </p:nvSpPr>
        <p:spPr>
          <a:xfrm>
            <a:off x="5267494" y="36986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0FE518-16F7-DD42-3DEE-56BD1AB4537E}"/>
              </a:ext>
            </a:extLst>
          </p:cNvPr>
          <p:cNvSpPr/>
          <p:nvPr/>
        </p:nvSpPr>
        <p:spPr>
          <a:xfrm>
            <a:off x="7182585" y="369059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C89A43-7530-5274-CE7C-A9E092644083}"/>
              </a:ext>
            </a:extLst>
          </p:cNvPr>
          <p:cNvSpPr/>
          <p:nvPr/>
        </p:nvSpPr>
        <p:spPr>
          <a:xfrm>
            <a:off x="7976399" y="36986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4512B449-9E31-D550-B8F8-E2E8ADF46438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2378698" y="3698625"/>
            <a:ext cx="749514" cy="2717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3CFC4915-35CE-7155-5154-69C643B08143}"/>
              </a:ext>
            </a:extLst>
          </p:cNvPr>
          <p:cNvCxnSpPr>
            <a:cxnSpLocks/>
            <a:stCxn id="2" idx="1"/>
            <a:endCxn id="10" idx="3"/>
          </p:cNvCxnSpPr>
          <p:nvPr/>
        </p:nvCxnSpPr>
        <p:spPr>
          <a:xfrm rot="10800000" flipV="1">
            <a:off x="9023684" y="3768877"/>
            <a:ext cx="402222" cy="201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EE924AF-B3FD-38EA-AA06-F493D77FE089}"/>
              </a:ext>
            </a:extLst>
          </p:cNvPr>
          <p:cNvSpPr/>
          <p:nvPr/>
        </p:nvSpPr>
        <p:spPr>
          <a:xfrm>
            <a:off x="3485651" y="369059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597AF0-CCE2-D1A6-CEA5-710E3D5A70E3}"/>
              </a:ext>
            </a:extLst>
          </p:cNvPr>
          <p:cNvSpPr/>
          <p:nvPr/>
        </p:nvSpPr>
        <p:spPr>
          <a:xfrm>
            <a:off x="5324226" y="3719746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16C0E1-584F-20E1-0243-291C9F8D8657}"/>
              </a:ext>
            </a:extLst>
          </p:cNvPr>
          <p:cNvSpPr/>
          <p:nvPr/>
        </p:nvSpPr>
        <p:spPr>
          <a:xfrm>
            <a:off x="7242436" y="3719746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CE4044-7E86-EE08-6BF6-18E97F919265}"/>
              </a:ext>
            </a:extLst>
          </p:cNvPr>
          <p:cNvSpPr/>
          <p:nvPr/>
        </p:nvSpPr>
        <p:spPr>
          <a:xfrm>
            <a:off x="3495092" y="426201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4178C6-B88D-1E29-F12B-621F2C7F29F4}"/>
              </a:ext>
            </a:extLst>
          </p:cNvPr>
          <p:cNvSpPr/>
          <p:nvPr/>
        </p:nvSpPr>
        <p:spPr>
          <a:xfrm>
            <a:off x="8016777" y="371974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537C58-FEDC-960B-4F11-02A62D48832E}"/>
              </a:ext>
            </a:extLst>
          </p:cNvPr>
          <p:cNvSpPr/>
          <p:nvPr/>
        </p:nvSpPr>
        <p:spPr>
          <a:xfrm>
            <a:off x="4268623" y="3702175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5B3564-314F-A67E-1D5C-C66927C6BA86}"/>
              </a:ext>
            </a:extLst>
          </p:cNvPr>
          <p:cNvSpPr/>
          <p:nvPr/>
        </p:nvSpPr>
        <p:spPr>
          <a:xfrm>
            <a:off x="7248202" y="429014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06337C-8FCE-86C3-7D41-E3DC33166A47}"/>
              </a:ext>
            </a:extLst>
          </p:cNvPr>
          <p:cNvSpPr/>
          <p:nvPr/>
        </p:nvSpPr>
        <p:spPr>
          <a:xfrm>
            <a:off x="5333667" y="428501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</p:spTree>
    <p:extLst>
      <p:ext uri="{BB962C8B-B14F-4D97-AF65-F5344CB8AC3E}">
        <p14:creationId xmlns:p14="http://schemas.microsoft.com/office/powerpoint/2010/main" val="198454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4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098049-3589-F253-D4B9-57D81D564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Ordering is guaranteed within a partition, NOT across partitions</a:t>
            </a:r>
          </a:p>
          <a:p>
            <a:pPr lvl="1"/>
            <a:r>
              <a:rPr lang="en-US" dirty="0"/>
              <a:t>Events in topic T in partition 0 are ordered among themselves</a:t>
            </a:r>
          </a:p>
          <a:p>
            <a:pPr lvl="1"/>
            <a:r>
              <a:rPr lang="en-US" dirty="0"/>
              <a:t>Events in topic T in partition 1 are ordered among themselves</a:t>
            </a:r>
          </a:p>
          <a:p>
            <a:pPr lvl="1"/>
            <a:r>
              <a:rPr lang="en-US" dirty="0"/>
              <a:t>No ordering guarantee between partition 0 and partition 1</a:t>
            </a:r>
          </a:p>
          <a:p>
            <a:r>
              <a:rPr lang="en-US" dirty="0"/>
              <a:t>Key trade-off: more partitions = more throughput but weaker global ordering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2D3C1B-3329-8607-AF6A-9FCF7E1F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Ordering within partitions</a:t>
            </a:r>
          </a:p>
        </p:txBody>
      </p:sp>
    </p:spTree>
    <p:extLst>
      <p:ext uri="{BB962C8B-B14F-4D97-AF65-F5344CB8AC3E}">
        <p14:creationId xmlns:p14="http://schemas.microsoft.com/office/powerpoint/2010/main" val="1809495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B8CC-39A5-72A3-B4BD-536E39DC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9F200F-A491-D22A-5814-E2E5901AB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Each topic has event records under 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33D105-05B7-979D-D08E-A1B3BDFE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Record to partition mapping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DD7169D-DE81-17AA-65D5-ACE8960B3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974455"/>
              </p:ext>
            </p:extLst>
          </p:nvPr>
        </p:nvGraphicFramePr>
        <p:xfrm>
          <a:off x="1311270" y="2618560"/>
          <a:ext cx="8940800" cy="51711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83664807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221752019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95175360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619192922"/>
                    </a:ext>
                  </a:extLst>
                </a:gridCol>
              </a:tblGrid>
              <a:tr h="5171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“ABCD"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2025-01-03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2472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B90D460-8D72-3928-041F-820F5EEE35CE}"/>
              </a:ext>
            </a:extLst>
          </p:cNvPr>
          <p:cNvSpPr txBox="1"/>
          <p:nvPr/>
        </p:nvSpPr>
        <p:spPr>
          <a:xfrm>
            <a:off x="1696452" y="2249227"/>
            <a:ext cx="1525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Key (optional)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0CFD91-85C8-4511-3636-0B241BBE00E2}"/>
              </a:ext>
            </a:extLst>
          </p:cNvPr>
          <p:cNvSpPr txBox="1"/>
          <p:nvPr/>
        </p:nvSpPr>
        <p:spPr>
          <a:xfrm>
            <a:off x="4267199" y="2249227"/>
            <a:ext cx="72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Value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FB9196-1F49-6A50-807A-975862745250}"/>
              </a:ext>
            </a:extLst>
          </p:cNvPr>
          <p:cNvSpPr txBox="1"/>
          <p:nvPr/>
        </p:nvSpPr>
        <p:spPr>
          <a:xfrm>
            <a:off x="6371154" y="2249227"/>
            <a:ext cx="1250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Timestamp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86B77F-8AAA-552F-6F81-9CA10B6022E1}"/>
              </a:ext>
            </a:extLst>
          </p:cNvPr>
          <p:cNvSpPr txBox="1"/>
          <p:nvPr/>
        </p:nvSpPr>
        <p:spPr>
          <a:xfrm>
            <a:off x="8547840" y="2249227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Headers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2F57A0-4DE8-06A3-FBFC-930BD92B7ECE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607254-3548-A738-89C4-AD3999955AEC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47022C-243B-42E0-6169-B68BE2BAEDDE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61F7F8-7799-3FE2-A536-11A527BAC884}"/>
              </a:ext>
            </a:extLst>
          </p:cNvPr>
          <p:cNvSpPr/>
          <p:nvPr/>
        </p:nvSpPr>
        <p:spPr>
          <a:xfrm>
            <a:off x="3128212" y="3392907"/>
            <a:ext cx="5895472" cy="1636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48C38F-0CCE-8CCE-D972-DED2B0D016AD}"/>
              </a:ext>
            </a:extLst>
          </p:cNvPr>
          <p:cNvSpPr/>
          <p:nvPr/>
        </p:nvSpPr>
        <p:spPr>
          <a:xfrm>
            <a:off x="3324145" y="3831983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BD0D74-01CA-7763-FF12-E162A6A8E4FD}"/>
              </a:ext>
            </a:extLst>
          </p:cNvPr>
          <p:cNvSpPr/>
          <p:nvPr/>
        </p:nvSpPr>
        <p:spPr>
          <a:xfrm>
            <a:off x="5225717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186E09-9391-C410-1B0E-EBAEB06E0AB8}"/>
              </a:ext>
            </a:extLst>
          </p:cNvPr>
          <p:cNvSpPr/>
          <p:nvPr/>
        </p:nvSpPr>
        <p:spPr>
          <a:xfrm>
            <a:off x="7074570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D444A3-99E4-DF81-374A-1F250A029A21}"/>
              </a:ext>
            </a:extLst>
          </p:cNvPr>
          <p:cNvSpPr txBox="1"/>
          <p:nvPr/>
        </p:nvSpPr>
        <p:spPr>
          <a:xfrm>
            <a:off x="3324144" y="34123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5DC56F-F3A0-53A5-E4BD-A42DDB4F3C9B}"/>
              </a:ext>
            </a:extLst>
          </p:cNvPr>
          <p:cNvSpPr txBox="1"/>
          <p:nvPr/>
        </p:nvSpPr>
        <p:spPr>
          <a:xfrm>
            <a:off x="5245769" y="340620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D52D0E-B442-A0BA-6FDA-C1695F5FD6D0}"/>
              </a:ext>
            </a:extLst>
          </p:cNvPr>
          <p:cNvSpPr txBox="1"/>
          <p:nvPr/>
        </p:nvSpPr>
        <p:spPr>
          <a:xfrm>
            <a:off x="7074569" y="341502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4DAF2A-65BB-A8E2-9CBD-DC1D1FEF70D1}"/>
              </a:ext>
            </a:extLst>
          </p:cNvPr>
          <p:cNvSpPr/>
          <p:nvPr/>
        </p:nvSpPr>
        <p:spPr>
          <a:xfrm>
            <a:off x="3428919" y="3913235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B51CAB-B9B9-8BA7-5EDB-72D94400B382}"/>
              </a:ext>
            </a:extLst>
          </p:cNvPr>
          <p:cNvSpPr/>
          <p:nvPr/>
        </p:nvSpPr>
        <p:spPr>
          <a:xfrm>
            <a:off x="4226762" y="3919192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DE4B5A-6E86-7C02-32DA-F559D1A960F0}"/>
              </a:ext>
            </a:extLst>
          </p:cNvPr>
          <p:cNvSpPr/>
          <p:nvPr/>
        </p:nvSpPr>
        <p:spPr>
          <a:xfrm>
            <a:off x="5267494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80EBA69-F4DB-CE53-CE9B-B6390918CD3F}"/>
              </a:ext>
            </a:extLst>
          </p:cNvPr>
          <p:cNvSpPr/>
          <p:nvPr/>
        </p:nvSpPr>
        <p:spPr>
          <a:xfrm>
            <a:off x="7182585" y="39312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393601-7640-B7CC-C89C-5C437230937E}"/>
              </a:ext>
            </a:extLst>
          </p:cNvPr>
          <p:cNvSpPr/>
          <p:nvPr/>
        </p:nvSpPr>
        <p:spPr>
          <a:xfrm>
            <a:off x="7976399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65FFD185-4C21-0DCF-8E90-010BC36FA22A}"/>
              </a:ext>
            </a:extLst>
          </p:cNvPr>
          <p:cNvCxnSpPr>
            <a:stCxn id="36" idx="3"/>
            <a:endCxn id="38" idx="1"/>
          </p:cNvCxnSpPr>
          <p:nvPr/>
        </p:nvCxnSpPr>
        <p:spPr>
          <a:xfrm>
            <a:off x="2378698" y="3939259"/>
            <a:ext cx="749514" cy="2717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BEC59C68-99E7-D167-4A6B-BAC4CF23B1EC}"/>
              </a:ext>
            </a:extLst>
          </p:cNvPr>
          <p:cNvCxnSpPr>
            <a:cxnSpLocks/>
            <a:stCxn id="35" idx="1"/>
            <a:endCxn id="38" idx="3"/>
          </p:cNvCxnSpPr>
          <p:nvPr/>
        </p:nvCxnSpPr>
        <p:spPr>
          <a:xfrm rot="10800000" flipV="1">
            <a:off x="9023684" y="4009511"/>
            <a:ext cx="402222" cy="201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1B568DA-FC08-C5AD-8784-5741BFBE1B13}"/>
              </a:ext>
            </a:extLst>
          </p:cNvPr>
          <p:cNvSpPr/>
          <p:nvPr/>
        </p:nvSpPr>
        <p:spPr>
          <a:xfrm>
            <a:off x="3485651" y="393122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F9631D-5F75-381C-A7C1-C72F14DE6B18}"/>
              </a:ext>
            </a:extLst>
          </p:cNvPr>
          <p:cNvSpPr/>
          <p:nvPr/>
        </p:nvSpPr>
        <p:spPr>
          <a:xfrm>
            <a:off x="532422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753D027-FD9A-1BEC-FA71-10E46B87EEBD}"/>
              </a:ext>
            </a:extLst>
          </p:cNvPr>
          <p:cNvSpPr/>
          <p:nvPr/>
        </p:nvSpPr>
        <p:spPr>
          <a:xfrm>
            <a:off x="724243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4FAA57-2CEA-7B9E-3B6B-5BF85C2B40CB}"/>
              </a:ext>
            </a:extLst>
          </p:cNvPr>
          <p:cNvSpPr/>
          <p:nvPr/>
        </p:nvSpPr>
        <p:spPr>
          <a:xfrm>
            <a:off x="3495092" y="450264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BDBA79-3260-6434-0E03-EC77910812D2}"/>
              </a:ext>
            </a:extLst>
          </p:cNvPr>
          <p:cNvSpPr/>
          <p:nvPr/>
        </p:nvSpPr>
        <p:spPr>
          <a:xfrm>
            <a:off x="8016777" y="3960379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2D750DC-B260-CB1E-7D2C-881926E0CAA8}"/>
              </a:ext>
            </a:extLst>
          </p:cNvPr>
          <p:cNvSpPr/>
          <p:nvPr/>
        </p:nvSpPr>
        <p:spPr>
          <a:xfrm>
            <a:off x="4268623" y="394280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3B799C9-B131-6536-83DA-1FC3DAFE2F4E}"/>
              </a:ext>
            </a:extLst>
          </p:cNvPr>
          <p:cNvSpPr/>
          <p:nvPr/>
        </p:nvSpPr>
        <p:spPr>
          <a:xfrm>
            <a:off x="7248202" y="453077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3B181D-4B7B-FB42-609F-2F533CC4FB6E}"/>
              </a:ext>
            </a:extLst>
          </p:cNvPr>
          <p:cNvSpPr/>
          <p:nvPr/>
        </p:nvSpPr>
        <p:spPr>
          <a:xfrm>
            <a:off x="5333667" y="452564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E290C1-E20A-53EA-8274-68BD60D29D3A}"/>
              </a:ext>
            </a:extLst>
          </p:cNvPr>
          <p:cNvSpPr txBox="1"/>
          <p:nvPr/>
        </p:nvSpPr>
        <p:spPr>
          <a:xfrm>
            <a:off x="545690" y="2612451"/>
            <a:ext cx="638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T3: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0E46E5-E994-3618-3B1E-6F0B8F2E465B}"/>
              </a:ext>
            </a:extLst>
          </p:cNvPr>
          <p:cNvSpPr txBox="1"/>
          <p:nvPr/>
        </p:nvSpPr>
        <p:spPr>
          <a:xfrm>
            <a:off x="857816" y="5486122"/>
            <a:ext cx="7712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Question: which partition should the event record be stored?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19470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96E2-A54E-DB8B-75C0-EC63FE96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BD0170-4BE0-413B-63C1-1B01FE727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partition = hash(key) % </a:t>
            </a:r>
            <a:r>
              <a:rPr lang="en-US" dirty="0" err="1"/>
              <a:t>num_partitions</a:t>
            </a:r>
            <a:endParaRPr lang="en-US" dirty="0"/>
          </a:p>
          <a:p>
            <a:r>
              <a:rPr lang="en-US" dirty="0"/>
              <a:t>no key </a:t>
            </a:r>
            <a:r>
              <a:rPr lang="en-US" dirty="0">
                <a:sym typeface="Wingdings" pitchFamily="2" charset="2"/>
              </a:rPr>
              <a:t> round-robin partitions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81F85C-F704-3FE7-8EBF-26B1BC09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Record to partition mapping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1BE7B7D-EBAB-4CD4-8F68-1170B9098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54668"/>
              </p:ext>
            </p:extLst>
          </p:nvPr>
        </p:nvGraphicFramePr>
        <p:xfrm>
          <a:off x="1311270" y="2618560"/>
          <a:ext cx="8940800" cy="51711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83664807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221752019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95175360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619192922"/>
                    </a:ext>
                  </a:extLst>
                </a:gridCol>
              </a:tblGrid>
              <a:tr h="51711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“ABCD"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2025-01-03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2472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101A505-ACE1-1BB7-DDC1-A3BD5F190C4E}"/>
              </a:ext>
            </a:extLst>
          </p:cNvPr>
          <p:cNvSpPr txBox="1"/>
          <p:nvPr/>
        </p:nvSpPr>
        <p:spPr>
          <a:xfrm>
            <a:off x="1696452" y="2249227"/>
            <a:ext cx="1525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Key (optional)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574177-CCB0-622E-7092-2BBEB097432B}"/>
              </a:ext>
            </a:extLst>
          </p:cNvPr>
          <p:cNvSpPr txBox="1"/>
          <p:nvPr/>
        </p:nvSpPr>
        <p:spPr>
          <a:xfrm>
            <a:off x="4267199" y="2249227"/>
            <a:ext cx="72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54F12F-5772-75D2-B95B-07A3A2745DD6}"/>
              </a:ext>
            </a:extLst>
          </p:cNvPr>
          <p:cNvSpPr txBox="1"/>
          <p:nvPr/>
        </p:nvSpPr>
        <p:spPr>
          <a:xfrm>
            <a:off x="6371154" y="2249227"/>
            <a:ext cx="1250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Timestamp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EA54F2-2AC6-6F2A-D6B5-844DC8A3CFD8}"/>
              </a:ext>
            </a:extLst>
          </p:cNvPr>
          <p:cNvSpPr txBox="1"/>
          <p:nvPr/>
        </p:nvSpPr>
        <p:spPr>
          <a:xfrm>
            <a:off x="8547840" y="2249227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Headers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8B931D-9A7F-A608-24E0-95B6A43354FF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C594E3-D688-2A92-EC2E-0B58DF3ABA60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2240D2-02E4-2432-02DB-12FEC8932192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086CF4-2DC2-CFA0-17D8-4746E70EC2AB}"/>
              </a:ext>
            </a:extLst>
          </p:cNvPr>
          <p:cNvSpPr/>
          <p:nvPr/>
        </p:nvSpPr>
        <p:spPr>
          <a:xfrm>
            <a:off x="3128212" y="3392907"/>
            <a:ext cx="5895472" cy="1636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1200EB-1A14-EED3-27F4-D729B43D34CF}"/>
              </a:ext>
            </a:extLst>
          </p:cNvPr>
          <p:cNvSpPr/>
          <p:nvPr/>
        </p:nvSpPr>
        <p:spPr>
          <a:xfrm>
            <a:off x="3324145" y="3831983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2681E6-ACD9-9C83-3F98-4FADB54E9BBA}"/>
              </a:ext>
            </a:extLst>
          </p:cNvPr>
          <p:cNvSpPr/>
          <p:nvPr/>
        </p:nvSpPr>
        <p:spPr>
          <a:xfrm>
            <a:off x="5225717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7E95F2-3DBF-005D-14B3-E20BC9BD745E}"/>
              </a:ext>
            </a:extLst>
          </p:cNvPr>
          <p:cNvSpPr/>
          <p:nvPr/>
        </p:nvSpPr>
        <p:spPr>
          <a:xfrm>
            <a:off x="7074570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798456-8015-8DA3-A5DF-DF2C5A6E752B}"/>
              </a:ext>
            </a:extLst>
          </p:cNvPr>
          <p:cNvSpPr txBox="1"/>
          <p:nvPr/>
        </p:nvSpPr>
        <p:spPr>
          <a:xfrm>
            <a:off x="3324144" y="34123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E76CA3-5830-9FE4-2E26-BCB9A28B4DD6}"/>
              </a:ext>
            </a:extLst>
          </p:cNvPr>
          <p:cNvSpPr txBox="1"/>
          <p:nvPr/>
        </p:nvSpPr>
        <p:spPr>
          <a:xfrm>
            <a:off x="5245769" y="340620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92C8EA-B609-601C-407B-482A8090744A}"/>
              </a:ext>
            </a:extLst>
          </p:cNvPr>
          <p:cNvSpPr txBox="1"/>
          <p:nvPr/>
        </p:nvSpPr>
        <p:spPr>
          <a:xfrm>
            <a:off x="7074569" y="341502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78061B-2CAE-83D5-6998-3D1FD0F5FE75}"/>
              </a:ext>
            </a:extLst>
          </p:cNvPr>
          <p:cNvSpPr/>
          <p:nvPr/>
        </p:nvSpPr>
        <p:spPr>
          <a:xfrm>
            <a:off x="3428919" y="3913235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77F5794-C5F1-EB6E-1F90-663160059A9B}"/>
              </a:ext>
            </a:extLst>
          </p:cNvPr>
          <p:cNvSpPr/>
          <p:nvPr/>
        </p:nvSpPr>
        <p:spPr>
          <a:xfrm>
            <a:off x="4226762" y="3919192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D3A1593-09A0-519D-2D55-D1C65BD0CDCF}"/>
              </a:ext>
            </a:extLst>
          </p:cNvPr>
          <p:cNvSpPr/>
          <p:nvPr/>
        </p:nvSpPr>
        <p:spPr>
          <a:xfrm>
            <a:off x="5267494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F8EA55F-DE05-D057-68EF-A1C191D9FDCF}"/>
              </a:ext>
            </a:extLst>
          </p:cNvPr>
          <p:cNvSpPr/>
          <p:nvPr/>
        </p:nvSpPr>
        <p:spPr>
          <a:xfrm>
            <a:off x="7182585" y="39312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FD67FDB-3728-878C-46B2-E9DC04BABE27}"/>
              </a:ext>
            </a:extLst>
          </p:cNvPr>
          <p:cNvSpPr/>
          <p:nvPr/>
        </p:nvSpPr>
        <p:spPr>
          <a:xfrm>
            <a:off x="7976399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7BAD57DC-4751-7120-52B4-E3C7DC0A6BB1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>
            <a:off x="2378698" y="3939259"/>
            <a:ext cx="749514" cy="2717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FAB5DCD2-8695-432F-EA35-0125A588D646}"/>
              </a:ext>
            </a:extLst>
          </p:cNvPr>
          <p:cNvCxnSpPr>
            <a:cxnSpLocks/>
            <a:stCxn id="24" idx="1"/>
            <a:endCxn id="27" idx="3"/>
          </p:cNvCxnSpPr>
          <p:nvPr/>
        </p:nvCxnSpPr>
        <p:spPr>
          <a:xfrm rot="10800000" flipV="1">
            <a:off x="9023684" y="4009511"/>
            <a:ext cx="402222" cy="201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AEB70B3D-7363-449D-7068-98DAC712618A}"/>
              </a:ext>
            </a:extLst>
          </p:cNvPr>
          <p:cNvSpPr/>
          <p:nvPr/>
        </p:nvSpPr>
        <p:spPr>
          <a:xfrm>
            <a:off x="3485651" y="393122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091B094-0DBB-F322-B83E-F8A1C71D3D30}"/>
              </a:ext>
            </a:extLst>
          </p:cNvPr>
          <p:cNvSpPr/>
          <p:nvPr/>
        </p:nvSpPr>
        <p:spPr>
          <a:xfrm>
            <a:off x="532422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0D481C0-3402-DFFA-8408-0F2CEECC551C}"/>
              </a:ext>
            </a:extLst>
          </p:cNvPr>
          <p:cNvSpPr/>
          <p:nvPr/>
        </p:nvSpPr>
        <p:spPr>
          <a:xfrm>
            <a:off x="724243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8D92D67-3500-2047-04BF-E7A5EF9B75DA}"/>
              </a:ext>
            </a:extLst>
          </p:cNvPr>
          <p:cNvSpPr/>
          <p:nvPr/>
        </p:nvSpPr>
        <p:spPr>
          <a:xfrm>
            <a:off x="3495092" y="450264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B21C5C7-3D48-1946-F8A1-382958B66935}"/>
              </a:ext>
            </a:extLst>
          </p:cNvPr>
          <p:cNvSpPr/>
          <p:nvPr/>
        </p:nvSpPr>
        <p:spPr>
          <a:xfrm>
            <a:off x="8016777" y="3960379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8DEBE01-E3DD-363D-08F3-0E400009FAEF}"/>
              </a:ext>
            </a:extLst>
          </p:cNvPr>
          <p:cNvSpPr/>
          <p:nvPr/>
        </p:nvSpPr>
        <p:spPr>
          <a:xfrm>
            <a:off x="4268623" y="394280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4D241C1-D7F7-089D-2C81-7F33DDA2F215}"/>
              </a:ext>
            </a:extLst>
          </p:cNvPr>
          <p:cNvSpPr/>
          <p:nvPr/>
        </p:nvSpPr>
        <p:spPr>
          <a:xfrm>
            <a:off x="7248202" y="453077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7007B73-FE60-0CEE-1291-FC06FD3F16BB}"/>
              </a:ext>
            </a:extLst>
          </p:cNvPr>
          <p:cNvSpPr/>
          <p:nvPr/>
        </p:nvSpPr>
        <p:spPr>
          <a:xfrm>
            <a:off x="5333667" y="452564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B5C00C-C391-420F-54E2-AB8CE009FB6B}"/>
              </a:ext>
            </a:extLst>
          </p:cNvPr>
          <p:cNvSpPr txBox="1"/>
          <p:nvPr/>
        </p:nvSpPr>
        <p:spPr>
          <a:xfrm>
            <a:off x="545690" y="2612451"/>
            <a:ext cx="638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T3: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07E6CB-F62B-7B3C-B887-37825740426A}"/>
              </a:ext>
            </a:extLst>
          </p:cNvPr>
          <p:cNvSpPr txBox="1"/>
          <p:nvPr/>
        </p:nvSpPr>
        <p:spPr>
          <a:xfrm>
            <a:off x="1311270" y="2647242"/>
            <a:ext cx="1996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hash(          )</a:t>
            </a:r>
          </a:p>
        </p:txBody>
      </p:sp>
      <p:cxnSp>
        <p:nvCxnSpPr>
          <p:cNvPr id="84" name="Curved Connector 83">
            <a:extLst>
              <a:ext uri="{FF2B5EF4-FFF2-40B4-BE49-F238E27FC236}">
                <a16:creationId xmlns:a16="http://schemas.microsoft.com/office/drawing/2014/main" id="{9444CAB5-340F-8C5D-9EF7-23376E460273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2273968" y="3135671"/>
            <a:ext cx="3336426" cy="1654672"/>
          </a:xfrm>
          <a:prstGeom prst="curvedConnector4">
            <a:avLst>
              <a:gd name="adj1" fmla="val 14119"/>
              <a:gd name="adj2" fmla="val 1138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14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A61AD-AD21-3973-4096-0D83C711E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B68A08-998E-8783-9978-9C6F94D3B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784225"/>
            <a:ext cx="11449050" cy="1914398"/>
          </a:xfrm>
        </p:spPr>
        <p:txBody>
          <a:bodyPr>
            <a:normAutofit/>
          </a:bodyPr>
          <a:lstStyle/>
          <a:p>
            <a:r>
              <a:rPr lang="en-US" dirty="0"/>
              <a:t>Kafka clients connect to ”bootstrap broker” to know the partitions for a topic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0745C5-8C32-0056-BD82-27ACF279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Bootstrap broker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83975-B724-91C5-8067-4CA5CBDC4F66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30C04A-45AB-CEB6-990D-86F8E453AB2B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C9C5F3-DCBC-0D85-D989-61D7B98C04EB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F93D1D-AA8D-FE53-8935-479B3613CCFE}"/>
              </a:ext>
            </a:extLst>
          </p:cNvPr>
          <p:cNvSpPr/>
          <p:nvPr/>
        </p:nvSpPr>
        <p:spPr>
          <a:xfrm>
            <a:off x="3128212" y="2683043"/>
            <a:ext cx="5895472" cy="2346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A05CDE-958A-4312-F84A-27800B2AA9EF}"/>
              </a:ext>
            </a:extLst>
          </p:cNvPr>
          <p:cNvSpPr/>
          <p:nvPr/>
        </p:nvSpPr>
        <p:spPr>
          <a:xfrm>
            <a:off x="3324145" y="3831983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616455-45BA-DBD4-38CC-DE3EDF8479B0}"/>
              </a:ext>
            </a:extLst>
          </p:cNvPr>
          <p:cNvSpPr/>
          <p:nvPr/>
        </p:nvSpPr>
        <p:spPr>
          <a:xfrm>
            <a:off x="5225717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3E91A7-1986-3BF2-2084-1CA51CCFCB6B}"/>
              </a:ext>
            </a:extLst>
          </p:cNvPr>
          <p:cNvSpPr/>
          <p:nvPr/>
        </p:nvSpPr>
        <p:spPr>
          <a:xfrm>
            <a:off x="7074570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3B6C6B-A6C3-0FD6-3565-1BAF529E3D50}"/>
              </a:ext>
            </a:extLst>
          </p:cNvPr>
          <p:cNvSpPr txBox="1"/>
          <p:nvPr/>
        </p:nvSpPr>
        <p:spPr>
          <a:xfrm>
            <a:off x="3324144" y="34123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636F2C-C27F-2280-A435-18F5DBE540A8}"/>
              </a:ext>
            </a:extLst>
          </p:cNvPr>
          <p:cNvSpPr txBox="1"/>
          <p:nvPr/>
        </p:nvSpPr>
        <p:spPr>
          <a:xfrm>
            <a:off x="5245769" y="340620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EE4A50-2EF1-31D1-E424-100635EF3144}"/>
              </a:ext>
            </a:extLst>
          </p:cNvPr>
          <p:cNvSpPr txBox="1"/>
          <p:nvPr/>
        </p:nvSpPr>
        <p:spPr>
          <a:xfrm>
            <a:off x="7074569" y="341502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C5AAA60-CBA7-5912-9103-2D0517749524}"/>
              </a:ext>
            </a:extLst>
          </p:cNvPr>
          <p:cNvSpPr/>
          <p:nvPr/>
        </p:nvSpPr>
        <p:spPr>
          <a:xfrm>
            <a:off x="3428919" y="3913235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97F500-57B0-772A-23A2-A9547B2B3767}"/>
              </a:ext>
            </a:extLst>
          </p:cNvPr>
          <p:cNvSpPr/>
          <p:nvPr/>
        </p:nvSpPr>
        <p:spPr>
          <a:xfrm>
            <a:off x="4226762" y="3919192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C444147-706B-3200-6AFE-6B2C441317F4}"/>
              </a:ext>
            </a:extLst>
          </p:cNvPr>
          <p:cNvSpPr/>
          <p:nvPr/>
        </p:nvSpPr>
        <p:spPr>
          <a:xfrm>
            <a:off x="5267494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48B084-1CF4-B0BA-6641-AA6BC2175D06}"/>
              </a:ext>
            </a:extLst>
          </p:cNvPr>
          <p:cNvSpPr/>
          <p:nvPr/>
        </p:nvSpPr>
        <p:spPr>
          <a:xfrm>
            <a:off x="7182585" y="39312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55B29E-0DBA-3ECF-E1BC-117FDCD7FAF2}"/>
              </a:ext>
            </a:extLst>
          </p:cNvPr>
          <p:cNvSpPr/>
          <p:nvPr/>
        </p:nvSpPr>
        <p:spPr>
          <a:xfrm>
            <a:off x="7976399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BC227EC2-F7F3-0ADD-82F2-9FB14A177512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2378698" y="3092116"/>
            <a:ext cx="2062628" cy="847143"/>
          </a:xfrm>
          <a:prstGeom prst="curvedConnector3">
            <a:avLst>
              <a:gd name="adj1" fmla="val 38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7D57A4E-175F-7F49-AA34-513D0070D46E}"/>
              </a:ext>
            </a:extLst>
          </p:cNvPr>
          <p:cNvSpPr/>
          <p:nvPr/>
        </p:nvSpPr>
        <p:spPr>
          <a:xfrm>
            <a:off x="3485651" y="393122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4823841-89F7-E247-A38C-4D41AF060514}"/>
              </a:ext>
            </a:extLst>
          </p:cNvPr>
          <p:cNvSpPr/>
          <p:nvPr/>
        </p:nvSpPr>
        <p:spPr>
          <a:xfrm>
            <a:off x="532422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2EA37B7-446C-4C8A-A971-17AC7030FEF0}"/>
              </a:ext>
            </a:extLst>
          </p:cNvPr>
          <p:cNvSpPr/>
          <p:nvPr/>
        </p:nvSpPr>
        <p:spPr>
          <a:xfrm>
            <a:off x="724243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9B9CA6F-BC96-54E1-83E6-61D32AAB1468}"/>
              </a:ext>
            </a:extLst>
          </p:cNvPr>
          <p:cNvSpPr/>
          <p:nvPr/>
        </p:nvSpPr>
        <p:spPr>
          <a:xfrm>
            <a:off x="3495092" y="450264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B730CE1-753A-E062-3FF2-48EB5B691A10}"/>
              </a:ext>
            </a:extLst>
          </p:cNvPr>
          <p:cNvSpPr/>
          <p:nvPr/>
        </p:nvSpPr>
        <p:spPr>
          <a:xfrm>
            <a:off x="8016777" y="3960379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BB5F35C-1009-1560-EA7A-BB3FB0897901}"/>
              </a:ext>
            </a:extLst>
          </p:cNvPr>
          <p:cNvSpPr/>
          <p:nvPr/>
        </p:nvSpPr>
        <p:spPr>
          <a:xfrm>
            <a:off x="4268623" y="394280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BB1F507-D67B-E35E-69F9-FDF91E923096}"/>
              </a:ext>
            </a:extLst>
          </p:cNvPr>
          <p:cNvSpPr/>
          <p:nvPr/>
        </p:nvSpPr>
        <p:spPr>
          <a:xfrm>
            <a:off x="7248202" y="453077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AEC5E14-06D2-579C-E5D7-B5FE39E80C25}"/>
              </a:ext>
            </a:extLst>
          </p:cNvPr>
          <p:cNvSpPr/>
          <p:nvPr/>
        </p:nvSpPr>
        <p:spPr>
          <a:xfrm>
            <a:off x="5333667" y="452564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444C3E-4DCB-34CE-8686-3374CE1B4EEB}"/>
              </a:ext>
            </a:extLst>
          </p:cNvPr>
          <p:cNvSpPr/>
          <p:nvPr/>
        </p:nvSpPr>
        <p:spPr>
          <a:xfrm>
            <a:off x="4463386" y="2779875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DDFC8-6DB0-0781-8AD5-F12617C2F3B5}"/>
              </a:ext>
            </a:extLst>
          </p:cNvPr>
          <p:cNvSpPr txBox="1"/>
          <p:nvPr/>
        </p:nvSpPr>
        <p:spPr>
          <a:xfrm>
            <a:off x="5877679" y="2816254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51B031-21A6-E38A-88A5-35E59596E1DC}"/>
              </a:ext>
            </a:extLst>
          </p:cNvPr>
          <p:cNvSpPr txBox="1"/>
          <p:nvPr/>
        </p:nvSpPr>
        <p:spPr>
          <a:xfrm>
            <a:off x="2165684" y="2816254"/>
            <a:ext cx="1907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MetadataRequest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2478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90C8F-BB4A-501D-D279-D2783905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2020EF-A892-4730-4D29-BD8CD8F5C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784225"/>
            <a:ext cx="11449050" cy="1914398"/>
          </a:xfrm>
        </p:spPr>
        <p:txBody>
          <a:bodyPr>
            <a:normAutofit/>
          </a:bodyPr>
          <a:lstStyle/>
          <a:p>
            <a:r>
              <a:rPr lang="en-US" dirty="0"/>
              <a:t>Kafka clients connect to ”bootstrap broker” to know the partitions for a topic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7F65DE-5416-CB8A-3C37-7E169FBE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Bootstrap broker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1CD71C-1F42-3B2A-8ED2-18E1EE0BCD95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82103E-44AE-9E18-BDC6-77FB9B272EC0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34A688-5462-53AB-B2B5-0A8F0315A9A0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6F2D8B-AE1C-EFBD-3BC1-E7CA3250A138}"/>
              </a:ext>
            </a:extLst>
          </p:cNvPr>
          <p:cNvSpPr/>
          <p:nvPr/>
        </p:nvSpPr>
        <p:spPr>
          <a:xfrm>
            <a:off x="3128212" y="2683043"/>
            <a:ext cx="5895472" cy="2346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185A4A-8B69-3268-6586-C735F6519097}"/>
              </a:ext>
            </a:extLst>
          </p:cNvPr>
          <p:cNvSpPr/>
          <p:nvPr/>
        </p:nvSpPr>
        <p:spPr>
          <a:xfrm>
            <a:off x="3324145" y="3831983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2C66F-D522-9D14-C897-95E617D7A837}"/>
              </a:ext>
            </a:extLst>
          </p:cNvPr>
          <p:cNvSpPr/>
          <p:nvPr/>
        </p:nvSpPr>
        <p:spPr>
          <a:xfrm>
            <a:off x="5225717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941294-028C-306A-DFC7-F2AD58B8D56F}"/>
              </a:ext>
            </a:extLst>
          </p:cNvPr>
          <p:cNvSpPr/>
          <p:nvPr/>
        </p:nvSpPr>
        <p:spPr>
          <a:xfrm>
            <a:off x="7074570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CEEBA8-48E8-252C-FCFA-763BA97BCC3F}"/>
              </a:ext>
            </a:extLst>
          </p:cNvPr>
          <p:cNvSpPr txBox="1"/>
          <p:nvPr/>
        </p:nvSpPr>
        <p:spPr>
          <a:xfrm>
            <a:off x="3324144" y="34123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8A418F-E0FC-3590-73F5-B1887376B254}"/>
              </a:ext>
            </a:extLst>
          </p:cNvPr>
          <p:cNvSpPr txBox="1"/>
          <p:nvPr/>
        </p:nvSpPr>
        <p:spPr>
          <a:xfrm>
            <a:off x="5245769" y="340620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4328A6-4374-3B05-6E9F-1F1FE0DC524D}"/>
              </a:ext>
            </a:extLst>
          </p:cNvPr>
          <p:cNvSpPr txBox="1"/>
          <p:nvPr/>
        </p:nvSpPr>
        <p:spPr>
          <a:xfrm>
            <a:off x="7074569" y="341502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CB6927-6B4A-21F4-C7E4-BB40FFE55CB8}"/>
              </a:ext>
            </a:extLst>
          </p:cNvPr>
          <p:cNvSpPr/>
          <p:nvPr/>
        </p:nvSpPr>
        <p:spPr>
          <a:xfrm>
            <a:off x="3428919" y="3913235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C9E7B8-9755-ED3A-2668-EDEC54321E46}"/>
              </a:ext>
            </a:extLst>
          </p:cNvPr>
          <p:cNvSpPr/>
          <p:nvPr/>
        </p:nvSpPr>
        <p:spPr>
          <a:xfrm>
            <a:off x="4226762" y="3919192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BDF876A-6A84-C663-79A8-7EAD3A33136A}"/>
              </a:ext>
            </a:extLst>
          </p:cNvPr>
          <p:cNvSpPr/>
          <p:nvPr/>
        </p:nvSpPr>
        <p:spPr>
          <a:xfrm>
            <a:off x="5267494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B072A8-A300-9E3E-FB77-73E2E87ABADF}"/>
              </a:ext>
            </a:extLst>
          </p:cNvPr>
          <p:cNvSpPr/>
          <p:nvPr/>
        </p:nvSpPr>
        <p:spPr>
          <a:xfrm>
            <a:off x="7182585" y="39312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3D2601F-53A7-7038-5CB6-CF4C9E58FBDE}"/>
              </a:ext>
            </a:extLst>
          </p:cNvPr>
          <p:cNvSpPr/>
          <p:nvPr/>
        </p:nvSpPr>
        <p:spPr>
          <a:xfrm>
            <a:off x="7976399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BAD2B125-83A6-C3D9-C3BA-3039DB684D0E}"/>
              </a:ext>
            </a:extLst>
          </p:cNvPr>
          <p:cNvCxnSpPr>
            <a:cxnSpLocks/>
            <a:stCxn id="6" idx="1"/>
            <a:endCxn id="25" idx="3"/>
          </p:cNvCxnSpPr>
          <p:nvPr/>
        </p:nvCxnSpPr>
        <p:spPr>
          <a:xfrm rot="10800000" flipV="1">
            <a:off x="2378698" y="3076711"/>
            <a:ext cx="2084688" cy="8625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432E11D-DC10-47F8-7407-98E4F12728BE}"/>
              </a:ext>
            </a:extLst>
          </p:cNvPr>
          <p:cNvSpPr/>
          <p:nvPr/>
        </p:nvSpPr>
        <p:spPr>
          <a:xfrm>
            <a:off x="3485651" y="393122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31DA548-9F12-31F4-0A75-6559BF7781F6}"/>
              </a:ext>
            </a:extLst>
          </p:cNvPr>
          <p:cNvSpPr/>
          <p:nvPr/>
        </p:nvSpPr>
        <p:spPr>
          <a:xfrm>
            <a:off x="532422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87E6C9-44DB-7FF5-78EB-E74DED92CCF5}"/>
              </a:ext>
            </a:extLst>
          </p:cNvPr>
          <p:cNvSpPr/>
          <p:nvPr/>
        </p:nvSpPr>
        <p:spPr>
          <a:xfrm>
            <a:off x="724243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482C6B1-1179-D501-F512-E37ACC6001F2}"/>
              </a:ext>
            </a:extLst>
          </p:cNvPr>
          <p:cNvSpPr/>
          <p:nvPr/>
        </p:nvSpPr>
        <p:spPr>
          <a:xfrm>
            <a:off x="3495092" y="450264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4F27D2-6D25-E324-94CE-F43C8A57E7BE}"/>
              </a:ext>
            </a:extLst>
          </p:cNvPr>
          <p:cNvSpPr/>
          <p:nvPr/>
        </p:nvSpPr>
        <p:spPr>
          <a:xfrm>
            <a:off x="8016777" y="3960379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C5E2A06-41AD-2B8D-87F9-427B6D7054A0}"/>
              </a:ext>
            </a:extLst>
          </p:cNvPr>
          <p:cNvSpPr/>
          <p:nvPr/>
        </p:nvSpPr>
        <p:spPr>
          <a:xfrm>
            <a:off x="4268623" y="394280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C9C88ED-015D-3656-794E-C22F0E5215D0}"/>
              </a:ext>
            </a:extLst>
          </p:cNvPr>
          <p:cNvSpPr/>
          <p:nvPr/>
        </p:nvSpPr>
        <p:spPr>
          <a:xfrm>
            <a:off x="7248202" y="453077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F9EDB28-B7D1-6555-E182-10EEA7E70F8F}"/>
              </a:ext>
            </a:extLst>
          </p:cNvPr>
          <p:cNvSpPr/>
          <p:nvPr/>
        </p:nvSpPr>
        <p:spPr>
          <a:xfrm>
            <a:off x="5333667" y="452564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3CB034-FB6F-BA6E-5E79-A163D55CDD02}"/>
              </a:ext>
            </a:extLst>
          </p:cNvPr>
          <p:cNvSpPr/>
          <p:nvPr/>
        </p:nvSpPr>
        <p:spPr>
          <a:xfrm>
            <a:off x="4463386" y="2779875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387F1-3DB4-AA52-ED68-4ED54D97D59B}"/>
              </a:ext>
            </a:extLst>
          </p:cNvPr>
          <p:cNvSpPr txBox="1"/>
          <p:nvPr/>
        </p:nvSpPr>
        <p:spPr>
          <a:xfrm>
            <a:off x="5877679" y="2816254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FDA2E6-B636-73CA-F350-A1B86D826DD1}"/>
              </a:ext>
            </a:extLst>
          </p:cNvPr>
          <p:cNvSpPr txBox="1"/>
          <p:nvPr/>
        </p:nvSpPr>
        <p:spPr>
          <a:xfrm>
            <a:off x="2165684" y="2816254"/>
            <a:ext cx="2043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MetadataResponse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781177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038B-1D9E-948C-630F-3424B22D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14D781-C606-66A8-253B-499673BCE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784225"/>
            <a:ext cx="11449050" cy="1914398"/>
          </a:xfrm>
        </p:spPr>
        <p:txBody>
          <a:bodyPr>
            <a:normAutofit fontScale="92500"/>
          </a:bodyPr>
          <a:lstStyle/>
          <a:p>
            <a:r>
              <a:rPr lang="en-US" dirty="0"/>
              <a:t>Kafka clients connect to ”bootstrap broker” to know the partitions for a topic</a:t>
            </a:r>
          </a:p>
          <a:p>
            <a:r>
              <a:rPr lang="en-US" dirty="0"/>
              <a:t>Can compute the partition for a particular key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hash(key) %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num_partitions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79BFEF-6494-4D36-9939-97B1E6DD5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Bootstrap broker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44F3AB-852A-0D13-8AB1-0C7B9EE857D7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C4E8B1-9ED3-49DF-DF0E-9B22DBE278FC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D2ADBF-146E-41AE-1682-780D94356B0A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C825C3-C672-DC89-8B0E-34D6A4DB7B58}"/>
              </a:ext>
            </a:extLst>
          </p:cNvPr>
          <p:cNvSpPr/>
          <p:nvPr/>
        </p:nvSpPr>
        <p:spPr>
          <a:xfrm>
            <a:off x="3128212" y="2683043"/>
            <a:ext cx="5895472" cy="2346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ABC170-C6A0-125B-E0A1-EBCCBD77DD38}"/>
              </a:ext>
            </a:extLst>
          </p:cNvPr>
          <p:cNvSpPr/>
          <p:nvPr/>
        </p:nvSpPr>
        <p:spPr>
          <a:xfrm>
            <a:off x="3324145" y="3831983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9A6179-23A7-8C12-58F5-ED111BA55403}"/>
              </a:ext>
            </a:extLst>
          </p:cNvPr>
          <p:cNvSpPr/>
          <p:nvPr/>
        </p:nvSpPr>
        <p:spPr>
          <a:xfrm>
            <a:off x="5225717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40518A-801A-55D1-A4E4-081AECC6E00B}"/>
              </a:ext>
            </a:extLst>
          </p:cNvPr>
          <p:cNvSpPr/>
          <p:nvPr/>
        </p:nvSpPr>
        <p:spPr>
          <a:xfrm>
            <a:off x="7074570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39E423-3A70-1FF2-45C1-C3D829A792E1}"/>
              </a:ext>
            </a:extLst>
          </p:cNvPr>
          <p:cNvSpPr txBox="1"/>
          <p:nvPr/>
        </p:nvSpPr>
        <p:spPr>
          <a:xfrm>
            <a:off x="3324144" y="34123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511295-9640-7D99-1153-BF98CE6EF059}"/>
              </a:ext>
            </a:extLst>
          </p:cNvPr>
          <p:cNvSpPr txBox="1"/>
          <p:nvPr/>
        </p:nvSpPr>
        <p:spPr>
          <a:xfrm>
            <a:off x="5245769" y="340620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C26955-F3C8-B42D-4E09-AC6679645509}"/>
              </a:ext>
            </a:extLst>
          </p:cNvPr>
          <p:cNvSpPr txBox="1"/>
          <p:nvPr/>
        </p:nvSpPr>
        <p:spPr>
          <a:xfrm>
            <a:off x="7074569" y="341502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CFB2DF3-167E-4E57-E664-765D1C5CE580}"/>
              </a:ext>
            </a:extLst>
          </p:cNvPr>
          <p:cNvSpPr/>
          <p:nvPr/>
        </p:nvSpPr>
        <p:spPr>
          <a:xfrm>
            <a:off x="3428919" y="3913235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F1EEE2-9358-D31F-B789-2B632B546F08}"/>
              </a:ext>
            </a:extLst>
          </p:cNvPr>
          <p:cNvSpPr/>
          <p:nvPr/>
        </p:nvSpPr>
        <p:spPr>
          <a:xfrm>
            <a:off x="4226762" y="3919192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722FB70-1E09-6973-0050-6CDFBFD667F9}"/>
              </a:ext>
            </a:extLst>
          </p:cNvPr>
          <p:cNvSpPr/>
          <p:nvPr/>
        </p:nvSpPr>
        <p:spPr>
          <a:xfrm>
            <a:off x="5267494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B0D29A4-BED1-4FD1-55B5-ACC152E1BF4E}"/>
              </a:ext>
            </a:extLst>
          </p:cNvPr>
          <p:cNvSpPr/>
          <p:nvPr/>
        </p:nvSpPr>
        <p:spPr>
          <a:xfrm>
            <a:off x="7182585" y="39312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37619CD-7384-C4F6-741D-65A95583A2E2}"/>
              </a:ext>
            </a:extLst>
          </p:cNvPr>
          <p:cNvSpPr/>
          <p:nvPr/>
        </p:nvSpPr>
        <p:spPr>
          <a:xfrm>
            <a:off x="7976399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327974BD-CB25-7767-28FF-E6D381857370}"/>
              </a:ext>
            </a:extLst>
          </p:cNvPr>
          <p:cNvCxnSpPr>
            <a:cxnSpLocks/>
            <a:stCxn id="25" idx="3"/>
            <a:endCxn id="72" idx="0"/>
          </p:cNvCxnSpPr>
          <p:nvPr/>
        </p:nvCxnSpPr>
        <p:spPr>
          <a:xfrm flipV="1">
            <a:off x="2378698" y="3931224"/>
            <a:ext cx="1383680" cy="8035"/>
          </a:xfrm>
          <a:prstGeom prst="curvedConnector4">
            <a:avLst>
              <a:gd name="adj1" fmla="val 40000"/>
              <a:gd name="adj2" fmla="val 64022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3C51FD52-0636-31CD-3984-4196E03BBBCC}"/>
              </a:ext>
            </a:extLst>
          </p:cNvPr>
          <p:cNvSpPr/>
          <p:nvPr/>
        </p:nvSpPr>
        <p:spPr>
          <a:xfrm>
            <a:off x="3485651" y="393122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BB5A3DF-EE13-A222-DF85-026EA5E5DCB1}"/>
              </a:ext>
            </a:extLst>
          </p:cNvPr>
          <p:cNvSpPr/>
          <p:nvPr/>
        </p:nvSpPr>
        <p:spPr>
          <a:xfrm>
            <a:off x="532422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5F0A6BB-C55A-B946-5D5E-5EDFF90B6707}"/>
              </a:ext>
            </a:extLst>
          </p:cNvPr>
          <p:cNvSpPr/>
          <p:nvPr/>
        </p:nvSpPr>
        <p:spPr>
          <a:xfrm>
            <a:off x="724243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87077F0-B27F-A0DA-C721-91198BE49DD7}"/>
              </a:ext>
            </a:extLst>
          </p:cNvPr>
          <p:cNvSpPr/>
          <p:nvPr/>
        </p:nvSpPr>
        <p:spPr>
          <a:xfrm>
            <a:off x="3495092" y="450264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46F9D5C-6C11-F68D-5253-77B45672196F}"/>
              </a:ext>
            </a:extLst>
          </p:cNvPr>
          <p:cNvSpPr/>
          <p:nvPr/>
        </p:nvSpPr>
        <p:spPr>
          <a:xfrm>
            <a:off x="8016777" y="3960379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3FCD317-B69B-C81A-79C4-62CDA8DF6AB1}"/>
              </a:ext>
            </a:extLst>
          </p:cNvPr>
          <p:cNvSpPr/>
          <p:nvPr/>
        </p:nvSpPr>
        <p:spPr>
          <a:xfrm>
            <a:off x="4268623" y="394280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B3A0A4D-38AD-8175-7A33-F64880FBF16B}"/>
              </a:ext>
            </a:extLst>
          </p:cNvPr>
          <p:cNvSpPr/>
          <p:nvPr/>
        </p:nvSpPr>
        <p:spPr>
          <a:xfrm>
            <a:off x="7248202" y="453077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8268C0-E959-F087-E2DB-A47E231049B5}"/>
              </a:ext>
            </a:extLst>
          </p:cNvPr>
          <p:cNvSpPr/>
          <p:nvPr/>
        </p:nvSpPr>
        <p:spPr>
          <a:xfrm>
            <a:off x="5333667" y="452564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277B91-88CE-A3A9-D0FC-B14F8475DA5F}"/>
              </a:ext>
            </a:extLst>
          </p:cNvPr>
          <p:cNvSpPr/>
          <p:nvPr/>
        </p:nvSpPr>
        <p:spPr>
          <a:xfrm>
            <a:off x="4463386" y="2779875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2ABE4-4462-1EF8-3E82-7F1E8E0B0D73}"/>
              </a:ext>
            </a:extLst>
          </p:cNvPr>
          <p:cNvSpPr txBox="1"/>
          <p:nvPr/>
        </p:nvSpPr>
        <p:spPr>
          <a:xfrm>
            <a:off x="5877679" y="2816254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B21F37-EAAF-1E0C-BE16-B270FB06F446}"/>
              </a:ext>
            </a:extLst>
          </p:cNvPr>
          <p:cNvSpPr txBox="1"/>
          <p:nvPr/>
        </p:nvSpPr>
        <p:spPr>
          <a:xfrm>
            <a:off x="1705104" y="4295382"/>
            <a:ext cx="16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SendEvent</a:t>
            </a:r>
            <a:r>
              <a:rPr lang="en-US" b="1" i="1" dirty="0"/>
              <a:t>(key)</a:t>
            </a:r>
          </a:p>
        </p:txBody>
      </p:sp>
    </p:spTree>
    <p:extLst>
      <p:ext uri="{BB962C8B-B14F-4D97-AF65-F5344CB8AC3E}">
        <p14:creationId xmlns:p14="http://schemas.microsoft.com/office/powerpoint/2010/main" val="16089926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8AE21-61B7-F422-C7AE-ED88524D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F52BDD-869F-98C4-048C-56CD5A05C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All events with the same key land in the same partition</a:t>
            </a:r>
          </a:p>
          <a:p>
            <a:r>
              <a:rPr lang="en-US" dirty="0"/>
              <a:t>Guarantees ordering for events </a:t>
            </a:r>
            <a:r>
              <a:rPr lang="en-US" b="1" i="1" dirty="0"/>
              <a:t>only within </a:t>
            </a:r>
            <a:r>
              <a:rPr lang="en-US" dirty="0"/>
              <a:t>the same key</a:t>
            </a:r>
          </a:p>
          <a:p>
            <a:r>
              <a:rPr lang="en-US" dirty="0"/>
              <a:t>For example, the “key” can be the customer ID, ensuring all events for a particular customer goes to the same partition and are ordered</a:t>
            </a:r>
          </a:p>
          <a:p>
            <a:r>
              <a:rPr lang="en-US" dirty="0"/>
              <a:t>Incorrect partitioning schemes can also result in imbalanced clusters</a:t>
            </a:r>
          </a:p>
          <a:p>
            <a:pPr lvl="1"/>
            <a:r>
              <a:rPr lang="en-US" dirty="0"/>
              <a:t>Reduces throughput</a:t>
            </a:r>
          </a:p>
          <a:p>
            <a:r>
              <a:rPr lang="en-US" dirty="0"/>
              <a:t>Conclusion: need to design partitioning correctly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63E14D-A98E-D102-319C-0CB9D7C2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Implications of key-based partitioning</a:t>
            </a:r>
          </a:p>
        </p:txBody>
      </p:sp>
    </p:spTree>
    <p:extLst>
      <p:ext uri="{BB962C8B-B14F-4D97-AF65-F5344CB8AC3E}">
        <p14:creationId xmlns:p14="http://schemas.microsoft.com/office/powerpoint/2010/main" val="260133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789D-0101-663F-D627-39C4CD3E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A0F776-E536-E699-9CC1-563A4EA3F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cluster consists of multiple brokers (servers)</a:t>
            </a:r>
          </a:p>
          <a:p>
            <a:pPr lvl="1"/>
            <a:r>
              <a:rPr lang="en-US" dirty="0"/>
              <a:t>Each broker hosts some partitions of various topics</a:t>
            </a:r>
          </a:p>
          <a:p>
            <a:r>
              <a:rPr lang="en-US" dirty="0"/>
              <a:t>Producers send events to specific topic-partitions</a:t>
            </a:r>
          </a:p>
          <a:p>
            <a:r>
              <a:rPr lang="en-US" dirty="0"/>
              <a:t>Consumers read events from specific topic-partitions</a:t>
            </a:r>
          </a:p>
          <a:p>
            <a:r>
              <a:rPr lang="en-US" dirty="0"/>
              <a:t>A metadata system coordinates the cluster</a:t>
            </a:r>
          </a:p>
          <a:p>
            <a:r>
              <a:rPr lang="en-US" b="1" i="1" dirty="0"/>
              <a:t>Remaining challenge: </a:t>
            </a:r>
            <a:r>
              <a:rPr lang="en-US" dirty="0"/>
              <a:t>what happens if a broker fails?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24B40B-03E3-92DC-39DE-40131DDC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Kafka </a:t>
            </a:r>
            <a:r>
              <a:rPr lang="en-US" dirty="0"/>
              <a:t>a</a:t>
            </a:r>
            <a:r>
              <a:rPr dirty="0"/>
              <a:t>rchitecture </a:t>
            </a:r>
            <a:r>
              <a:rPr lang="en-US" dirty="0"/>
              <a:t>summary, so far...</a:t>
            </a:r>
          </a:p>
        </p:txBody>
      </p:sp>
    </p:spTree>
    <p:extLst>
      <p:ext uri="{BB962C8B-B14F-4D97-AF65-F5344CB8AC3E}">
        <p14:creationId xmlns:p14="http://schemas.microsoft.com/office/powerpoint/2010/main" val="356161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63DF-9780-5F94-DA33-132C1BEB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ABBD90-9092-15F6-5406-EB52AE80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A single copy of data on one broker is a single point of failure</a:t>
            </a:r>
          </a:p>
          <a:p>
            <a:r>
              <a:rPr lang="en-US" dirty="0"/>
              <a:t>If that broker’s disk fails, the data is lost</a:t>
            </a:r>
          </a:p>
          <a:p>
            <a:r>
              <a:rPr lang="en-US" dirty="0"/>
              <a:t>Replication: keep multiple copies on different brokers</a:t>
            </a:r>
          </a:p>
          <a:p>
            <a:r>
              <a:rPr lang="en-US" dirty="0"/>
              <a:t>Configured per topic with the replication factor (e.g., 3)</a:t>
            </a:r>
          </a:p>
          <a:p>
            <a:pPr lvl="1"/>
            <a:r>
              <a:rPr lang="en-US" dirty="0"/>
              <a:t>Replication-factor = 3 means 3 copies for each partition</a:t>
            </a:r>
          </a:p>
          <a:p>
            <a:pPr lvl="1"/>
            <a:r>
              <a:rPr lang="en-US" dirty="0"/>
              <a:t>Cluster can tolerate (replication-factor - 1) broker failures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72E6BE-CCDB-1688-9DC6-5A23BD039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Replication</a:t>
            </a:r>
          </a:p>
        </p:txBody>
      </p:sp>
    </p:spTree>
    <p:extLst>
      <p:ext uri="{BB962C8B-B14F-4D97-AF65-F5344CB8AC3E}">
        <p14:creationId xmlns:p14="http://schemas.microsoft.com/office/powerpoint/2010/main" val="206455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AA690-781A-510F-0BDF-3326D354F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59C906-E41C-ADA1-E7B9-BBE835C5A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One replica is the leader, the others are followers</a:t>
            </a:r>
          </a:p>
          <a:p>
            <a:r>
              <a:rPr lang="en-US" dirty="0"/>
              <a:t>Followers don’t serve any requests; only aim to stay in-sync with leader</a:t>
            </a:r>
          </a:p>
          <a:p>
            <a:r>
              <a:rPr lang="en-US" dirty="0"/>
              <a:t>Replicas which are in sync are called in-sync replicas (ISR)</a:t>
            </a:r>
          </a:p>
          <a:p>
            <a:r>
              <a:rPr lang="en-US" b="1" dirty="0"/>
              <a:t>Important: </a:t>
            </a:r>
            <a:r>
              <a:rPr lang="en-US" dirty="0"/>
              <a:t>replicas are passive; do not serve any requests (unless they become leaders due to leader failure)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C2C676-462F-0646-8581-AD360BCBF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Leader and in-sync replicas</a:t>
            </a:r>
          </a:p>
        </p:txBody>
      </p:sp>
    </p:spTree>
    <p:extLst>
      <p:ext uri="{BB962C8B-B14F-4D97-AF65-F5344CB8AC3E}">
        <p14:creationId xmlns:p14="http://schemas.microsoft.com/office/powerpoint/2010/main" val="27711094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6577-AA29-0E8D-1F9C-AE4A88F6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6E02FE-59CE-A59E-861C-D925CAC5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architecture (only leader partitions)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72173-9666-A921-62DE-48E6F025C947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3F4FA-EA36-DACB-65E5-F57CBD8750A7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96ECE-61E8-395A-A8E9-4695655E05FE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5E91C-2BB0-5DC3-87DD-8FBCFCFC5173}"/>
              </a:ext>
            </a:extLst>
          </p:cNvPr>
          <p:cNvSpPr/>
          <p:nvPr/>
        </p:nvSpPr>
        <p:spPr>
          <a:xfrm>
            <a:off x="3128212" y="2683043"/>
            <a:ext cx="5895472" cy="2346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84172-10A2-3CB3-9343-6EB82759417A}"/>
              </a:ext>
            </a:extLst>
          </p:cNvPr>
          <p:cNvSpPr/>
          <p:nvPr/>
        </p:nvSpPr>
        <p:spPr>
          <a:xfrm>
            <a:off x="3324145" y="3831983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B3F46-9355-194F-AD52-FCA001168CE4}"/>
              </a:ext>
            </a:extLst>
          </p:cNvPr>
          <p:cNvSpPr/>
          <p:nvPr/>
        </p:nvSpPr>
        <p:spPr>
          <a:xfrm>
            <a:off x="5225717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A4E1E8-F540-B9FB-0B38-7EDECBB8531D}"/>
              </a:ext>
            </a:extLst>
          </p:cNvPr>
          <p:cNvSpPr/>
          <p:nvPr/>
        </p:nvSpPr>
        <p:spPr>
          <a:xfrm>
            <a:off x="7074570" y="3849972"/>
            <a:ext cx="1700461" cy="1044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43FC30-B9C4-981E-F742-1023817388DE}"/>
              </a:ext>
            </a:extLst>
          </p:cNvPr>
          <p:cNvSpPr txBox="1"/>
          <p:nvPr/>
        </p:nvSpPr>
        <p:spPr>
          <a:xfrm>
            <a:off x="3324144" y="3412390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A600F9-9E05-AAD5-79C9-B88B8455EAE9}"/>
              </a:ext>
            </a:extLst>
          </p:cNvPr>
          <p:cNvSpPr txBox="1"/>
          <p:nvPr/>
        </p:nvSpPr>
        <p:spPr>
          <a:xfrm>
            <a:off x="5245769" y="340620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68859C-C8E7-4E46-B58C-353C057B8653}"/>
              </a:ext>
            </a:extLst>
          </p:cNvPr>
          <p:cNvSpPr txBox="1"/>
          <p:nvPr/>
        </p:nvSpPr>
        <p:spPr>
          <a:xfrm>
            <a:off x="7074569" y="341502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76735F-2A62-5CBE-8E69-1D1BBA141FA2}"/>
              </a:ext>
            </a:extLst>
          </p:cNvPr>
          <p:cNvSpPr/>
          <p:nvPr/>
        </p:nvSpPr>
        <p:spPr>
          <a:xfrm>
            <a:off x="3428919" y="3913235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CFB09D-2393-48F9-6D9E-44326EC33C81}"/>
              </a:ext>
            </a:extLst>
          </p:cNvPr>
          <p:cNvSpPr/>
          <p:nvPr/>
        </p:nvSpPr>
        <p:spPr>
          <a:xfrm>
            <a:off x="4226762" y="3919192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FE5934-798D-979E-F97C-B2D27FFB7768}"/>
              </a:ext>
            </a:extLst>
          </p:cNvPr>
          <p:cNvSpPr/>
          <p:nvPr/>
        </p:nvSpPr>
        <p:spPr>
          <a:xfrm>
            <a:off x="5267494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9DD8C5-2A1C-35C3-D824-DF8BF8E209A3}"/>
              </a:ext>
            </a:extLst>
          </p:cNvPr>
          <p:cNvSpPr/>
          <p:nvPr/>
        </p:nvSpPr>
        <p:spPr>
          <a:xfrm>
            <a:off x="7182585" y="3931224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D0D073-0CBB-D8C9-682A-4EAB9F003960}"/>
              </a:ext>
            </a:extLst>
          </p:cNvPr>
          <p:cNvSpPr/>
          <p:nvPr/>
        </p:nvSpPr>
        <p:spPr>
          <a:xfrm>
            <a:off x="7976399" y="3939258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98CA45C5-898F-BCFA-028B-0567F20C3862}"/>
              </a:ext>
            </a:extLst>
          </p:cNvPr>
          <p:cNvCxnSpPr>
            <a:cxnSpLocks/>
            <a:stCxn id="3" idx="3"/>
            <a:endCxn id="20" idx="0"/>
          </p:cNvCxnSpPr>
          <p:nvPr/>
        </p:nvCxnSpPr>
        <p:spPr>
          <a:xfrm flipV="1">
            <a:off x="2378698" y="3931224"/>
            <a:ext cx="1383680" cy="8035"/>
          </a:xfrm>
          <a:prstGeom prst="curvedConnector4">
            <a:avLst>
              <a:gd name="adj1" fmla="val 40000"/>
              <a:gd name="adj2" fmla="val 64022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AE4524C-C93A-17A1-8878-5CA8EFAFC627}"/>
              </a:ext>
            </a:extLst>
          </p:cNvPr>
          <p:cNvSpPr/>
          <p:nvPr/>
        </p:nvSpPr>
        <p:spPr>
          <a:xfrm>
            <a:off x="3485651" y="393122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890997-5AE3-D3B2-42D4-CB32AC23E9E5}"/>
              </a:ext>
            </a:extLst>
          </p:cNvPr>
          <p:cNvSpPr/>
          <p:nvPr/>
        </p:nvSpPr>
        <p:spPr>
          <a:xfrm>
            <a:off x="532422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C28C39-DBC0-7269-5C6B-AD537D10ED1F}"/>
              </a:ext>
            </a:extLst>
          </p:cNvPr>
          <p:cNvSpPr/>
          <p:nvPr/>
        </p:nvSpPr>
        <p:spPr>
          <a:xfrm>
            <a:off x="7242436" y="3960380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F6DCF3-BC88-252F-1C90-017A7F5BB8CC}"/>
              </a:ext>
            </a:extLst>
          </p:cNvPr>
          <p:cNvSpPr/>
          <p:nvPr/>
        </p:nvSpPr>
        <p:spPr>
          <a:xfrm>
            <a:off x="3495092" y="450264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919CF6-495B-12C0-8BBD-94BE56E0C774}"/>
              </a:ext>
            </a:extLst>
          </p:cNvPr>
          <p:cNvSpPr/>
          <p:nvPr/>
        </p:nvSpPr>
        <p:spPr>
          <a:xfrm>
            <a:off x="8016777" y="3960379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837553-272B-6CF8-7E3D-684A26F056E2}"/>
              </a:ext>
            </a:extLst>
          </p:cNvPr>
          <p:cNvSpPr/>
          <p:nvPr/>
        </p:nvSpPr>
        <p:spPr>
          <a:xfrm>
            <a:off x="4268623" y="394280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42430A-F070-E314-E204-1FD11EC82C97}"/>
              </a:ext>
            </a:extLst>
          </p:cNvPr>
          <p:cNvSpPr/>
          <p:nvPr/>
        </p:nvSpPr>
        <p:spPr>
          <a:xfrm>
            <a:off x="7248202" y="453077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141526-CF4A-889C-55F0-7BBB157DACC5}"/>
              </a:ext>
            </a:extLst>
          </p:cNvPr>
          <p:cNvSpPr/>
          <p:nvPr/>
        </p:nvSpPr>
        <p:spPr>
          <a:xfrm>
            <a:off x="5333667" y="4525648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421E3B-7AD1-CDED-4E74-6D5A026A7B52}"/>
              </a:ext>
            </a:extLst>
          </p:cNvPr>
          <p:cNvSpPr/>
          <p:nvPr/>
        </p:nvSpPr>
        <p:spPr>
          <a:xfrm>
            <a:off x="4463386" y="2779875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C53744-2B75-1E76-CD5F-45864809120B}"/>
              </a:ext>
            </a:extLst>
          </p:cNvPr>
          <p:cNvSpPr txBox="1"/>
          <p:nvPr/>
        </p:nvSpPr>
        <p:spPr>
          <a:xfrm>
            <a:off x="5877679" y="2816254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30177283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F8ED-FDD7-837F-57A0-2544F2B5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5CDF9D-151B-C473-7763-54AAF59E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architecture (with replication)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29A03-B8F8-8037-E863-3CA2AB3485E3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1605AA-FAB9-A3D7-2D09-F8F8F96FAE94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6E1DF-722B-1FF0-901E-5210B4C4B676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E296A-8BB3-C05C-3588-CE72F8D28D38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A662DE-B0B6-D28C-4AC5-435BCD55EB39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20A252-9116-9ED8-DF08-CFF31D20BD0D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2544EA-5118-7EB2-B44D-1BA2C9C15AD8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E4E39-7B9C-1288-7F0D-8F29400790E0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83A59-7F0B-2624-0A12-4638E98A85E5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33DD6-2552-7EF0-E851-7ADC7FE6DE73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A39318-3953-7860-978A-E6017847109F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740AC-82BD-FDE7-7C22-C560BD3B8220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F1E99A-3699-5020-8417-E8D93A2A4C05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66B860-6AFB-38F7-FE06-0991788F3A62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2F6D09-5CC5-0F6D-0572-36D1BB79DCC2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EE4664-1B5B-A1E4-D4CB-F66CD65EA4EF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5EE5FF-1B84-0738-CA0F-DF24C23590BF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6442AE-3F3C-0290-91E2-6448C3405C32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262669-F4B8-371F-6002-969D935AA7E7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A5DD62-950C-1F77-447E-E1E3288357E4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C27EC-8CE9-E5BA-9069-3B7C10C44989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855A58-1749-E363-C7C6-B30B0104541A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AE43F2-4806-C083-799E-7277018380B2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712BDC-9687-3496-BFB9-656C6210505C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5263FC-6C7A-F850-E634-1971554CF595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38806-E88B-4F27-9718-53E169945A7B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7F82D4-508E-6018-64E5-684468DFE661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68B788-74ED-A9DF-EC45-8C35DDEA9F4C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43E8F9-EF3B-56D6-5AD0-CFF7692E8923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C3DEF0-9C72-CFA2-61C3-1F13258D22C4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561F1B-AD51-3147-2961-171A8327606C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D89EF5-6656-0D0A-EEAA-6B0A35C80EFB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3BAAE8-47D0-CBC7-65AA-854B5EB4BD05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504B99-10DE-EE98-BB9E-CC7FCBAF6A58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3DC724-5700-C81C-2766-AEBC89AC6078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64A141-8473-B35B-D29E-D97825EEE325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52E6BF-D9EF-77B6-BD44-6DD1BEEB69CF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BA6CE9-1D6A-A4E0-D602-2E6827F3399E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407304-7750-9488-184C-29A7DB704052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3D2024-321F-1E64-A74B-05729462CB27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130097-8385-5816-BDEB-CB397F91E004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39D80F-F51C-4ED0-87AB-465556DAE4C7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40C23E9-DA31-EB86-98F0-2B1A14F509DB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F5A864-50F7-DC30-974B-5506B1149EAE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C8EF88-A04F-734C-B9BC-05587A052C06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69B5ED-13B7-6BAD-0B7D-C0DF148EBA6E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D1E11A2-4DDE-110E-199F-19174AC46A53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96C309F-A006-8FC9-485D-588468D08DED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3CCDB3A-6968-B6C7-C94A-6CCDD42DD713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039E26-AD68-630C-3962-25C6B23467D1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E943101-A1E6-68E0-5733-AA21D67FBB87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E66F6B3C-8833-3566-81B0-76D684988809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V="1">
            <a:off x="2378698" y="2917660"/>
            <a:ext cx="749514" cy="10215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155614C9-EE56-9060-1C71-35504D682207}"/>
              </a:ext>
            </a:extLst>
          </p:cNvPr>
          <p:cNvCxnSpPr>
            <a:cxnSpLocks/>
            <a:stCxn id="2" idx="1"/>
            <a:endCxn id="7" idx="3"/>
          </p:cNvCxnSpPr>
          <p:nvPr/>
        </p:nvCxnSpPr>
        <p:spPr>
          <a:xfrm rot="10800000">
            <a:off x="9023684" y="2917660"/>
            <a:ext cx="402222" cy="10918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A9DEE73-E7A0-17F9-2417-7066A0B6031D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</p:spTree>
    <p:extLst>
      <p:ext uri="{BB962C8B-B14F-4D97-AF65-F5344CB8AC3E}">
        <p14:creationId xmlns:p14="http://schemas.microsoft.com/office/powerpoint/2010/main" val="167787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785D-94AB-7C46-8EFE-D1CC9A47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720309DE-5128-3F53-51F4-4F50B95AC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Producer creates events and writes to partition leader</a:t>
            </a:r>
          </a:p>
          <a:p>
            <a:r>
              <a:rPr lang="en-US" dirty="0"/>
              <a:t>Kafka broker (partition leader) acks the event</a:t>
            </a:r>
          </a:p>
          <a:p>
            <a:r>
              <a:rPr lang="en-US" dirty="0"/>
              <a:t>Acknowledgement modes</a:t>
            </a:r>
          </a:p>
          <a:p>
            <a:pPr lvl="1"/>
            <a:r>
              <a:rPr lang="en-US" dirty="0"/>
              <a:t>acks = 0: Producer does not wait for an ack</a:t>
            </a:r>
          </a:p>
          <a:p>
            <a:pPr lvl="1"/>
            <a:r>
              <a:rPr lang="en-US" dirty="0"/>
              <a:t>acks = 1: Leader writes the record and sends ack; producer waits for ack</a:t>
            </a:r>
          </a:p>
          <a:p>
            <a:pPr lvl="1"/>
            <a:r>
              <a:rPr lang="en-US" dirty="0"/>
              <a:t>acks = all: Leader writes the record, waits for replicas to replicate the record, then sends the ack; producer waits for the ack </a:t>
            </a:r>
          </a:p>
          <a:p>
            <a:r>
              <a:rPr lang="en-US" dirty="0"/>
              <a:t>Tradeoff: durability vs. latency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94A672-1095-A845-68A0-07037AFD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Write path with replication</a:t>
            </a:r>
          </a:p>
        </p:txBody>
      </p:sp>
    </p:spTree>
    <p:extLst>
      <p:ext uri="{BB962C8B-B14F-4D97-AF65-F5344CB8AC3E}">
        <p14:creationId xmlns:p14="http://schemas.microsoft.com/office/powerpoint/2010/main" val="17593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2A0B-3D9C-24A9-7480-B2A4B2C7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CFE30-F266-CC1D-2670-A1762051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path with replication for acks =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A6C6D-E907-08C8-37D8-5E2FB1C6F0A7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B7D1C4-1890-F4F1-C552-5BBE3B44FC9C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9442A-49BA-9302-3ED8-73864EEC892F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146A2D-C628-752A-12AC-D49BF2F447BD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A5F7B-1A04-55B5-AB89-9D816012C450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392275-C564-AAEF-A5F1-BD91A59616A7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B325BC-7F57-CA7F-7ECF-DB5B191211E5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5AE78-E0F8-B0EF-3593-77F7FBF05A71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DFEFD3-76AB-BFC5-5159-2194F053FC20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1D6604-D66F-76D5-E4C9-60B1F5F78C3A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C6F4BB-1771-1BD6-AF49-8E453674F992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84BBF7-AAAF-CC83-F29B-D36ADE52183F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DA492A-28EE-A355-5F14-3C1776EBB760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1447A2-1785-5062-CA6E-590DF5FCE722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641308-5E9E-6BD2-BF7B-B34B058C041E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0FAEB6-0AA3-4388-0A91-12B6F302EC93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8FD376-A4DE-2338-CBF1-43BACBAE3E04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186AC-F7FD-FA3F-1EBC-AC48235AD661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677771-198F-EDF6-20A7-7F1E1829CED0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FB17D2-DEA3-7B6A-C3C3-A0ACFCB40137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FF23F1-E4CA-4000-5754-F38A919D52B3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DD242A-A786-7057-295C-299CB6A74C52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74FD9C-8579-DF77-E2DC-4FEEE5F47E98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FA6119-A831-45D0-D34E-6EA4D66C507C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0F11B6-C781-B6CC-40E4-F7E8B176A389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6AD4A9-B2B4-08C6-91F9-AF305085DE4B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D75E67-76CB-875B-D97F-831B721CA94E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53C824-C688-6731-2FBF-A9F32F7DF63E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12B954-2874-F72F-1B75-17A7DBE8314C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86E9DF-6A1C-D4A3-E428-1493C04090C3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4D2951-1F54-7CE7-6C3E-9A39C4859377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B02E30-24F0-FD34-49F6-C7BEB8CF005D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EDCD96-CF57-393A-994D-CB4BDBE9CAAF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2F2B71-0B73-9255-A17B-F00070C563EF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02B3BB-20E0-4FB2-BF22-3C1DD208DC95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11982E-8AEB-944B-CAA2-B200C508D752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804BC8-2C86-EF80-8712-9B38D1997D62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2F76051-2C2D-48B0-14DF-4AC62F0E9C15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780116-ED16-539B-C608-DB9909DDFC36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8E684B-5C96-A53C-44EB-4646F06469C7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7B2F21E-5718-39E9-3AE2-85BB0F3D4975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E44F31-D6C0-32C2-B82E-FD0D5CCA4965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3F5383-12C2-960C-A44E-E19501BC4DB9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4242AF-E289-EB4E-6F56-06B083031B4A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37D965-998F-C17A-ED13-A47143DAA5BE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2C00CC-1788-6CF6-6C43-14D0E6BB2F77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9B98A4-8474-B7B6-DC00-E2B586591910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952DE9-9433-08D2-C83D-98ED36802C10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A13677B-0B4D-1AA1-5826-A2838558847E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9EE0814-30B7-B734-1CB8-623BF6B89633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5F02050-9004-C301-8EE1-72BFD9E63943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1ADC2327-3CC3-9EFB-E9BF-BA73D2948EDA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 flipV="1">
            <a:off x="2378698" y="2248819"/>
            <a:ext cx="1050221" cy="16904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385ECD1-B660-0730-F0E4-D6FF4E7DEA0A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BAFE48-B502-1964-A5BF-AE7FA80FBAAF}"/>
              </a:ext>
            </a:extLst>
          </p:cNvPr>
          <p:cNvSpPr txBox="1"/>
          <p:nvPr/>
        </p:nvSpPr>
        <p:spPr>
          <a:xfrm>
            <a:off x="1705871" y="2248819"/>
            <a:ext cx="1248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WriteEvent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6633101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C019-AF6B-9D47-3B7D-918EB0E3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F52199-ED34-F684-660E-5B5F71F3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path with replication for acks =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4659BD-0611-386B-CE9F-711AB296A181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B249C7-D832-3189-7447-84B0F8059C30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A8442-A4CB-274C-3774-0E678C16C65B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F39A2-A903-7018-8561-4ABEDE680376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C02786-7D1C-6359-2B5B-89C26847C354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F193DE-B867-09CD-F120-26119D0E1453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FF7582-B883-BF0E-D43B-09E62F55B031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00B953-8B75-6B39-2E5E-3716E25EA1BF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AB41B-0C70-1010-0208-ABB1ED8FB39B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7ABA04-4788-E93E-4606-B0A3BE8F5924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0491F6-8F24-1D78-4011-76D63EEFBA36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2EB6D-F531-FD90-DD4A-C3CD5364E227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FA890-689F-0F77-89A7-E277920A75B4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A4875E-30EE-3757-9142-797CCEF1FF1B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5A5F39-D1D4-6E46-810E-2DDA003DF799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1F66FB-1860-F037-431B-444B7E9A1390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494108-A5E8-C4DE-9319-40732C6299DE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A8FB6F-111B-230C-90A7-AA3364A33CE1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76A885-59ED-20AE-EAF8-FE885D5EB6D4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63A17D-C19B-434F-C2E9-456FA82826EE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A6A7A6-A517-F9DB-6CF3-7F1276BCA117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D99162-A32D-3F44-D9C0-0A994FBE0CE4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4E306A-D8AA-8DEF-0AE4-B31D93CA55A0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34614-E889-2716-02D6-2C4E603E653F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CA0DF9-A6D9-AFB1-D587-FF2956F017C4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F78060-B185-4753-A0DF-3F7D99BE67AB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BAA197-E490-AAC0-D40D-786D175DE28C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0BFDE0-151A-D916-ED2D-72EE6340E745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46C181-A2CE-4511-A238-DAF2E8FF18FA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2D3498-D472-6C83-A511-5ADCC89D9BFE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D79644-B10A-2914-9132-44292092B7D0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3718AE-6E5B-C0B3-AAF0-8F16C74C3E8F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21D35F-D344-37C2-BC26-8F483DBD6073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C39888-9AE2-45BB-E3D8-CF887F712A28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D227A9-DD5C-9F6C-9A79-2B3CBDB7D5EB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496314-DA85-6EB5-C792-975F0D1E6D52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B63119-B1B6-71B6-CFC6-4493A6D984E0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999CA5-801D-3928-B9ED-F12C5558AE19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D93911-C573-AF6B-87FA-8F4DB30BDB28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476837-699D-DB79-960A-FD179C55CBB9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5258D6-6706-F031-1AAA-342F24289837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761A47-8816-4FB8-B1ED-75C49D04D8EB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03EF0B0-EAF4-6481-6277-71C26F8DEBCF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A66701-50EB-2DD4-7BFC-CE0DAEC39091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46A780-D73F-89F5-4A99-3E0BCC66AE5A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A766CB7-69CB-4575-7025-5FC331561A6A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4FAE36-2302-CAE2-FAEA-E85E5DB8FE3F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BB16D54-557F-1E3D-ECE3-20733956220C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3B22360-6856-0B55-DD70-2ABC0BC12A17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2F2E053-862E-6464-67A1-EDC604C01C8C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E71817-A404-848D-EC26-F8BF1AF5FC4E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AF5011-3217-5440-0422-F25551CC22E2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7F70FD7A-9EE7-B56B-1691-55ADF11739BB}"/>
              </a:ext>
            </a:extLst>
          </p:cNvPr>
          <p:cNvCxnSpPr>
            <a:cxnSpLocks/>
            <a:stCxn id="14" idx="1"/>
            <a:endCxn id="3" idx="0"/>
          </p:cNvCxnSpPr>
          <p:nvPr/>
        </p:nvCxnSpPr>
        <p:spPr>
          <a:xfrm rot="10800000" flipV="1">
            <a:off x="1496053" y="2248818"/>
            <a:ext cx="1932866" cy="140462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34EF33E-4F4E-38CF-3007-55C519D60A6F}"/>
              </a:ext>
            </a:extLst>
          </p:cNvPr>
          <p:cNvSpPr txBox="1"/>
          <p:nvPr/>
        </p:nvSpPr>
        <p:spPr>
          <a:xfrm>
            <a:off x="1728458" y="2119539"/>
            <a:ext cx="529312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Ack</a:t>
            </a:r>
          </a:p>
        </p:txBody>
      </p:sp>
    </p:spTree>
    <p:extLst>
      <p:ext uri="{BB962C8B-B14F-4D97-AF65-F5344CB8AC3E}">
        <p14:creationId xmlns:p14="http://schemas.microsoft.com/office/powerpoint/2010/main" val="38735629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7129-205B-3377-A076-BAABDE51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979441-D10E-AB68-4CB4-41D89A64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path with replication for acks =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2387E6-FC7B-6D7C-2651-3D33291E581D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CA0854-F430-CC94-05CC-6117821D20BA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E0470-C680-9200-392C-9C662A4E5E08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F735D5-9602-0F2F-499C-894A4587758B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997748-885F-0701-8FD0-AD77F5844160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176A1-FD90-13C4-59F4-177DC34E70B4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5FDEE6-8839-6598-8906-A94461D616D7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6AB3B-1DFF-E72A-85D9-015D17ED2F43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E7E8AC-6585-A9E3-835B-13FD2362E983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03ACC-C699-270B-F2FF-459B432945A3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20B78-C682-58D9-8154-FA4FC39F243C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F1522C-55E1-D0DD-82A0-84BC8F3DC2F5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A38489-84D5-F224-97B8-1503CB08F7EF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E2B06C-F87D-4985-64DC-7B1746987DB1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704D8F-F090-8633-5F33-1BB64D3CA432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E4A9C3-02FC-D825-2934-DC3FCEC3C348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89F4E-6C26-918A-7614-7A918066F559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4015E7-3D84-168B-39BA-C35F9FF93326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7B81E9-0F93-3CE7-DF99-F03D26E3B746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EA404A-85F9-C5DD-D479-CC930A52F288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399611-7171-640C-849E-E3E3ACC06F1E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0E958E-7CAA-DA1F-BAF2-DDA06B01813B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AB4086-25A1-5125-0B5F-3D06021440BF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135BCD-B04C-4CDC-BCF6-CA241AB23D47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82C0B9-2272-796E-3B4B-9BE1FBFD7D39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D7D71-D7D2-6B86-2931-DF45C3C1E089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F456AC-94C1-4708-3B38-4AF6830BA7BE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E33E2A-5E81-94E6-17D1-B1B2A81837CD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D60019-CB89-FBDF-63F2-4CF5316550C2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D82A59-C4F4-D2A9-0316-8AC328542ADE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0CFC52-3B44-37A9-4CA4-5A18A304E269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AE1EB5-F57D-E550-07CD-5BCDA210D92E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7E4184-AA71-2994-068F-36BA68475908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77BD0E-D17E-CBBF-0087-404EFE8DFE1E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E3555F-28BD-CA5E-E933-CB25DCED9D6D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DBAA70-CB51-B06A-FEBA-355D02F3E112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4CF9CA-9099-0F82-121C-D74A0E941B3E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F7D8CF-BC1E-DE83-AAAA-303E804380FD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BE06581-4EFF-D3DF-D24A-A7148075A61E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954EE4C-F485-A2EE-0774-05704C481565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529F4FF-63D8-B1E5-F5B6-68EE29C24AC1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1C250E-5128-52DC-9185-9ADBDCAA49CD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AFB4F91-1F81-FEFF-32E7-51A0CD1A0D35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129D12B-3DE1-DEAC-83E0-19225231E47B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22EB63-8611-FDD9-E031-36E6DE198B9C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7CF21A9-701E-B04E-8BC3-471B7DCDAE52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B130F64-3B22-AC77-E6E3-61366BC36E7F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39BB923-9229-AC94-B45B-46ED268AC325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5010CB-0EFA-2998-ABB3-D2D1A6940108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5CF90AB-9583-9847-5877-29149D62F9B3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ECEAB1-2CA7-9924-91E8-46568665B20F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49D0D40A-461D-8903-1F92-0C5E4ED9B9E6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H="1">
            <a:off x="4723810" y="864256"/>
            <a:ext cx="435831" cy="2358696"/>
          </a:xfrm>
          <a:prstGeom prst="curvedConnector4">
            <a:avLst>
              <a:gd name="adj1" fmla="val -52452"/>
              <a:gd name="adj2" fmla="val 558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5878749-479B-F08A-DCA6-95C11060B44B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D02683-5C32-787E-1B25-CF15A5DDD55F}"/>
              </a:ext>
            </a:extLst>
          </p:cNvPr>
          <p:cNvSpPr txBox="1"/>
          <p:nvPr/>
        </p:nvSpPr>
        <p:spPr>
          <a:xfrm>
            <a:off x="3976915" y="2007299"/>
            <a:ext cx="1065484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Replicate</a:t>
            </a: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767774A0-6BE8-864C-5D62-CA133C13AE6F}"/>
              </a:ext>
            </a:extLst>
          </p:cNvPr>
          <p:cNvCxnSpPr>
            <a:cxnSpLocks/>
            <a:stCxn id="23" idx="2"/>
            <a:endCxn id="33" idx="1"/>
          </p:cNvCxnSpPr>
          <p:nvPr/>
        </p:nvCxnSpPr>
        <p:spPr>
          <a:xfrm rot="16200000" flipH="1">
            <a:off x="5176429" y="1257196"/>
            <a:ext cx="604665" cy="34138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0993D0B-24C7-816B-46D4-071E98B1D7C6}"/>
              </a:ext>
            </a:extLst>
          </p:cNvPr>
          <p:cNvSpPr txBox="1"/>
          <p:nvPr/>
        </p:nvSpPr>
        <p:spPr>
          <a:xfrm>
            <a:off x="4268182" y="3290421"/>
            <a:ext cx="1065484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Replicate</a:t>
            </a:r>
          </a:p>
        </p:txBody>
      </p:sp>
    </p:spTree>
    <p:extLst>
      <p:ext uri="{BB962C8B-B14F-4D97-AF65-F5344CB8AC3E}">
        <p14:creationId xmlns:p14="http://schemas.microsoft.com/office/powerpoint/2010/main" val="20155122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137A5-9532-53AC-FAFD-2AC9AE4F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992478-1250-2646-40E7-0D73BF32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path with replication for acks = all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3598FF-0E08-7CA9-719B-21E2BBF35021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88A02-C6E8-E97F-85D8-A8B985B2C787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C23CE-DD67-0CD9-F502-B7883B292036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17284-1234-1871-B9DA-8227A3C0F6E5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A1DEF-B8C8-CA98-994E-138C5C15E4BD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47AAB-E146-98E3-3B65-92FCB909DEB8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512C80-CC4A-82B5-81E7-1571B6830D44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AA8BD0-52CF-EE9B-E0CB-5425624BD775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EB11A3-19F9-2DBF-09FA-2CFAEC96E08F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82074-6867-C095-766F-910AA2AB74B8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0B4468-7F21-F796-1947-160A7D841D80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E3F98-1690-EE5F-0EAE-2B6A3ACF16D8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22CDF6-3E3F-B906-F13E-4C38C1BD0157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C379C1-08A6-0BBE-5B95-2183408C75EA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052021-5394-CC0E-8C4A-795C7A27B118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91AC44-3C07-16DE-477C-389B7ECACF39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DFD07-4714-A643-80E6-4792586C0219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9EBE46-930E-D735-5DC5-CEB7E90A235D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00D02A-646A-0FF9-6356-211648F2F545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5C8E6C-A797-F881-9F8C-5BD055ACF751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BF6F4A-2FC5-6304-87F5-81EB2379DAF4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CA43AE-13EE-D964-ED4A-9BC62CD0E366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292826-C365-825A-9DAE-96DEFA21D1F0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6A660E-5031-4273-9BE3-0F5A5C3490DA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97EF45-0C87-6E9A-A6D9-018A58F9225E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7FA7-DA62-CE0B-2B3E-E4B64B861766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419991-13CE-A32D-3966-6CF67BE90E29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A1829E-A536-8227-CFC2-209EF0B09BB1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1C211E-7307-D253-A923-7F5494086AFE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EB9C5D-063F-3C09-A174-B624C8DF89E2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318033-00EF-8E5B-8DF6-268BC8DD7A56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6757CD-88A6-D30B-303C-7A84227D408B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0E04E8-82CC-4562-2116-B28A20613699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9E7570-6EA4-EEB3-0DC1-744134CF8963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9689F-2705-1012-AA56-84342DA6E828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E9FEAF5-9B96-B3D1-F95F-639DC814DF12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01E3BC-3FD2-FAF0-D0E4-6A4BFF68491C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B7D0F1-3228-4D5D-F7BD-4276434B6377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303CD8-6D1D-BA86-6EE5-FF163B751761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ABEE58-BBA6-C337-3DCB-36641FA4A12F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5EDB83-852A-804A-2D20-C02F812DCF5B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569FF6-EB28-285B-77E5-363D2F028C60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03E9F3-D01B-3480-BD92-266FF230BD06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61D4B1-ED30-E7D8-CD4D-DD96C831627F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0EBF7A4-545C-1661-D005-CE3A0926B028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F3F756-5089-EB91-60C2-A80F28CEEFCA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811AEDA-F7E4-F5DC-FC91-A4FB602C4651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06B742B-F333-6951-F68F-894A8FA6C62B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F936A52-CACB-1721-35FD-AACE0E3C6AC5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3400174-129D-2F25-FEE6-0A8D4DF588C1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712F3E0-67AA-46D3-A836-6ED170188EC0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3F8E66BC-78E0-1487-3243-DE7C5EB52105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 flipV="1">
            <a:off x="2378698" y="2248819"/>
            <a:ext cx="1050221" cy="16904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D843DAB-F97F-9652-1733-A8965FC5C541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AF30CC-D460-5E95-09FA-DEE6E6429287}"/>
              </a:ext>
            </a:extLst>
          </p:cNvPr>
          <p:cNvSpPr txBox="1"/>
          <p:nvPr/>
        </p:nvSpPr>
        <p:spPr>
          <a:xfrm>
            <a:off x="1705871" y="2248819"/>
            <a:ext cx="1248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WriteEvent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302119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4863-BD32-8818-024E-E9216AD2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DFB21-E973-1034-EAF3-6DD0344B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path with replication for acks = all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F817BF-9562-6885-AD36-90616A1DC2CA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BFA2F0-E43F-A0C6-B235-4075F84DD5FC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8A2E3-FB29-1846-6D34-1911E2F8B1D3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8F8FB-9089-100F-475E-721F366101EA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90F9C-EFC6-0FE3-EA3C-4258443BBA06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2C84EC-0267-0C63-50B3-3ACA0E146BA4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43F7B6-ADB2-1AC0-E02B-DF0A48ECA9EC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C010C-60E6-A942-68AA-FFBB306B85B0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0D3F74-2558-3FAE-ACAE-06DE6B7B17DC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EB347-DB97-35CB-75BC-92C099FFAA36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069B6B-511F-F0EA-60D5-BE349C1510B8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8F1099-11B6-C332-CF70-1113BA1B2D27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E37B9-E783-F00F-7174-513C93E053FF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FE494B-BDFA-FDCE-8199-272726159BC8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B8A97C-C039-6473-8F5F-8372BA4E7310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14132B-06FE-D253-2CC1-CDB91087441F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0B9D2D-7A4E-2036-5AC2-7B158B768AD8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3786D2-E58F-3D38-14BC-282456DD0395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DD012A-E732-0DEA-9279-5D3234F7F8EC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C71BE2-F159-C264-0CC5-4EAB70475E45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E28439-A503-C7C2-B3FD-38C246A9E78D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A32E01-5456-5842-1D3C-B6DAB3BC4284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66BAA7-316C-9FAB-6762-F540A4D3F56C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94E645-E443-0681-932F-0CD027C0E34D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C998EF-DD04-BBFB-39D6-D7E4305A9ADF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A4066E-CB4B-D871-F584-5D0ABD9FEF0E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E4DDE2-2327-4BDC-BC2C-64F3BA6A25E6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4318CC-CFD9-1F31-81E8-C4EEA9FD40CA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68ABC6-4811-9263-17C0-F9EE944A11A1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6F834B-C9E9-EAC4-1802-B81EA9DBBA00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3DAD07-BFB6-4FC8-CF16-6B8011FAE18B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ED0C1E-DC23-38E8-B3F4-1F70C994D19F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303546-FD75-E90B-CF83-F9BCE983D945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7EC096-91B8-7982-6E0A-1907B8ED795F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F03353-3497-6978-E5F7-099A84B22883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3E843C7-1A37-A7ED-FB9F-499BD88306E1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8530A7-9273-1DF2-91FA-EF8289068B5D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5013049-D8B4-6D20-5095-82AD7F7E38CD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D5FFDF-FCD4-0B6F-09D4-CE3830FA0B95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E58323-05D9-9CE8-9C46-2FDF8A2AFC16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284E62-6CE1-5DF1-AE8D-8552C8AEA525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D90FEC-4FEB-8CC9-D89F-A861A90BB452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D0F143-DE2E-50A9-3190-F43D5A38F007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430826-144B-1C10-7466-23DF9E622155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339DFA-4A48-BE16-248D-A02E76DB3EE0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23A470-A14F-2E5D-24D0-E4289502E226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617EB7-0134-1DAF-1D67-13AD543A6A18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B589FC-51B5-2016-2B37-33D7054D17CF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BBE60F-AB11-840B-038F-10BF2CD35BE6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21BA0FF-2FF5-2066-A0C1-23C1D1BA4296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264B83F-58B4-7BA5-4478-7B6BE565B030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2859BDB6-2406-A40A-AD00-EB3DE55ADFEC}"/>
              </a:ext>
            </a:extLst>
          </p:cNvPr>
          <p:cNvCxnSpPr>
            <a:cxnSpLocks/>
            <a:stCxn id="20" idx="0"/>
          </p:cNvCxnSpPr>
          <p:nvPr/>
        </p:nvCxnSpPr>
        <p:spPr>
          <a:xfrm rot="16200000" flipH="1">
            <a:off x="4723810" y="864256"/>
            <a:ext cx="435831" cy="2358696"/>
          </a:xfrm>
          <a:prstGeom prst="curvedConnector4">
            <a:avLst>
              <a:gd name="adj1" fmla="val -52452"/>
              <a:gd name="adj2" fmla="val 5586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5357F15-EC70-E745-B14E-5E4483377FF3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62AEAE-864F-E00C-BB72-6BB0B198A40A}"/>
              </a:ext>
            </a:extLst>
          </p:cNvPr>
          <p:cNvSpPr txBox="1"/>
          <p:nvPr/>
        </p:nvSpPr>
        <p:spPr>
          <a:xfrm>
            <a:off x="3976915" y="2007299"/>
            <a:ext cx="1065484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Replicate</a:t>
            </a: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3573734B-8106-957F-FFD8-6993448DDF7F}"/>
              </a:ext>
            </a:extLst>
          </p:cNvPr>
          <p:cNvCxnSpPr>
            <a:cxnSpLocks/>
            <a:stCxn id="23" idx="2"/>
            <a:endCxn id="33" idx="1"/>
          </p:cNvCxnSpPr>
          <p:nvPr/>
        </p:nvCxnSpPr>
        <p:spPr>
          <a:xfrm rot="16200000" flipH="1">
            <a:off x="5176429" y="1257196"/>
            <a:ext cx="604665" cy="34138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A7FAB7C-A577-1FCA-EA8C-243C68EE0FF8}"/>
              </a:ext>
            </a:extLst>
          </p:cNvPr>
          <p:cNvSpPr txBox="1"/>
          <p:nvPr/>
        </p:nvSpPr>
        <p:spPr>
          <a:xfrm>
            <a:off x="4268182" y="3290421"/>
            <a:ext cx="1065484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Replicate</a:t>
            </a:r>
          </a:p>
        </p:txBody>
      </p:sp>
    </p:spTree>
    <p:extLst>
      <p:ext uri="{BB962C8B-B14F-4D97-AF65-F5344CB8AC3E}">
        <p14:creationId xmlns:p14="http://schemas.microsoft.com/office/powerpoint/2010/main" val="27683031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0ACE-F579-7936-AC8C-E683126C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9FFAA9-9CDD-789C-8707-BB1A3DCD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path with replication for acks = all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8B4ED2-2C81-F4D5-CD58-378FF0628F17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071563-BF6F-8963-3EEC-441577C03111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9ADCD-7E34-5073-8B14-BD80761F4965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0DB12E-BB8A-8D0E-D5EE-7C7E30072C98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910F82-1703-DC04-9544-9F6C3AB0F4E5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3E7B80-146B-35CF-CB71-617EE461433F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06E9F-AF74-6120-3303-3CF09C20244F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36BE2-6F6F-F09E-7A48-DDD8D7FFF6D1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53217-216E-1041-10FB-9C3638A226AC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774B2-CF72-22AD-3742-0A02EA4CCB0A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F60D86-E8C0-594E-F859-2ABDCEC70CB3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688CD6-4CBE-031D-FB23-61115A5B01B5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0B43C5-CA6F-2809-C445-5F73904AA86D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7AD28-6A23-EE94-3C67-B2053EDB9965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9BF211-859E-29AF-10DC-E54C2CDBCFFC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037562-0B57-3209-B93C-04E4F5BC4958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5A569C-ABE9-C904-5FB6-8E632F0619E5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6AB0D9-561E-E157-E391-21DD250CF9C6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CB62FB-629B-445A-806A-434EDA215898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C5CDD7-8047-2A59-63E9-F249A1F31D61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984F45-D53C-A07E-A46B-820764DDFBBD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F47C76-FD61-BB65-6D28-B44EF2BB47B7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7299FC-C14E-0F89-BCDF-B6FD8674AE98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A1D90C-D23B-7F7D-56DC-140552455A35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B7ECE9-A6A7-CBA3-608B-FB08A33AB0E4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A177AE-037B-F2E3-23DC-32776077C91B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8ABB40-EDAB-B99C-71B3-7FA0ECFC93D0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134CAE-A3D1-0E4A-5484-C8165B1C917A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D7A93C-A1F7-ECB6-426B-7495894D137F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ADF1BE-A2E9-438A-C7FE-A6EE2F8234F9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211A3C-488B-7C53-6F99-7DFC41A7284A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0DA395-24F1-2340-67E4-C01D70D9EADF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92C76A-534B-6E4D-3DE1-FBBD11A0EE6F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7ED857-747B-1D9D-AB4F-BB98A2ACF86E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28F03E-4AFE-2524-0F87-A7640A52DAA0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E70EA8-1C12-BE20-9927-317FB6E8B3E7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AF9402-721F-C4D9-F7C9-75E3B5DF940E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191E50-868F-2387-E7A6-B8A4F07C4044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14A2FA-F105-32E0-3296-9ECB564F60A2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9D611DF-2215-0DCE-7413-230A2E968C42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76DE87-6E75-46D5-1BC1-FF2D20BAB426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9C976E1-BDC7-8BE1-077D-DE80CB61B1C8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3C26E53-8229-0D65-2D72-8444BCF874F3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C9C078-B205-00ED-732C-1FE4DD4B82BA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C88AE0-1606-EF00-20E8-D2D0F3BCEDB7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53E6063-CA14-4B68-79D4-11A6D5A67DD9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1C4A46-AD68-D578-177B-5B0B8ABEB492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390601F-C03E-9CDA-C07F-2669BE221468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4A31CCE-E137-E0E8-6502-78B191A0E4D3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373F57-C028-51EA-FA82-7D4AC1127C39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19E4A3-D79A-2EA5-FD18-34F520B3EF52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778C1B58-664D-C342-C457-2FA36D655A9A}"/>
              </a:ext>
            </a:extLst>
          </p:cNvPr>
          <p:cNvCxnSpPr>
            <a:cxnSpLocks/>
            <a:endCxn id="20" idx="0"/>
          </p:cNvCxnSpPr>
          <p:nvPr/>
        </p:nvCxnSpPr>
        <p:spPr>
          <a:xfrm rot="10800000">
            <a:off x="3762378" y="1825689"/>
            <a:ext cx="2358700" cy="489202"/>
          </a:xfrm>
          <a:prstGeom prst="curvedConnector4">
            <a:avLst>
              <a:gd name="adj1" fmla="val 44134"/>
              <a:gd name="adj2" fmla="val 14672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1F92077-BB62-396E-FD6A-3AAEDFEFAACC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065626-2C1C-0474-85ED-938EFA0E8148}"/>
              </a:ext>
            </a:extLst>
          </p:cNvPr>
          <p:cNvSpPr txBox="1"/>
          <p:nvPr/>
        </p:nvSpPr>
        <p:spPr>
          <a:xfrm>
            <a:off x="4554617" y="2008804"/>
            <a:ext cx="529312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Ack</a:t>
            </a: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159F375D-2FF6-0152-387D-896438C3DDDC}"/>
              </a:ext>
            </a:extLst>
          </p:cNvPr>
          <p:cNvCxnSpPr>
            <a:cxnSpLocks/>
            <a:stCxn id="33" idx="1"/>
            <a:endCxn id="14" idx="2"/>
          </p:cNvCxnSpPr>
          <p:nvPr/>
        </p:nvCxnSpPr>
        <p:spPr>
          <a:xfrm rot="10800000">
            <a:off x="3771820" y="2689938"/>
            <a:ext cx="3413885" cy="5765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29E0D77-B988-84DA-499B-A602C9E071A7}"/>
              </a:ext>
            </a:extLst>
          </p:cNvPr>
          <p:cNvSpPr txBox="1"/>
          <p:nvPr/>
        </p:nvSpPr>
        <p:spPr>
          <a:xfrm>
            <a:off x="4542844" y="3184695"/>
            <a:ext cx="529312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Ack</a:t>
            </a:r>
          </a:p>
        </p:txBody>
      </p:sp>
    </p:spTree>
    <p:extLst>
      <p:ext uri="{BB962C8B-B14F-4D97-AF65-F5344CB8AC3E}">
        <p14:creationId xmlns:p14="http://schemas.microsoft.com/office/powerpoint/2010/main" val="4114598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9976-8B38-D7C1-4E11-260F7BEE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B8DA9D-3EFB-A202-726D-D2953AB4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path with replication for acks = all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3ADBC-F772-EF58-4DA3-CA3C73F1299A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D4102-DE30-2EDD-C718-1DD29153BD50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B1B74-08E1-C878-88A6-243A09024879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008A9A-82B2-1CB5-94C1-9CC9CEA4286C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1B9260-78A1-5D79-F153-DE6CB6980FB1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0C28D-0226-30B6-9FB0-0B13EC9FAD2C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969B9-5BD0-EA50-CCA5-841D40254DA7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269BC-DA7C-6EA5-C13F-6B22EB68363E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BFAFE-D256-187B-568D-7EB26414AA5D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AA1D67-4AC4-8CEF-A92A-A751A5CFAAD5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E6692-6A1A-0DF9-DE1A-4AE6AC221807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5D65E8-171E-5687-F83D-833D056D0A1D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DBBC7-C336-8BBD-D786-E37CBB671ADB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CDC87-C816-9CEA-F061-0770D9EB89B2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497E51-0E0E-4B59-0197-3317E1CC9843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7FFBA8-62E5-0BFE-6514-F8F84C39D3A7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1D940E-C166-A28E-607B-68840145969C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F02951-7352-F5C3-DD0D-DCD0D1B42C8C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7CA9DE-1270-6CC6-95A5-9AB428FDA9B4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DBF637-94BE-0263-4A8A-3A4AE546F5C1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DD37DF-2AD8-4D60-AE75-2A205CED973E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19AF4A-B9C9-B1A0-AC1D-3E408680E894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6826CD-AD0E-2865-6FAD-D97FA3D30693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337FBE-4E14-B750-4F4E-B23B3BC12281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88F01B-51F0-10C0-2D58-DD4F15C14004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649C56-4907-329D-2557-21B2C5731597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29BF31-24AD-D1EB-4EA3-416478FB7577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3492AA-9E85-DE8E-849C-3DF6B588F3A5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723C34-ADAE-05AA-ED7E-F9613F44F76F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01926F-E11D-4C32-F215-3460BF3C926E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40240E-E5A2-F669-A102-9F982069D6E7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356916-509C-A64E-6539-7D46BAB82993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AC6B43A-6957-F6C3-DB67-8D486152D0C8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BCECFD-99F2-DCA0-267F-D8123C735068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240D56-3877-D05B-E219-39D329B8C21E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D2FF09-A07E-6266-8C15-E7A53A61559F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5959F3-1981-4891-D62D-98E8B62C0BAD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07B36C-A3BB-94DF-ADB0-A00DCD9424ED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AFD741-DF42-0D31-4074-56BBA151CA31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BF7D04-D9F1-EE0A-3C40-CDE432C9A5FF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3093FB-CFD8-372F-0904-A4438BF584C9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230F6A-B6F5-BF51-DC12-ED9BC2DF93F5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0ECA34-A113-8520-5073-C27CE9160EA1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66562F-736D-2858-9B5B-A7D3F011FC02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A12CF66-3F26-E210-2784-FE1D68161116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1CEEC5-B5BB-48AF-C856-06786A578335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8435913-FA5D-5516-39AC-38D7E76C5DE1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85D2A97-3F5F-1941-D2A6-0E9D2305DBD9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B3632E5-C251-576D-A63B-F5F5253D96A7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3761AD-007F-61AE-ECF3-27C1C3175D51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EB5E92C-09F5-2016-E7BF-5F2F9566560A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2E5814-4E72-1DC3-4EC8-A4EE3E73245B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97DB612C-E30C-4931-3BBD-7466261A3413}"/>
              </a:ext>
            </a:extLst>
          </p:cNvPr>
          <p:cNvCxnSpPr>
            <a:cxnSpLocks/>
            <a:stCxn id="14" idx="1"/>
            <a:endCxn id="3" idx="0"/>
          </p:cNvCxnSpPr>
          <p:nvPr/>
        </p:nvCxnSpPr>
        <p:spPr>
          <a:xfrm rot="10800000" flipV="1">
            <a:off x="1496053" y="2248818"/>
            <a:ext cx="1932866" cy="140462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3343A9E-4171-CAE4-55DE-7DB0A87240B5}"/>
              </a:ext>
            </a:extLst>
          </p:cNvPr>
          <p:cNvSpPr txBox="1"/>
          <p:nvPr/>
        </p:nvSpPr>
        <p:spPr>
          <a:xfrm>
            <a:off x="1728458" y="2119539"/>
            <a:ext cx="529312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b="1" i="1" dirty="0"/>
              <a:t>Ack</a:t>
            </a:r>
          </a:p>
        </p:txBody>
      </p:sp>
    </p:spTree>
    <p:extLst>
      <p:ext uri="{BB962C8B-B14F-4D97-AF65-F5344CB8AC3E}">
        <p14:creationId xmlns:p14="http://schemas.microsoft.com/office/powerpoint/2010/main" val="21568441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DE26-67C0-85CA-471A-D5EA74478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DB211E-EB25-5DA9-F048-5ABDA6CD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 failure and 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5FDE9-D754-E32A-0902-922339BDCFF8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40A815-2989-267E-331E-17BA4B6BDC81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A9885-4BB1-799D-E418-5C063207184C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E77062-FECA-D559-60DA-08F72BE2758C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D02397-4BE3-5166-6164-6E0EECB0DA01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B25013-6085-5C4C-8441-8E3589033030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663227-77F4-BF44-D618-595B115AAE29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8A929-FF6F-009C-28FE-A8B500D08C47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BA84FC-07C0-602B-CC04-46D2DA857C59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CC69C-87E6-5341-E0BC-7C3990B6FB9E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B12EF4-053D-7A5C-D14B-62446D3E93FB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38F725-B3CC-1EBD-604B-C0C6422DF7D2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6AAFA4-FDC3-70AC-E4C1-2225B77EFA23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FC154A-CFFA-76D6-1F43-A40B187B9B44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C69554-EAEC-71B8-14B0-16E6B815ADD3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7E0EF5-1D84-FAD5-53EE-3F12ECA56DC3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A5A3E8-0FD7-DBD3-2B83-BEE7DF67D550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8537B-F133-288D-13AA-E8A9FDD2ED4E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62EF7C-B370-370E-14D3-56312BBA8804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1AFEEE-98B0-A053-9467-8770BE8EB5CA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50C212-256E-E28E-D8E6-CD6B32E526A1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40FA30-7976-1715-74C8-73A5788DFDA3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AACDB2-09B7-1494-CCD2-F2E444834A05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3A29FB-E4AD-4FB4-8355-B96CB96530FA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E690B3-5D9D-5BE4-FD1E-CC0A379B6A6D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0B67DF-CDE5-3E50-ECCC-AB879E5CDF79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B3785C-5247-41E3-C537-4525F189A438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704985-9E7B-6638-CD22-EDCD1316702B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BCCD6E-FF67-078A-02B8-FB60C48DB11C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8D91C3-509A-D67B-BC50-26D6989246F4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20BAFA-99C6-31A6-F5C0-8192261C08D1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25D957-9453-87D4-0995-A4F7D14D2047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7F6788-672B-4521-C2B1-B92C5265193D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4AD23C-1AD8-7295-DC60-F9F41775BBB7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387596-454D-B8CD-6444-1F8D2C23CC65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2076A7-FF69-EEF3-1020-367FCCD7F4F6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473460-3DD6-E849-FC72-747957F8A14B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FE1A0EC-3DFF-4278-B934-DFD43CE495FA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74E310C-D5FA-EF20-CF79-7D8571DEE829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335F20-9920-F04C-BDB9-2EF4AE07F11A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1410B5-8BA0-7E29-60E3-410762E16C8A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0D103C-5764-875A-D705-30A2CED53645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35C29E4-4E7B-7E74-0BFC-070A9AD875CF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0BC92D-D9EA-326B-C661-4718F14FF5E7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A4B8FC5-E40A-4A10-BF8D-CECC5E7FD4DE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EC886-6D6E-A958-7D56-F47776E3BB2D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FCFFF3-B946-E0FE-A5E7-16C41AA3A150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83B6EF-4A12-ED75-B11D-A44419E6169F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5354689-C7B4-AF2C-E5F5-C190E1CEB815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3910F5E-8BAE-2379-F9D8-1455EB85713E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44E151D-32AC-DCEA-9577-443C8DC27434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97B469-CBDD-63E6-5E92-CB58D1460561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960A4C-60F2-2E57-1DD7-A78E8BFA3A28}"/>
              </a:ext>
            </a:extLst>
          </p:cNvPr>
          <p:cNvSpPr txBox="1"/>
          <p:nvPr/>
        </p:nvSpPr>
        <p:spPr>
          <a:xfrm>
            <a:off x="3014486" y="4274445"/>
            <a:ext cx="827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❌</a:t>
            </a:r>
            <a:endParaRPr lang="en-US" sz="2800" dirty="0"/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B5B4F0AD-73AB-1A21-90AE-67BDDBC3822E}"/>
              </a:ext>
            </a:extLst>
          </p:cNvPr>
          <p:cNvCxnSpPr/>
          <p:nvPr/>
        </p:nvCxnSpPr>
        <p:spPr>
          <a:xfrm flipV="1">
            <a:off x="2378698" y="2917660"/>
            <a:ext cx="749514" cy="10215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64BA0CAF-B5DD-1390-BA0D-672410C722F1}"/>
              </a:ext>
            </a:extLst>
          </p:cNvPr>
          <p:cNvCxnSpPr>
            <a:cxnSpLocks/>
          </p:cNvCxnSpPr>
          <p:nvPr/>
        </p:nvCxnSpPr>
        <p:spPr>
          <a:xfrm rot="10800000">
            <a:off x="9023684" y="2917660"/>
            <a:ext cx="402222" cy="10918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8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97BD-8CB9-1933-E1FF-FEAF41F8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7E8363-256F-6DBD-BF62-C1336DA0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 failure and 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9B05E2-5AB0-C6C1-E2D6-BC8169B28B09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26E41E-1E3A-A159-8E0D-B92C6CEB1C98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40159-A1D2-CC97-C42C-1245C0AF2D70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BE35F-29F1-0699-B047-B04BBAF32F25}"/>
              </a:ext>
            </a:extLst>
          </p:cNvPr>
          <p:cNvSpPr/>
          <p:nvPr/>
        </p:nvSpPr>
        <p:spPr>
          <a:xfrm>
            <a:off x="3128212" y="806116"/>
            <a:ext cx="5895472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CC872-FC78-FF8A-39C5-003FB81F79A6}"/>
              </a:ext>
            </a:extLst>
          </p:cNvPr>
          <p:cNvSpPr/>
          <p:nvPr/>
        </p:nvSpPr>
        <p:spPr>
          <a:xfrm>
            <a:off x="3324145" y="1777943"/>
            <a:ext cx="1700461" cy="30987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BA490-BB27-24F3-DC35-1D3EA27E1C23}"/>
              </a:ext>
            </a:extLst>
          </p:cNvPr>
          <p:cNvSpPr/>
          <p:nvPr/>
        </p:nvSpPr>
        <p:spPr>
          <a:xfrm>
            <a:off x="5225717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BDF43D-2774-A231-812E-E46C46824D68}"/>
              </a:ext>
            </a:extLst>
          </p:cNvPr>
          <p:cNvSpPr/>
          <p:nvPr/>
        </p:nvSpPr>
        <p:spPr>
          <a:xfrm>
            <a:off x="7074570" y="1777943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D13EF-84B8-EEF7-D84F-21506F5A6A59}"/>
              </a:ext>
            </a:extLst>
          </p:cNvPr>
          <p:cNvSpPr txBox="1"/>
          <p:nvPr/>
        </p:nvSpPr>
        <p:spPr>
          <a:xfrm>
            <a:off x="3264488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1</a:t>
            </a:r>
            <a:endParaRPr lang="en-US" sz="1600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4B616-DABD-831C-38A2-508832D2CEA5}"/>
              </a:ext>
            </a:extLst>
          </p:cNvPr>
          <p:cNvSpPr txBox="1"/>
          <p:nvPr/>
        </p:nvSpPr>
        <p:spPr>
          <a:xfrm>
            <a:off x="5205337" y="1389314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C287F-C382-E04C-552C-D447B909AC39}"/>
              </a:ext>
            </a:extLst>
          </p:cNvPr>
          <p:cNvSpPr txBox="1"/>
          <p:nvPr/>
        </p:nvSpPr>
        <p:spPr>
          <a:xfrm>
            <a:off x="7022433" y="1377833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9403EB-198A-B422-FA7F-88133B25419A}"/>
              </a:ext>
            </a:extLst>
          </p:cNvPr>
          <p:cNvSpPr/>
          <p:nvPr/>
        </p:nvSpPr>
        <p:spPr>
          <a:xfrm>
            <a:off x="3428919" y="1807700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D3C290-CE11-315D-B61A-5F03D8F026DF}"/>
              </a:ext>
            </a:extLst>
          </p:cNvPr>
          <p:cNvSpPr/>
          <p:nvPr/>
        </p:nvSpPr>
        <p:spPr>
          <a:xfrm>
            <a:off x="4226762" y="1813657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CA7D8A-9782-AF94-F584-39708F3B8519}"/>
              </a:ext>
            </a:extLst>
          </p:cNvPr>
          <p:cNvSpPr/>
          <p:nvPr/>
        </p:nvSpPr>
        <p:spPr>
          <a:xfrm>
            <a:off x="5267494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A943FC-AF0B-C326-537A-99842B432F26}"/>
              </a:ext>
            </a:extLst>
          </p:cNvPr>
          <p:cNvSpPr/>
          <p:nvPr/>
        </p:nvSpPr>
        <p:spPr>
          <a:xfrm>
            <a:off x="7182585" y="1825689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194F7F-9431-FF55-8C9D-8F803B52B163}"/>
              </a:ext>
            </a:extLst>
          </p:cNvPr>
          <p:cNvSpPr/>
          <p:nvPr/>
        </p:nvSpPr>
        <p:spPr>
          <a:xfrm>
            <a:off x="7976399" y="1833723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516D4C-5676-1DBD-86FE-E89D0C71FEE1}"/>
              </a:ext>
            </a:extLst>
          </p:cNvPr>
          <p:cNvSpPr/>
          <p:nvPr/>
        </p:nvSpPr>
        <p:spPr>
          <a:xfrm>
            <a:off x="3485651" y="182568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E7A6EA-0BB5-CD62-6EAA-BA729147514E}"/>
              </a:ext>
            </a:extLst>
          </p:cNvPr>
          <p:cNvSpPr/>
          <p:nvPr/>
        </p:nvSpPr>
        <p:spPr>
          <a:xfrm>
            <a:off x="532422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97BAEE-42A5-593B-24B2-AB9818D8EAB3}"/>
              </a:ext>
            </a:extLst>
          </p:cNvPr>
          <p:cNvSpPr/>
          <p:nvPr/>
        </p:nvSpPr>
        <p:spPr>
          <a:xfrm>
            <a:off x="7242436" y="185484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058A37-CF98-1B58-C52B-98E579923CEB}"/>
              </a:ext>
            </a:extLst>
          </p:cNvPr>
          <p:cNvSpPr/>
          <p:nvPr/>
        </p:nvSpPr>
        <p:spPr>
          <a:xfrm>
            <a:off x="3495092" y="2397112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824EE4-C5EE-2BA9-952A-91D39BDF3A59}"/>
              </a:ext>
            </a:extLst>
          </p:cNvPr>
          <p:cNvSpPr/>
          <p:nvPr/>
        </p:nvSpPr>
        <p:spPr>
          <a:xfrm>
            <a:off x="8016777" y="1854844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28286A-7CDA-3C0D-7D66-4FB5B87E65C1}"/>
              </a:ext>
            </a:extLst>
          </p:cNvPr>
          <p:cNvSpPr/>
          <p:nvPr/>
        </p:nvSpPr>
        <p:spPr>
          <a:xfrm>
            <a:off x="4268623" y="1837274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B2117A-3805-8AC2-37E9-E69647581659}"/>
              </a:ext>
            </a:extLst>
          </p:cNvPr>
          <p:cNvSpPr/>
          <p:nvPr/>
        </p:nvSpPr>
        <p:spPr>
          <a:xfrm>
            <a:off x="7248202" y="242524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679905-46FC-C2B2-2FE9-73FCF9E1AD59}"/>
              </a:ext>
            </a:extLst>
          </p:cNvPr>
          <p:cNvSpPr/>
          <p:nvPr/>
        </p:nvSpPr>
        <p:spPr>
          <a:xfrm>
            <a:off x="5333667" y="242011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8B2178-6BC4-7979-6D47-551ADA059213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2C7937-CBFB-92DA-127D-1B1CEC1C3BC6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36BA0-356B-B405-E5DE-53AD95407692}"/>
              </a:ext>
            </a:extLst>
          </p:cNvPr>
          <p:cNvSpPr/>
          <p:nvPr/>
        </p:nvSpPr>
        <p:spPr>
          <a:xfrm>
            <a:off x="6121077" y="183685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EC120F-9644-8C35-D1B6-72E688AF2487}"/>
              </a:ext>
            </a:extLst>
          </p:cNvPr>
          <p:cNvSpPr/>
          <p:nvPr/>
        </p:nvSpPr>
        <p:spPr>
          <a:xfrm>
            <a:off x="6177809" y="185484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339C0B-3093-4033-9A6E-773D0B7E7785}"/>
              </a:ext>
            </a:extLst>
          </p:cNvPr>
          <p:cNvSpPr/>
          <p:nvPr/>
        </p:nvSpPr>
        <p:spPr>
          <a:xfrm>
            <a:off x="6187250" y="242626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B3E9FB-F03F-15E8-E5D9-55DD2181CCFB}"/>
              </a:ext>
            </a:extLst>
          </p:cNvPr>
          <p:cNvSpPr/>
          <p:nvPr/>
        </p:nvSpPr>
        <p:spPr>
          <a:xfrm>
            <a:off x="7185704" y="282535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EC9D1C-66D7-EFD8-05E5-B3E7E14EA568}"/>
              </a:ext>
            </a:extLst>
          </p:cNvPr>
          <p:cNvSpPr/>
          <p:nvPr/>
        </p:nvSpPr>
        <p:spPr>
          <a:xfrm>
            <a:off x="7242436" y="284334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CB71E8-8E1A-6FC5-3ABE-931B1A161BD1}"/>
              </a:ext>
            </a:extLst>
          </p:cNvPr>
          <p:cNvSpPr/>
          <p:nvPr/>
        </p:nvSpPr>
        <p:spPr>
          <a:xfrm>
            <a:off x="7251877" y="3414765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3542AD-A794-C4EF-68C4-D65ED4599B69}"/>
              </a:ext>
            </a:extLst>
          </p:cNvPr>
          <p:cNvSpPr/>
          <p:nvPr/>
        </p:nvSpPr>
        <p:spPr>
          <a:xfrm>
            <a:off x="5299122" y="286123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3AAAB6-A594-6B0B-C6AE-D6CB416B1FA8}"/>
              </a:ext>
            </a:extLst>
          </p:cNvPr>
          <p:cNvSpPr/>
          <p:nvPr/>
        </p:nvSpPr>
        <p:spPr>
          <a:xfrm>
            <a:off x="5340983" y="288484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BE2D46-697F-11D3-01D7-D154F1052F69}"/>
              </a:ext>
            </a:extLst>
          </p:cNvPr>
          <p:cNvSpPr/>
          <p:nvPr/>
        </p:nvSpPr>
        <p:spPr>
          <a:xfrm>
            <a:off x="7976399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E6DF08-C0FE-9FC1-D5A1-D41796EB1CF1}"/>
              </a:ext>
            </a:extLst>
          </p:cNvPr>
          <p:cNvSpPr/>
          <p:nvPr/>
        </p:nvSpPr>
        <p:spPr>
          <a:xfrm>
            <a:off x="8018260" y="286123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FC1029-2183-4248-A941-0B3DBE512E8D}"/>
              </a:ext>
            </a:extLst>
          </p:cNvPr>
          <p:cNvSpPr/>
          <p:nvPr/>
        </p:nvSpPr>
        <p:spPr>
          <a:xfrm>
            <a:off x="3438360" y="28164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4682C3-C115-D0BF-FA9F-4AD93CE219B9}"/>
              </a:ext>
            </a:extLst>
          </p:cNvPr>
          <p:cNvSpPr/>
          <p:nvPr/>
        </p:nvSpPr>
        <p:spPr>
          <a:xfrm>
            <a:off x="3495092" y="283761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752979-ED9F-876C-70CB-3DCAAB93A74B}"/>
              </a:ext>
            </a:extLst>
          </p:cNvPr>
          <p:cNvSpPr/>
          <p:nvPr/>
        </p:nvSpPr>
        <p:spPr>
          <a:xfrm>
            <a:off x="3504533" y="3402883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75F247-B4D3-8DE4-BE45-E748CD75A6DB}"/>
              </a:ext>
            </a:extLst>
          </p:cNvPr>
          <p:cNvSpPr/>
          <p:nvPr/>
        </p:nvSpPr>
        <p:spPr>
          <a:xfrm>
            <a:off x="7182585" y="3860849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31D6F6E-A8E3-E31C-9CFD-A5812231D512}"/>
              </a:ext>
            </a:extLst>
          </p:cNvPr>
          <p:cNvSpPr/>
          <p:nvPr/>
        </p:nvSpPr>
        <p:spPr>
          <a:xfrm>
            <a:off x="7239317" y="38819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707156-42FE-7C10-E8A7-F1BA02FA9D7A}"/>
              </a:ext>
            </a:extLst>
          </p:cNvPr>
          <p:cNvSpPr/>
          <p:nvPr/>
        </p:nvSpPr>
        <p:spPr>
          <a:xfrm>
            <a:off x="7248758" y="444723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042100-C847-38EA-B8F1-B84CFBB6565F}"/>
              </a:ext>
            </a:extLst>
          </p:cNvPr>
          <p:cNvSpPr/>
          <p:nvPr/>
        </p:nvSpPr>
        <p:spPr>
          <a:xfrm>
            <a:off x="4233720" y="283761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BB18FE-2500-EC93-BF8E-342C65018884}"/>
              </a:ext>
            </a:extLst>
          </p:cNvPr>
          <p:cNvSpPr/>
          <p:nvPr/>
        </p:nvSpPr>
        <p:spPr>
          <a:xfrm>
            <a:off x="4293571" y="2866771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27F092-59D2-AFB2-CDA1-A4F05CA578C8}"/>
              </a:ext>
            </a:extLst>
          </p:cNvPr>
          <p:cNvSpPr/>
          <p:nvPr/>
        </p:nvSpPr>
        <p:spPr>
          <a:xfrm>
            <a:off x="4299337" y="3437169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7BEFB4-98B0-4C4C-961F-A6805A18FC6A}"/>
              </a:ext>
            </a:extLst>
          </p:cNvPr>
          <p:cNvSpPr/>
          <p:nvPr/>
        </p:nvSpPr>
        <p:spPr>
          <a:xfrm>
            <a:off x="6131075" y="2855693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E25E426-977A-03D0-3D5E-6C010DFB60EF}"/>
              </a:ext>
            </a:extLst>
          </p:cNvPr>
          <p:cNvSpPr/>
          <p:nvPr/>
        </p:nvSpPr>
        <p:spPr>
          <a:xfrm>
            <a:off x="6190926" y="2884849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48C773-F0ED-578C-D940-B691BC596D82}"/>
              </a:ext>
            </a:extLst>
          </p:cNvPr>
          <p:cNvSpPr/>
          <p:nvPr/>
        </p:nvSpPr>
        <p:spPr>
          <a:xfrm>
            <a:off x="6196692" y="3455247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57CDC27-DDF7-B496-9DB3-F05F4E453919}"/>
              </a:ext>
            </a:extLst>
          </p:cNvPr>
          <p:cNvSpPr/>
          <p:nvPr/>
        </p:nvSpPr>
        <p:spPr>
          <a:xfrm>
            <a:off x="3445273" y="3860850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AD969C1-81D1-4F01-ECF5-F15B2DD49512}"/>
              </a:ext>
            </a:extLst>
          </p:cNvPr>
          <p:cNvSpPr/>
          <p:nvPr/>
        </p:nvSpPr>
        <p:spPr>
          <a:xfrm>
            <a:off x="3485651" y="3881971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7928BE-A7FD-FF3B-B772-B12EDFBA0D40}"/>
              </a:ext>
            </a:extLst>
          </p:cNvPr>
          <p:cNvSpPr/>
          <p:nvPr/>
        </p:nvSpPr>
        <p:spPr>
          <a:xfrm>
            <a:off x="5324226" y="385685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312AAC-3A5A-A870-7990-57B967D7B649}"/>
              </a:ext>
            </a:extLst>
          </p:cNvPr>
          <p:cNvSpPr/>
          <p:nvPr/>
        </p:nvSpPr>
        <p:spPr>
          <a:xfrm>
            <a:off x="5364604" y="3877973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8FEAF7-BD05-C636-2C4D-729266B395E7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928411-395E-369C-C3A2-F43020AEFA5F}"/>
              </a:ext>
            </a:extLst>
          </p:cNvPr>
          <p:cNvSpPr txBox="1"/>
          <p:nvPr/>
        </p:nvSpPr>
        <p:spPr>
          <a:xfrm>
            <a:off x="3014486" y="4274445"/>
            <a:ext cx="827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❌</a:t>
            </a:r>
            <a:endParaRPr lang="en-US" sz="28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0413C66-0B85-53F8-A5FB-C12D8677F174}"/>
              </a:ext>
            </a:extLst>
          </p:cNvPr>
          <p:cNvCxnSpPr/>
          <p:nvPr/>
        </p:nvCxnSpPr>
        <p:spPr>
          <a:xfrm flipV="1">
            <a:off x="2378698" y="2917660"/>
            <a:ext cx="749514" cy="10215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F86EB841-554C-9C9A-88DA-D5AAABA395F5}"/>
              </a:ext>
            </a:extLst>
          </p:cNvPr>
          <p:cNvCxnSpPr>
            <a:cxnSpLocks/>
          </p:cNvCxnSpPr>
          <p:nvPr/>
        </p:nvCxnSpPr>
        <p:spPr>
          <a:xfrm rot="10800000">
            <a:off x="9023684" y="2917660"/>
            <a:ext cx="402222" cy="10918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2F4765B-F870-8ED6-E387-71137D5E6195}"/>
              </a:ext>
            </a:extLst>
          </p:cNvPr>
          <p:cNvSpPr txBox="1"/>
          <p:nvPr/>
        </p:nvSpPr>
        <p:spPr>
          <a:xfrm>
            <a:off x="890337" y="5209674"/>
            <a:ext cx="3513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Leader election!</a:t>
            </a:r>
          </a:p>
        </p:txBody>
      </p:sp>
    </p:spTree>
    <p:extLst>
      <p:ext uri="{BB962C8B-B14F-4D97-AF65-F5344CB8AC3E}">
        <p14:creationId xmlns:p14="http://schemas.microsoft.com/office/powerpoint/2010/main" val="30499574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18D7-E851-6963-BF1B-23462A34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FF491E-E99B-B74D-0AA7-9328E38A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 failure and election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C17C64-F981-9C69-2BC3-73E2ECFEE3FB}"/>
              </a:ext>
            </a:extLst>
          </p:cNvPr>
          <p:cNvSpPr/>
          <p:nvPr/>
        </p:nvSpPr>
        <p:spPr>
          <a:xfrm>
            <a:off x="9425906" y="3723695"/>
            <a:ext cx="1765290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</a:t>
            </a:r>
            <a:r>
              <a:rPr lang="en-US" dirty="0" err="1"/>
              <a:t>MicroService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D4145-C7DB-6B1C-57C1-31605713AD65}"/>
              </a:ext>
            </a:extLst>
          </p:cNvPr>
          <p:cNvSpPr/>
          <p:nvPr/>
        </p:nvSpPr>
        <p:spPr>
          <a:xfrm>
            <a:off x="613408" y="3653442"/>
            <a:ext cx="1765290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</a:t>
            </a:r>
            <a:r>
              <a:rPr lang="en-US" dirty="0" err="1">
                <a:solidFill>
                  <a:schemeClr val="tx1"/>
                </a:solidFill>
              </a:rPr>
              <a:t>MicroService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B2225-C02B-B326-86F7-A53DCA6150C3}"/>
              </a:ext>
            </a:extLst>
          </p:cNvPr>
          <p:cNvSpPr txBox="1"/>
          <p:nvPr/>
        </p:nvSpPr>
        <p:spPr>
          <a:xfrm>
            <a:off x="5225716" y="509091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Kafka cluster</a:t>
            </a:r>
            <a:endParaRPr lang="en-US" sz="1600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B9CD8-FAEE-F30E-92BF-F7F188782648}"/>
              </a:ext>
            </a:extLst>
          </p:cNvPr>
          <p:cNvSpPr/>
          <p:nvPr/>
        </p:nvSpPr>
        <p:spPr>
          <a:xfrm>
            <a:off x="3718422" y="806116"/>
            <a:ext cx="4367759" cy="42230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0EC52E-7808-8E54-7948-51DA6900F320}"/>
              </a:ext>
            </a:extLst>
          </p:cNvPr>
          <p:cNvSpPr/>
          <p:nvPr/>
        </p:nvSpPr>
        <p:spPr>
          <a:xfrm>
            <a:off x="3974558" y="1813286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0E485-0985-0495-4FA8-C2FCCDEBFBF6}"/>
              </a:ext>
            </a:extLst>
          </p:cNvPr>
          <p:cNvSpPr/>
          <p:nvPr/>
        </p:nvSpPr>
        <p:spPr>
          <a:xfrm>
            <a:off x="5823411" y="1813286"/>
            <a:ext cx="1700461" cy="31167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39228-8758-339B-4240-DE06820682F1}"/>
              </a:ext>
            </a:extLst>
          </p:cNvPr>
          <p:cNvSpPr txBox="1"/>
          <p:nvPr/>
        </p:nvSpPr>
        <p:spPr>
          <a:xfrm>
            <a:off x="3954178" y="1424657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2</a:t>
            </a:r>
            <a:endParaRPr lang="en-US" sz="16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A940D2-1B99-3DD9-6613-B7628A3332A9}"/>
              </a:ext>
            </a:extLst>
          </p:cNvPr>
          <p:cNvSpPr txBox="1"/>
          <p:nvPr/>
        </p:nvSpPr>
        <p:spPr>
          <a:xfrm>
            <a:off x="5771274" y="1413176"/>
            <a:ext cx="1700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Broker 3</a:t>
            </a:r>
            <a:endParaRPr lang="en-US" sz="1600" b="1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50E7CD-7150-E651-94C1-DDEEDBD63FDF}"/>
              </a:ext>
            </a:extLst>
          </p:cNvPr>
          <p:cNvSpPr/>
          <p:nvPr/>
        </p:nvSpPr>
        <p:spPr>
          <a:xfrm>
            <a:off x="4016335" y="1869066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01C687-0D19-E6C2-9D70-362CCDB203AE}"/>
              </a:ext>
            </a:extLst>
          </p:cNvPr>
          <p:cNvSpPr/>
          <p:nvPr/>
        </p:nvSpPr>
        <p:spPr>
          <a:xfrm>
            <a:off x="5931426" y="1861032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A38D02-7A84-657E-3213-607951640E0B}"/>
              </a:ext>
            </a:extLst>
          </p:cNvPr>
          <p:cNvSpPr/>
          <p:nvPr/>
        </p:nvSpPr>
        <p:spPr>
          <a:xfrm>
            <a:off x="6725240" y="1869066"/>
            <a:ext cx="685800" cy="88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296C48-5545-9FD3-4A67-70D52FB5B143}"/>
              </a:ext>
            </a:extLst>
          </p:cNvPr>
          <p:cNvSpPr/>
          <p:nvPr/>
        </p:nvSpPr>
        <p:spPr>
          <a:xfrm>
            <a:off x="4073067" y="1890188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06408E-A6C8-DB20-D0E7-303702B80844}"/>
              </a:ext>
            </a:extLst>
          </p:cNvPr>
          <p:cNvSpPr/>
          <p:nvPr/>
        </p:nvSpPr>
        <p:spPr>
          <a:xfrm>
            <a:off x="5991277" y="1890188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E08279-239B-E917-CD45-2F67AC91C652}"/>
              </a:ext>
            </a:extLst>
          </p:cNvPr>
          <p:cNvSpPr/>
          <p:nvPr/>
        </p:nvSpPr>
        <p:spPr>
          <a:xfrm>
            <a:off x="6765618" y="1890187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B109AB-2171-0038-0927-1C87845E4148}"/>
              </a:ext>
            </a:extLst>
          </p:cNvPr>
          <p:cNvSpPr/>
          <p:nvPr/>
        </p:nvSpPr>
        <p:spPr>
          <a:xfrm>
            <a:off x="5997043" y="2460586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10213C-0E53-6E14-7CD9-FB8764D3DC39}"/>
              </a:ext>
            </a:extLst>
          </p:cNvPr>
          <p:cNvSpPr/>
          <p:nvPr/>
        </p:nvSpPr>
        <p:spPr>
          <a:xfrm>
            <a:off x="4082508" y="2455456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1F4791-40CD-A8BC-969A-A79C1B2DA8D4}"/>
              </a:ext>
            </a:extLst>
          </p:cNvPr>
          <p:cNvSpPr/>
          <p:nvPr/>
        </p:nvSpPr>
        <p:spPr>
          <a:xfrm>
            <a:off x="4626520" y="877542"/>
            <a:ext cx="1414293" cy="59367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 metadata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52D27-EF85-5A6F-5F65-BEAA1ED1D70D}"/>
              </a:ext>
            </a:extLst>
          </p:cNvPr>
          <p:cNvSpPr txBox="1"/>
          <p:nvPr/>
        </p:nvSpPr>
        <p:spPr>
          <a:xfrm>
            <a:off x="6040813" y="913921"/>
            <a:ext cx="2045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Bootstrap broker</a:t>
            </a:r>
            <a:endParaRPr lang="en-US" sz="1600" b="1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01BDE9-42B6-4962-F1D4-D79AB01D51E2}"/>
              </a:ext>
            </a:extLst>
          </p:cNvPr>
          <p:cNvSpPr/>
          <p:nvPr/>
        </p:nvSpPr>
        <p:spPr>
          <a:xfrm>
            <a:off x="4869918" y="1872198"/>
            <a:ext cx="685800" cy="88223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dk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4DB72D-E128-227E-28F6-9D4C7F3BEB48}"/>
              </a:ext>
            </a:extLst>
          </p:cNvPr>
          <p:cNvSpPr/>
          <p:nvPr/>
        </p:nvSpPr>
        <p:spPr>
          <a:xfrm>
            <a:off x="4926650" y="1890187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A91B70-6DB9-370E-5C70-CCF593782671}"/>
              </a:ext>
            </a:extLst>
          </p:cNvPr>
          <p:cNvSpPr/>
          <p:nvPr/>
        </p:nvSpPr>
        <p:spPr>
          <a:xfrm>
            <a:off x="4936091" y="2461610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332FBC-6F20-5F81-3663-EAAF903CFA1D}"/>
              </a:ext>
            </a:extLst>
          </p:cNvPr>
          <p:cNvSpPr/>
          <p:nvPr/>
        </p:nvSpPr>
        <p:spPr>
          <a:xfrm>
            <a:off x="5934545" y="2860696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P1’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CC94F0-1950-ECA4-491D-AAFD6F0E0E2D}"/>
              </a:ext>
            </a:extLst>
          </p:cNvPr>
          <p:cNvSpPr/>
          <p:nvPr/>
        </p:nvSpPr>
        <p:spPr>
          <a:xfrm>
            <a:off x="5991277" y="2878685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902020-E84A-7C42-8353-C6FC06968E2A}"/>
              </a:ext>
            </a:extLst>
          </p:cNvPr>
          <p:cNvSpPr/>
          <p:nvPr/>
        </p:nvSpPr>
        <p:spPr>
          <a:xfrm>
            <a:off x="6000718" y="3450108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1E4279-6B7D-3CE6-2129-02E6E32611B5}"/>
              </a:ext>
            </a:extLst>
          </p:cNvPr>
          <p:cNvSpPr/>
          <p:nvPr/>
        </p:nvSpPr>
        <p:spPr>
          <a:xfrm>
            <a:off x="4047963" y="289657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P2’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F1E529-0293-58FA-E8BC-05BF8C0930F6}"/>
              </a:ext>
            </a:extLst>
          </p:cNvPr>
          <p:cNvSpPr/>
          <p:nvPr/>
        </p:nvSpPr>
        <p:spPr>
          <a:xfrm>
            <a:off x="4089824" y="292019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A4F7FA-1300-296C-D213-EA1FD92D6E28}"/>
              </a:ext>
            </a:extLst>
          </p:cNvPr>
          <p:cNvSpPr/>
          <p:nvPr/>
        </p:nvSpPr>
        <p:spPr>
          <a:xfrm>
            <a:off x="6725240" y="2872958"/>
            <a:ext cx="685800" cy="88223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dk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7E13D8-E3D8-D933-4A7E-AEBF88BCBC01}"/>
              </a:ext>
            </a:extLst>
          </p:cNvPr>
          <p:cNvSpPr/>
          <p:nvPr/>
        </p:nvSpPr>
        <p:spPr>
          <a:xfrm>
            <a:off x="6767101" y="2896575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5045B9-6C8E-EAF9-FE4C-C05A2C9AA7BD}"/>
              </a:ext>
            </a:extLst>
          </p:cNvPr>
          <p:cNvSpPr/>
          <p:nvPr/>
        </p:nvSpPr>
        <p:spPr>
          <a:xfrm>
            <a:off x="5931426" y="3896192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P3’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0277B5-8A72-F58D-22CB-537E9C2BFE77}"/>
              </a:ext>
            </a:extLst>
          </p:cNvPr>
          <p:cNvSpPr/>
          <p:nvPr/>
        </p:nvSpPr>
        <p:spPr>
          <a:xfrm>
            <a:off x="5988158" y="3917314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87DC9A-25B9-4781-0F37-3619018F1C87}"/>
              </a:ext>
            </a:extLst>
          </p:cNvPr>
          <p:cNvSpPr/>
          <p:nvPr/>
        </p:nvSpPr>
        <p:spPr>
          <a:xfrm>
            <a:off x="5997599" y="4482582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0171C4-68A7-B45A-A0CC-C29445348B05}"/>
              </a:ext>
            </a:extLst>
          </p:cNvPr>
          <p:cNvSpPr/>
          <p:nvPr/>
        </p:nvSpPr>
        <p:spPr>
          <a:xfrm>
            <a:off x="4879916" y="2891036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P4’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6912BB4-6BD2-1894-0C15-D67CEFD35485}"/>
              </a:ext>
            </a:extLst>
          </p:cNvPr>
          <p:cNvSpPr/>
          <p:nvPr/>
        </p:nvSpPr>
        <p:spPr>
          <a:xfrm>
            <a:off x="4939767" y="2920192"/>
            <a:ext cx="553453" cy="2646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9BAF96-17B2-A718-9940-9D87F5A48314}"/>
              </a:ext>
            </a:extLst>
          </p:cNvPr>
          <p:cNvSpPr/>
          <p:nvPr/>
        </p:nvSpPr>
        <p:spPr>
          <a:xfrm>
            <a:off x="4945533" y="3490590"/>
            <a:ext cx="553453" cy="2646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284FE48-80BB-F86E-DAD4-4666B82F2455}"/>
              </a:ext>
            </a:extLst>
          </p:cNvPr>
          <p:cNvSpPr/>
          <p:nvPr/>
        </p:nvSpPr>
        <p:spPr>
          <a:xfrm>
            <a:off x="4073067" y="3892195"/>
            <a:ext cx="685800" cy="882238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P5’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4BAA1F-B9C0-2A6E-031D-BE119B3CBCCD}"/>
              </a:ext>
            </a:extLst>
          </p:cNvPr>
          <p:cNvSpPr/>
          <p:nvPr/>
        </p:nvSpPr>
        <p:spPr>
          <a:xfrm>
            <a:off x="4113445" y="3913316"/>
            <a:ext cx="553453" cy="264695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F81152-9605-5890-D4F4-010F3A714927}"/>
              </a:ext>
            </a:extLst>
          </p:cNvPr>
          <p:cNvSpPr txBox="1"/>
          <p:nvPr/>
        </p:nvSpPr>
        <p:spPr>
          <a:xfrm>
            <a:off x="9425906" y="1070811"/>
            <a:ext cx="2214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Replication factor = 3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CCC4AF90-0244-6FF6-BD22-A409FA8BB9C0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378698" y="2917660"/>
            <a:ext cx="1339724" cy="10215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F97DB8FE-5E58-54CB-3AF3-5611AAC09BFC}"/>
              </a:ext>
            </a:extLst>
          </p:cNvPr>
          <p:cNvCxnSpPr>
            <a:cxnSpLocks/>
            <a:endCxn id="7" idx="3"/>
          </p:cNvCxnSpPr>
          <p:nvPr/>
        </p:nvCxnSpPr>
        <p:spPr>
          <a:xfrm rot="10800000">
            <a:off x="8086182" y="2917660"/>
            <a:ext cx="1339727" cy="10918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1650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EBE69-17F6-C728-8511-324A5C5B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C22F55-70B1-54E1-45C0-1272A8C06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 must maintain metadata</a:t>
            </a:r>
          </a:p>
          <a:p>
            <a:pPr lvl="1"/>
            <a:r>
              <a:rPr lang="en-US" dirty="0"/>
              <a:t>Which broker is the leader of which partition</a:t>
            </a:r>
          </a:p>
          <a:p>
            <a:pPr lvl="1"/>
            <a:r>
              <a:rPr lang="en-US" dirty="0"/>
              <a:t>Which replicas are in-sync</a:t>
            </a:r>
          </a:p>
          <a:p>
            <a:pPr lvl="1"/>
            <a:r>
              <a:rPr lang="en-US" dirty="0"/>
              <a:t>Which brokers are alive</a:t>
            </a:r>
          </a:p>
          <a:p>
            <a:r>
              <a:rPr lang="en-US" dirty="0"/>
              <a:t>Metadata changes continuously</a:t>
            </a:r>
          </a:p>
          <a:p>
            <a:pPr lvl="1"/>
            <a:r>
              <a:rPr lang="en-US" dirty="0"/>
              <a:t>Leader elections, broker failures, topic creation/deletion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AB1616-632F-EFC3-EDCB-6B5C3384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coordination</a:t>
            </a:r>
          </a:p>
        </p:txBody>
      </p:sp>
    </p:spTree>
    <p:extLst>
      <p:ext uri="{BB962C8B-B14F-4D97-AF65-F5344CB8AC3E}">
        <p14:creationId xmlns:p14="http://schemas.microsoft.com/office/powerpoint/2010/main" val="34638624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1BE0-B405-1879-B1AE-C848DFC98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6ADBA5-DDA1-12E4-9E27-70AB40B67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nodes must</a:t>
            </a:r>
            <a:r>
              <a:rPr lang="en-US" b="1" i="1" dirty="0"/>
              <a:t> </a:t>
            </a:r>
            <a:r>
              <a:rPr lang="en-US" dirty="0"/>
              <a:t>agree on the same view</a:t>
            </a:r>
          </a:p>
          <a:p>
            <a:r>
              <a:rPr lang="en-US" dirty="0"/>
              <a:t>Cluster metadata requires strong consistency — Kafka handles this internally with </a:t>
            </a:r>
            <a:r>
              <a:rPr lang="en-US" dirty="0" err="1"/>
              <a:t>KRaft</a:t>
            </a:r>
            <a:endParaRPr lang="en-US" dirty="0"/>
          </a:p>
          <a:p>
            <a:r>
              <a:rPr lang="en-US" dirty="0"/>
              <a:t>Raft and Paxos-family algorithms are consensus protocols used to ensure consistency in a distributed system (beyond the scope of this class)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C23263-CC10-ECF8-04D7-21F6DD64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coordination</a:t>
            </a:r>
          </a:p>
        </p:txBody>
      </p:sp>
    </p:spTree>
    <p:extLst>
      <p:ext uri="{BB962C8B-B14F-4D97-AF65-F5344CB8AC3E}">
        <p14:creationId xmlns:p14="http://schemas.microsoft.com/office/powerpoint/2010/main" val="407751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271BF1-2C1A-024D-3E54-975E03208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Events are immutable facts; Kafka is an append-only distributed log</a:t>
            </a:r>
          </a:p>
          <a:p>
            <a:r>
              <a:rPr lang="en-US" dirty="0"/>
              <a:t>Topics organize events into named feeds</a:t>
            </a:r>
          </a:p>
          <a:p>
            <a:r>
              <a:rPr lang="en-US" dirty="0"/>
              <a:t>Partitions enable parallelism and throughput</a:t>
            </a:r>
          </a:p>
          <a:p>
            <a:r>
              <a:rPr lang="en-US" dirty="0"/>
              <a:t>Replication ensures failure tolerance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395439-1DFA-D1F1-9DB8-4A9DAFEC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Kafka summary</a:t>
            </a:r>
          </a:p>
        </p:txBody>
      </p:sp>
    </p:spTree>
    <p:extLst>
      <p:ext uri="{BB962C8B-B14F-4D97-AF65-F5344CB8AC3E}">
        <p14:creationId xmlns:p14="http://schemas.microsoft.com/office/powerpoint/2010/main" val="8445545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BB33A-756D-54B0-FCCB-8F17D437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82052E-6B62-D329-C808-63646305D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Kafka illustrates many strategies and patterns used in many other distributed systems</a:t>
            </a:r>
          </a:p>
          <a:p>
            <a:r>
              <a:rPr lang="en-US" dirty="0"/>
              <a:t>Append-only logs is used in many distributed databases</a:t>
            </a:r>
          </a:p>
          <a:p>
            <a:r>
              <a:rPr lang="en-US" dirty="0"/>
              <a:t>Partitioning is used widely to ensure high throughput</a:t>
            </a:r>
          </a:p>
          <a:p>
            <a:r>
              <a:rPr lang="en-US" dirty="0"/>
              <a:t>Replication is used widely to ensure failure tolerance</a:t>
            </a:r>
          </a:p>
          <a:p>
            <a:r>
              <a:rPr lang="en-US" dirty="0"/>
              <a:t>Metadata management using Paxos/Raft is common for many distributed system (including Kubernetes: next module)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BA717C-D581-62BB-A156-3A8A65A5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Kafka summary</a:t>
            </a:r>
          </a:p>
        </p:txBody>
      </p:sp>
    </p:spTree>
    <p:extLst>
      <p:ext uri="{BB962C8B-B14F-4D97-AF65-F5344CB8AC3E}">
        <p14:creationId xmlns:p14="http://schemas.microsoft.com/office/powerpoint/2010/main" val="1870833509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30506</TotalTime>
  <Words>3552</Words>
  <Application>Microsoft Macintosh PowerPoint</Application>
  <PresentationFormat>Widescreen</PresentationFormat>
  <Paragraphs>1140</Paragraphs>
  <Slides>68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4" baseType="lpstr">
      <vt:lpstr>Arial</vt:lpstr>
      <vt:lpstr>Calibri</vt:lpstr>
      <vt:lpstr>Consolas</vt:lpstr>
      <vt:lpstr>Helvetica</vt:lpstr>
      <vt:lpstr>Wingdings</vt:lpstr>
      <vt:lpstr>Preso 2022 Watertower Stats</vt:lpstr>
      <vt:lpstr>PowerPoint Presentation</vt:lpstr>
      <vt:lpstr>The problem with request/response</vt:lpstr>
      <vt:lpstr>The problem with request/response</vt:lpstr>
      <vt:lpstr>The problem with request/response</vt:lpstr>
      <vt:lpstr>The problem with request/response</vt:lpstr>
      <vt:lpstr>The problem with request/response</vt:lpstr>
      <vt:lpstr>Messages vs events</vt:lpstr>
      <vt:lpstr>What is Apache Kafka?</vt:lpstr>
      <vt:lpstr>Kafka uses the log abstraction</vt:lpstr>
      <vt:lpstr>Kafka topics</vt:lpstr>
      <vt:lpstr>Kafka topics</vt:lpstr>
      <vt:lpstr>Kafka uses a binary protocol</vt:lpstr>
      <vt:lpstr>The Kafka Record</vt:lpstr>
      <vt:lpstr>Events as immutable facts</vt:lpstr>
      <vt:lpstr>Consumer basics – pull vs. push</vt:lpstr>
      <vt:lpstr>Consumer basics – pull vs. push</vt:lpstr>
      <vt:lpstr>Consumer basics – pull vs. push</vt:lpstr>
      <vt:lpstr>Consumer basics – pull vs. push</vt:lpstr>
      <vt:lpstr>Consumer committed state</vt:lpstr>
      <vt:lpstr>Consumer committed state</vt:lpstr>
      <vt:lpstr>Consumer committed state</vt:lpstr>
      <vt:lpstr>Consumer committed state</vt:lpstr>
      <vt:lpstr>Consumer committed state</vt:lpstr>
      <vt:lpstr>Consumer committed state</vt:lpstr>
      <vt:lpstr>Consumer committed state</vt:lpstr>
      <vt:lpstr>Consumer committed state</vt:lpstr>
      <vt:lpstr>Consumer committed state</vt:lpstr>
      <vt:lpstr>At-most once vs. at-least once delivery guarantees</vt:lpstr>
      <vt:lpstr>At-most once vs. at-least once delivery guarantees</vt:lpstr>
      <vt:lpstr>At-most once vs. at-least once delivery guarantees</vt:lpstr>
      <vt:lpstr>At-most once vs. at-least once delivery guarantees</vt:lpstr>
      <vt:lpstr>At-most once vs. at-least once delivery guarantees</vt:lpstr>
      <vt:lpstr>At-most once vs. at-least once delivery guarantees</vt:lpstr>
      <vt:lpstr>At-most once vs. at-least once delivery guarantees</vt:lpstr>
      <vt:lpstr>At-most once vs. at-least once delivery guarantees</vt:lpstr>
      <vt:lpstr>PowerPoint Presentation</vt:lpstr>
      <vt:lpstr>Kafka is a distributed log</vt:lpstr>
      <vt:lpstr>The scalability problem</vt:lpstr>
      <vt:lpstr>Scaling Kafka</vt:lpstr>
      <vt:lpstr>Scaling Kafka</vt:lpstr>
      <vt:lpstr>Scaling Kafka</vt:lpstr>
      <vt:lpstr>Ordering within partitions</vt:lpstr>
      <vt:lpstr>Record to partition mapping</vt:lpstr>
      <vt:lpstr>Record to partition mapping</vt:lpstr>
      <vt:lpstr>Bootstrap broker</vt:lpstr>
      <vt:lpstr>Bootstrap broker</vt:lpstr>
      <vt:lpstr>Bootstrap broker</vt:lpstr>
      <vt:lpstr>Implications of key-based partitioning</vt:lpstr>
      <vt:lpstr>Kafka architecture summary, so far...</vt:lpstr>
      <vt:lpstr>Replication</vt:lpstr>
      <vt:lpstr>Leader and in-sync replicas</vt:lpstr>
      <vt:lpstr>Kafka architecture (only leader partitions)</vt:lpstr>
      <vt:lpstr>Kafka architecture (with replication)</vt:lpstr>
      <vt:lpstr>Write path with replication</vt:lpstr>
      <vt:lpstr>Write path with replication for acks = 1</vt:lpstr>
      <vt:lpstr>Write path with replication for acks = 1</vt:lpstr>
      <vt:lpstr>Write path with replication for acks = 1</vt:lpstr>
      <vt:lpstr>Write path with replication for acks = all</vt:lpstr>
      <vt:lpstr>Write path with replication for acks = all</vt:lpstr>
      <vt:lpstr>Write path with replication for acks = all</vt:lpstr>
      <vt:lpstr>Write path with replication for acks = all</vt:lpstr>
      <vt:lpstr>Leader failure and election</vt:lpstr>
      <vt:lpstr>Leader failure and election</vt:lpstr>
      <vt:lpstr>Leader failure and election</vt:lpstr>
      <vt:lpstr>Metadata coordination</vt:lpstr>
      <vt:lpstr>Metadata coordination</vt:lpstr>
      <vt:lpstr>Kafka summary</vt:lpstr>
      <vt:lpstr>Kafka summary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3116</cp:revision>
  <dcterms:created xsi:type="dcterms:W3CDTF">2019-06-30T03:25:06Z</dcterms:created>
  <dcterms:modified xsi:type="dcterms:W3CDTF">2026-02-20T16:40:21Z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