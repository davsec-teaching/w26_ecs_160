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9"/>
  </p:notesMasterIdLst>
  <p:handoutMasterIdLst>
    <p:handoutMasterId r:id="rId50"/>
  </p:handoutMasterIdLst>
  <p:sldIdLst>
    <p:sldId id="256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2" r:id="rId21"/>
    <p:sldId id="291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1" r:id="rId30"/>
    <p:sldId id="300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Kafka – a distributed event log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BEEF98-D481-B7E3-201D-F7CB2303F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Motivation and big picture</a:t>
            </a:r>
          </a:p>
          <a:p>
            <a:r>
              <a:rPr lang="en-US" dirty="0"/>
              <a:t>Kafka’s core abstraction</a:t>
            </a:r>
          </a:p>
          <a:p>
            <a:r>
              <a:rPr lang="en-US" dirty="0"/>
              <a:t>Producers and consumers</a:t>
            </a:r>
          </a:p>
          <a:p>
            <a:r>
              <a:rPr lang="en-US" dirty="0"/>
              <a:t>Broker architecture and storage</a:t>
            </a:r>
          </a:p>
          <a:p>
            <a:r>
              <a:rPr lang="en-US" dirty="0"/>
              <a:t>Replication and fault tolerance</a:t>
            </a:r>
          </a:p>
          <a:p>
            <a:r>
              <a:rPr lang="en-US" dirty="0"/>
              <a:t>Metadata and coordination</a:t>
            </a:r>
          </a:p>
          <a:p>
            <a:r>
              <a:rPr lang="en-US" dirty="0"/>
              <a:t>Kafka streams and state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FBD680-2ED4-4FD8-5EA7-2E4BDE8A9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66800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C4BB55-F612-34A7-4D95-45D363435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4EA5B58-F5F5-A7A5-D24C-ABB316C0A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event-driven systems?</a:t>
            </a:r>
          </a:p>
        </p:txBody>
      </p:sp>
    </p:spTree>
    <p:extLst>
      <p:ext uri="{BB962C8B-B14F-4D97-AF65-F5344CB8AC3E}">
        <p14:creationId xmlns:p14="http://schemas.microsoft.com/office/powerpoint/2010/main" val="3540677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7F96A-DE4C-E476-119F-7403F713F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8567D55-49E9-469E-5A90-62011EC1C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52E223-244A-8A86-B4A2-1569AE607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request/response to events</a:t>
            </a:r>
          </a:p>
        </p:txBody>
      </p:sp>
    </p:spTree>
    <p:extLst>
      <p:ext uri="{BB962C8B-B14F-4D97-AF65-F5344CB8AC3E}">
        <p14:creationId xmlns:p14="http://schemas.microsoft.com/office/powerpoint/2010/main" val="3500455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EFF70-CDB9-32FA-26A6-70D307FA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C4153C-B1C9-1035-28C4-38B06A4E0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6DA56F-2FF2-4901-D761-AD5EC6C4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Tight vs loose coupling</a:t>
            </a:r>
          </a:p>
        </p:txBody>
      </p:sp>
    </p:spTree>
    <p:extLst>
      <p:ext uri="{BB962C8B-B14F-4D97-AF65-F5344CB8AC3E}">
        <p14:creationId xmlns:p14="http://schemas.microsoft.com/office/powerpoint/2010/main" val="1791157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8E9A8-BB26-3724-4249-417DAA21F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D12373-6630-68A5-F6A5-6A71D8C5F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450F02-1626-8FE3-A868-DCE750B4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vs messages vs events</a:t>
            </a:r>
          </a:p>
        </p:txBody>
      </p:sp>
    </p:spTree>
    <p:extLst>
      <p:ext uri="{BB962C8B-B14F-4D97-AF65-F5344CB8AC3E}">
        <p14:creationId xmlns:p14="http://schemas.microsoft.com/office/powerpoint/2010/main" val="1030819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4143CD-7405-7E01-7ACA-3679670B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DF299B-5399-D9E4-3F11-623EDB5504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Kafka’s core abstraction</a:t>
            </a:r>
          </a:p>
        </p:txBody>
      </p:sp>
    </p:spTree>
    <p:extLst>
      <p:ext uri="{BB962C8B-B14F-4D97-AF65-F5344CB8AC3E}">
        <p14:creationId xmlns:p14="http://schemas.microsoft.com/office/powerpoint/2010/main" val="446537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848140-83AF-656D-3380-99743EA2A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052225C-AAEA-732A-2BE4-583115D0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is a distributed log</a:t>
            </a:r>
          </a:p>
        </p:txBody>
      </p:sp>
    </p:spTree>
    <p:extLst>
      <p:ext uri="{BB962C8B-B14F-4D97-AF65-F5344CB8AC3E}">
        <p14:creationId xmlns:p14="http://schemas.microsoft.com/office/powerpoint/2010/main" val="9172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AAD71-E89E-9D32-C3C0-C89FCFF7A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1D599A-3BCD-EE51-7361-3E124C72A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771C20-9C28-97B6-B736-A655EFFE3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logs matter</a:t>
            </a:r>
          </a:p>
        </p:txBody>
      </p:sp>
    </p:spTree>
    <p:extLst>
      <p:ext uri="{BB962C8B-B14F-4D97-AF65-F5344CB8AC3E}">
        <p14:creationId xmlns:p14="http://schemas.microsoft.com/office/powerpoint/2010/main" val="1134066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A2C1-6B59-D488-E878-DE7D068F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B39171-E83E-5563-DB11-A3F451D7F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38B977-76C1-EAED-57EE-C36E5598E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Append-only as a design principle</a:t>
            </a:r>
          </a:p>
        </p:txBody>
      </p:sp>
    </p:spTree>
    <p:extLst>
      <p:ext uri="{BB962C8B-B14F-4D97-AF65-F5344CB8AC3E}">
        <p14:creationId xmlns:p14="http://schemas.microsoft.com/office/powerpoint/2010/main" val="781029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C1608-F262-CB5B-57DE-C3AD4227D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36EEC0-2FAE-3DA5-7AFC-1B2F4C970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6F7E63-22A1-3419-2852-A7084411A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as named logs</a:t>
            </a:r>
          </a:p>
        </p:txBody>
      </p:sp>
    </p:spTree>
    <p:extLst>
      <p:ext uri="{BB962C8B-B14F-4D97-AF65-F5344CB8AC3E}">
        <p14:creationId xmlns:p14="http://schemas.microsoft.com/office/powerpoint/2010/main" val="571592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35C5E1-F92E-0DD4-F915-D618DA159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89C88B-F415-CDAF-F28E-C1541EB67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and scalability</a:t>
            </a:r>
          </a:p>
        </p:txBody>
      </p:sp>
    </p:spTree>
    <p:extLst>
      <p:ext uri="{BB962C8B-B14F-4D97-AF65-F5344CB8AC3E}">
        <p14:creationId xmlns:p14="http://schemas.microsoft.com/office/powerpoint/2010/main" val="659560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B4937-F991-2530-A89A-1DA670D9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5B51E1-1846-5C33-55B1-F876B8AC1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10AD56-F3D8-F466-7C29-82F317E0F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Key-based partitioning semantics</a:t>
            </a:r>
          </a:p>
        </p:txBody>
      </p:sp>
    </p:spTree>
    <p:extLst>
      <p:ext uri="{BB962C8B-B14F-4D97-AF65-F5344CB8AC3E}">
        <p14:creationId xmlns:p14="http://schemas.microsoft.com/office/powerpoint/2010/main" val="223152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78E21E-39D1-A144-9E5A-203AE0162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53F37-9153-F9D1-E707-4681C6CDA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Producers and consumers</a:t>
            </a:r>
          </a:p>
        </p:txBody>
      </p:sp>
    </p:spTree>
    <p:extLst>
      <p:ext uri="{BB962C8B-B14F-4D97-AF65-F5344CB8AC3E}">
        <p14:creationId xmlns:p14="http://schemas.microsoft.com/office/powerpoint/2010/main" val="3123873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2AFFB5E-D41D-5696-19C1-4D03E3EA9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2EA189-3B5F-A479-52C6-2934CDBA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Producers and event creation</a:t>
            </a:r>
          </a:p>
        </p:txBody>
      </p:sp>
    </p:spTree>
    <p:extLst>
      <p:ext uri="{BB962C8B-B14F-4D97-AF65-F5344CB8AC3E}">
        <p14:creationId xmlns:p14="http://schemas.microsoft.com/office/powerpoint/2010/main" val="35645908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C9910-0EC3-7AA3-29AB-38589E7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0CE7E5-F99C-22BA-1192-6D8EB7CF1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DC0939-9C7E-898C-4B4D-AAD905F9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Events as immutable facts</a:t>
            </a:r>
          </a:p>
        </p:txBody>
      </p:sp>
    </p:spTree>
    <p:extLst>
      <p:ext uri="{BB962C8B-B14F-4D97-AF65-F5344CB8AC3E}">
        <p14:creationId xmlns:p14="http://schemas.microsoft.com/office/powerpoint/2010/main" val="1232541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E9D11-5BEA-2589-0EE9-93DE0757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401D22-F970-EEBC-82A8-BCC70874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A904F0-6084-B1E2-52CE-1128C6FD5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Pull-based consumption</a:t>
            </a:r>
          </a:p>
        </p:txBody>
      </p:sp>
    </p:spTree>
    <p:extLst>
      <p:ext uri="{BB962C8B-B14F-4D97-AF65-F5344CB8AC3E}">
        <p14:creationId xmlns:p14="http://schemas.microsoft.com/office/powerpoint/2010/main" val="4250202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C7DB5-2A84-3E18-DE55-29D75222C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E24E57-8EF5-DADA-7A53-42D66840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47E293C-683F-E4C2-8E58-69F064C43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Fetch requests</a:t>
            </a:r>
          </a:p>
        </p:txBody>
      </p:sp>
    </p:spTree>
    <p:extLst>
      <p:ext uri="{BB962C8B-B14F-4D97-AF65-F5344CB8AC3E}">
        <p14:creationId xmlns:p14="http://schemas.microsoft.com/office/powerpoint/2010/main" val="633684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7F51D-A52C-2C82-4F88-10EE7E72C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B9113D-231B-73B5-4497-9952BCD46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8FF05-34AD-D694-0D52-D5BA2470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Offsets as consumer state</a:t>
            </a:r>
          </a:p>
        </p:txBody>
      </p:sp>
    </p:spTree>
    <p:extLst>
      <p:ext uri="{BB962C8B-B14F-4D97-AF65-F5344CB8AC3E}">
        <p14:creationId xmlns:p14="http://schemas.microsoft.com/office/powerpoint/2010/main" val="3437941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938099-C60D-55D5-A199-19C7388EA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57C938-8054-98D6-E36F-73D60576D9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Broker architecture and storage</a:t>
            </a:r>
          </a:p>
        </p:txBody>
      </p:sp>
    </p:spTree>
    <p:extLst>
      <p:ext uri="{BB962C8B-B14F-4D97-AF65-F5344CB8AC3E}">
        <p14:creationId xmlns:p14="http://schemas.microsoft.com/office/powerpoint/2010/main" val="3000682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F510E-04D9-FF84-0743-0B869C178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6EF9CA-9269-6DB4-AAC9-569DAEB10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64FA78-3D1E-DFB8-ECC4-8AF6AE2F8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broker internals</a:t>
            </a:r>
          </a:p>
        </p:txBody>
      </p:sp>
    </p:spTree>
    <p:extLst>
      <p:ext uri="{BB962C8B-B14F-4D97-AF65-F5344CB8AC3E}">
        <p14:creationId xmlns:p14="http://schemas.microsoft.com/office/powerpoint/2010/main" val="33865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FDC5-E194-A976-C567-16347FD6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A7C1C48-52EB-5652-6A11-6E96988B9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DDD875-5A6C-1783-BDF2-5511515F6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segments and index files</a:t>
            </a:r>
          </a:p>
        </p:txBody>
      </p:sp>
    </p:spTree>
    <p:extLst>
      <p:ext uri="{BB962C8B-B14F-4D97-AF65-F5344CB8AC3E}">
        <p14:creationId xmlns:p14="http://schemas.microsoft.com/office/powerpoint/2010/main" val="42054371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8AEE-036A-559E-F256-FBDA6B9BD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9E3CF-B722-4779-8CDC-797ABC59B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72C71E-4CD0-EFA8-8B71-2874FA29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disk I/O</a:t>
            </a:r>
          </a:p>
        </p:txBody>
      </p:sp>
    </p:spTree>
    <p:extLst>
      <p:ext uri="{BB962C8B-B14F-4D97-AF65-F5344CB8AC3E}">
        <p14:creationId xmlns:p14="http://schemas.microsoft.com/office/powerpoint/2010/main" val="13624223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B3488-26EB-0EE5-653B-31F0D538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2EF3B8-5ADE-D2BC-9BBE-80DE62CBC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E852AD-9D2C-5582-57B7-94791F14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cache and OS interaction</a:t>
            </a:r>
          </a:p>
        </p:txBody>
      </p:sp>
    </p:spTree>
    <p:extLst>
      <p:ext uri="{BB962C8B-B14F-4D97-AF65-F5344CB8AC3E}">
        <p14:creationId xmlns:p14="http://schemas.microsoft.com/office/powerpoint/2010/main" val="26173967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39FAB-26EC-275E-BD9F-DF85A4B6A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737E7B-6FE8-C613-B421-73660A1BF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C92BB4-8E64-7FD6-9373-87644D2E1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Zero-copy transfers</a:t>
            </a:r>
          </a:p>
        </p:txBody>
      </p:sp>
    </p:spTree>
    <p:extLst>
      <p:ext uri="{BB962C8B-B14F-4D97-AF65-F5344CB8AC3E}">
        <p14:creationId xmlns:p14="http://schemas.microsoft.com/office/powerpoint/2010/main" val="359497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A278-BAC8-0240-598A-8F3A64ED3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46D40A-C9A0-DD4F-0920-080F51970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93365-DB71-7DD7-3AE5-8F8473639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Retention – time-based</a:t>
            </a:r>
          </a:p>
        </p:txBody>
      </p:sp>
    </p:spTree>
    <p:extLst>
      <p:ext uri="{BB962C8B-B14F-4D97-AF65-F5344CB8AC3E}">
        <p14:creationId xmlns:p14="http://schemas.microsoft.com/office/powerpoint/2010/main" val="10441717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281B1-2EE8-52EA-0117-EDD3BF3F3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0F1F62-8CA9-C224-AF66-961D118C6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577E82-1703-F4A5-F2D0-61AAE8E5F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Retention – size-based</a:t>
            </a:r>
          </a:p>
        </p:txBody>
      </p:sp>
    </p:spTree>
    <p:extLst>
      <p:ext uri="{BB962C8B-B14F-4D97-AF65-F5344CB8AC3E}">
        <p14:creationId xmlns:p14="http://schemas.microsoft.com/office/powerpoint/2010/main" val="3037891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ECF2-FBC3-6BEB-32FB-F71E7E5AF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1E0FE5-C2E2-7EA2-19B1-FF108AE721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571510-7ABF-3BAE-3EEF-24F5C8F25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compaction</a:t>
            </a:r>
          </a:p>
        </p:txBody>
      </p:sp>
    </p:spTree>
    <p:extLst>
      <p:ext uri="{BB962C8B-B14F-4D97-AF65-F5344CB8AC3E}">
        <p14:creationId xmlns:p14="http://schemas.microsoft.com/office/powerpoint/2010/main" val="2237773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59DC10-7016-7412-9BB1-161103FCB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31791-F8A7-F66B-D2DB-EB4317026F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Replication and fault tolerance</a:t>
            </a:r>
          </a:p>
        </p:txBody>
      </p:sp>
    </p:spTree>
    <p:extLst>
      <p:ext uri="{BB962C8B-B14F-4D97-AF65-F5344CB8AC3E}">
        <p14:creationId xmlns:p14="http://schemas.microsoft.com/office/powerpoint/2010/main" val="2380841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7AD8E-BB85-BC31-23D4-48B92297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EDF527-D4EE-93D5-3409-65226F9D4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2D5B2-DBC7-3FAC-6FD7-411D46000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Replication basics</a:t>
            </a:r>
          </a:p>
        </p:txBody>
      </p:sp>
    </p:spTree>
    <p:extLst>
      <p:ext uri="{BB962C8B-B14F-4D97-AF65-F5344CB8AC3E}">
        <p14:creationId xmlns:p14="http://schemas.microsoft.com/office/powerpoint/2010/main" val="253441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06629-4375-CC91-B8EF-8E80058C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1C944B-2AF3-0FA7-B473-9F9B26779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F1CBD1-0D7F-C6F7-980D-4C82A3562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Leaders and followers</a:t>
            </a:r>
          </a:p>
        </p:txBody>
      </p:sp>
    </p:spTree>
    <p:extLst>
      <p:ext uri="{BB962C8B-B14F-4D97-AF65-F5344CB8AC3E}">
        <p14:creationId xmlns:p14="http://schemas.microsoft.com/office/powerpoint/2010/main" val="3017065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43528-33B3-4BE8-1C6C-AE50AAE7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D2635A-F0F2-A688-B6DB-10A5FF2C1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7A4180-19D6-6BFB-C312-FD53180D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In-Sync Replicas (ISR)</a:t>
            </a:r>
          </a:p>
        </p:txBody>
      </p:sp>
    </p:spTree>
    <p:extLst>
      <p:ext uri="{BB962C8B-B14F-4D97-AF65-F5344CB8AC3E}">
        <p14:creationId xmlns:p14="http://schemas.microsoft.com/office/powerpoint/2010/main" val="10263136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0687-BF89-6F3D-56AA-70973F75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DFEFD4-182D-1CD1-8D06-D4E389A7D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D5FCC-C4C5-DF87-19C9-8EA593A14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path with replication</a:t>
            </a:r>
          </a:p>
        </p:txBody>
      </p:sp>
    </p:spTree>
    <p:extLst>
      <p:ext uri="{BB962C8B-B14F-4D97-AF65-F5344CB8AC3E}">
        <p14:creationId xmlns:p14="http://schemas.microsoft.com/office/powerpoint/2010/main" val="40917620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1356E-1D96-BD5E-04F3-6F06FA525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0F545A-2775-5765-A59C-5CBDC8B2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0593C-AF02-04CC-AF49-91F00400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path with replication</a:t>
            </a:r>
          </a:p>
        </p:txBody>
      </p:sp>
    </p:spTree>
    <p:extLst>
      <p:ext uri="{BB962C8B-B14F-4D97-AF65-F5344CB8AC3E}">
        <p14:creationId xmlns:p14="http://schemas.microsoft.com/office/powerpoint/2010/main" val="28967303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2E6D2-8018-EDC4-7033-DFBF971A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FCF3A2-ACAB-08E5-5929-C36720E46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35099-E8F2-FE10-773B-3870D75EC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happens when leader fails</a:t>
            </a:r>
          </a:p>
        </p:txBody>
      </p:sp>
    </p:spTree>
    <p:extLst>
      <p:ext uri="{BB962C8B-B14F-4D97-AF65-F5344CB8AC3E}">
        <p14:creationId xmlns:p14="http://schemas.microsoft.com/office/powerpoint/2010/main" val="31841338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ED48C-34DA-3E0D-249A-789AF490D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D5A0C0-E0DF-45E8-DB7F-E1C26EB01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8E28B17-44E4-5D44-D207-BADD95BB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Consistency guarantees</a:t>
            </a:r>
          </a:p>
        </p:txBody>
      </p:sp>
    </p:spTree>
    <p:extLst>
      <p:ext uri="{BB962C8B-B14F-4D97-AF65-F5344CB8AC3E}">
        <p14:creationId xmlns:p14="http://schemas.microsoft.com/office/powerpoint/2010/main" val="4066059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62C46F-42CB-F637-5777-76F715A19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7196-E1AA-F27A-102A-45DFC81B5D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Metadata and Coordination</a:t>
            </a:r>
          </a:p>
        </p:txBody>
      </p:sp>
    </p:spTree>
    <p:extLst>
      <p:ext uri="{BB962C8B-B14F-4D97-AF65-F5344CB8AC3E}">
        <p14:creationId xmlns:p14="http://schemas.microsoft.com/office/powerpoint/2010/main" val="4221544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DB8DEC-57F5-2A5B-52B6-E0214D518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A320F9-C898-B6E8-8A23-C6229FC80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metadata</a:t>
            </a:r>
          </a:p>
        </p:txBody>
      </p:sp>
    </p:spTree>
    <p:extLst>
      <p:ext uri="{BB962C8B-B14F-4D97-AF65-F5344CB8AC3E}">
        <p14:creationId xmlns:p14="http://schemas.microsoft.com/office/powerpoint/2010/main" val="38918922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9E451-2E65-58F0-D627-EACD63C89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B1467A-171A-F702-6EF9-B9B79752C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A04E6C-CD08-6212-79B5-11D0E6FEB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Zookeeper (old architecture)</a:t>
            </a:r>
          </a:p>
        </p:txBody>
      </p:sp>
    </p:spTree>
    <p:extLst>
      <p:ext uri="{BB962C8B-B14F-4D97-AF65-F5344CB8AC3E}">
        <p14:creationId xmlns:p14="http://schemas.microsoft.com/office/powerpoint/2010/main" val="12911548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5C2D9-7CEB-25D5-F477-275B3B2C4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88D41A-E34C-B7F6-C798-0BC0124FD7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C4DF63-3DB4-C32F-310D-A9BD68A0D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KRaft</a:t>
            </a:r>
            <a:r>
              <a:rPr lang="en-US" dirty="0"/>
              <a:t> (new architecture)</a:t>
            </a:r>
          </a:p>
        </p:txBody>
      </p:sp>
    </p:spTree>
    <p:extLst>
      <p:ext uri="{BB962C8B-B14F-4D97-AF65-F5344CB8AC3E}">
        <p14:creationId xmlns:p14="http://schemas.microsoft.com/office/powerpoint/2010/main" val="1203805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C01BD-918E-ECEF-02F3-BC40EBB2E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F55785-984F-8B99-85A7-9DA021BEB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961CC6-5A51-414D-9DC2-26A1CE7E1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16416849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1B597-62AC-9777-7506-CB422EE6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D9309-2DE1-2328-CAE6-15483E6D9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E7622-B42A-A077-BA2F-D894D1F1F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Broker membership and heartbeat</a:t>
            </a:r>
          </a:p>
        </p:txBody>
      </p:sp>
    </p:spTree>
    <p:extLst>
      <p:ext uri="{BB962C8B-B14F-4D97-AF65-F5344CB8AC3E}">
        <p14:creationId xmlns:p14="http://schemas.microsoft.com/office/powerpoint/2010/main" val="24608746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EAD120-1AB2-D4DE-3407-3A16B87B7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820E3-37D7-F22A-E646-544CDD7861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Kafka streams and state</a:t>
            </a:r>
          </a:p>
        </p:txBody>
      </p:sp>
    </p:spTree>
    <p:extLst>
      <p:ext uri="{BB962C8B-B14F-4D97-AF65-F5344CB8AC3E}">
        <p14:creationId xmlns:p14="http://schemas.microsoft.com/office/powerpoint/2010/main" val="2225307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876A72-891E-073E-A615-1741DDD91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1331A2-FCEF-B914-3641-128B04EAE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as a stream</a:t>
            </a:r>
          </a:p>
        </p:txBody>
      </p:sp>
    </p:spTree>
    <p:extLst>
      <p:ext uri="{BB962C8B-B14F-4D97-AF65-F5344CB8AC3E}">
        <p14:creationId xmlns:p14="http://schemas.microsoft.com/office/powerpoint/2010/main" val="15615704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F01F9-0011-894D-BE4D-D5446641D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DD715C-62A1-D1DC-6B2C-C40AA86FC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3A65C2-08EE-7DB9-EFEA-53480FF08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Stateless processing with Kafka</a:t>
            </a:r>
          </a:p>
        </p:txBody>
      </p:sp>
    </p:spTree>
    <p:extLst>
      <p:ext uri="{BB962C8B-B14F-4D97-AF65-F5344CB8AC3E}">
        <p14:creationId xmlns:p14="http://schemas.microsoft.com/office/powerpoint/2010/main" val="18195845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EBF8B7-07BB-42B6-2F86-062AEE03F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4D197C-2261-E87E-D49F-1AFCE55F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Stateful processing with Kafka streams</a:t>
            </a:r>
          </a:p>
        </p:txBody>
      </p:sp>
    </p:spTree>
    <p:extLst>
      <p:ext uri="{BB962C8B-B14F-4D97-AF65-F5344CB8AC3E}">
        <p14:creationId xmlns:p14="http://schemas.microsoft.com/office/powerpoint/2010/main" val="25699118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B1FEBA-2591-AFD0-DE5B-ADDD9F01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FB9C2F-D2E0-CCF1-E39E-EE77F7D78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Materialized views and </a:t>
            </a:r>
            <a:r>
              <a:rPr lang="en-US" dirty="0" err="1"/>
              <a:t>KSqlDB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875770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9999</TotalTime>
  <Words>201</Words>
  <Application>Microsoft Office PowerPoint</Application>
  <PresentationFormat>Widescreen</PresentationFormat>
  <Paragraphs>57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Outline</vt:lpstr>
      <vt:lpstr>Why event-driven systems?</vt:lpstr>
      <vt:lpstr>From request/response to events</vt:lpstr>
      <vt:lpstr>Tight vs loose coupling</vt:lpstr>
      <vt:lpstr>Commands vs messages vs events</vt:lpstr>
      <vt:lpstr>PowerPoint Presentation</vt:lpstr>
      <vt:lpstr>Kafka is a distributed log</vt:lpstr>
      <vt:lpstr>Why logs matter</vt:lpstr>
      <vt:lpstr>Append-only as a design principle</vt:lpstr>
      <vt:lpstr>Topics as named logs</vt:lpstr>
      <vt:lpstr>Partitions and scalability</vt:lpstr>
      <vt:lpstr>Key-based partitioning semantics</vt:lpstr>
      <vt:lpstr>PowerPoint Presentation</vt:lpstr>
      <vt:lpstr>Producers and event creation</vt:lpstr>
      <vt:lpstr>Events as immutable facts</vt:lpstr>
      <vt:lpstr>Pull-based consumption</vt:lpstr>
      <vt:lpstr>Fetch requests</vt:lpstr>
      <vt:lpstr>Offsets as consumer state</vt:lpstr>
      <vt:lpstr>PowerPoint Presentation</vt:lpstr>
      <vt:lpstr>Kafka broker internals</vt:lpstr>
      <vt:lpstr>Log segments and index files</vt:lpstr>
      <vt:lpstr>Sequential disk I/O</vt:lpstr>
      <vt:lpstr>Page cache and OS interaction</vt:lpstr>
      <vt:lpstr>Zero-copy transfers</vt:lpstr>
      <vt:lpstr>Retention – time-based</vt:lpstr>
      <vt:lpstr>Retention – size-based</vt:lpstr>
      <vt:lpstr>Log compaction</vt:lpstr>
      <vt:lpstr>PowerPoint Presentation</vt:lpstr>
      <vt:lpstr>Replication basics</vt:lpstr>
      <vt:lpstr>Leaders and followers</vt:lpstr>
      <vt:lpstr>In-Sync Replicas (ISR)</vt:lpstr>
      <vt:lpstr>Write path with replication</vt:lpstr>
      <vt:lpstr>Read path with replication</vt:lpstr>
      <vt:lpstr>What happens when leader fails</vt:lpstr>
      <vt:lpstr>Consistency guarantees</vt:lpstr>
      <vt:lpstr>PowerPoint Presentation</vt:lpstr>
      <vt:lpstr>Cluster metadata</vt:lpstr>
      <vt:lpstr>Zookeeper (old architecture)</vt:lpstr>
      <vt:lpstr>KRaft (new architecture)</vt:lpstr>
      <vt:lpstr>Controller responsibilities</vt:lpstr>
      <vt:lpstr>Broker membership and heartbeat</vt:lpstr>
      <vt:lpstr>PowerPoint Presentation</vt:lpstr>
      <vt:lpstr>Kafka as a stream</vt:lpstr>
      <vt:lpstr>Stateless processing with Kafka</vt:lpstr>
      <vt:lpstr>Stateful processing with Kafka streams</vt:lpstr>
      <vt:lpstr>Materialized views and KSqlDB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1203</cp:revision>
  <dcterms:created xsi:type="dcterms:W3CDTF">2019-06-30T03:25:06Z</dcterms:created>
  <dcterms:modified xsi:type="dcterms:W3CDTF">2025-12-20T20:23:59Z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