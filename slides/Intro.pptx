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8"/>
  </p:notesMasterIdLst>
  <p:handoutMasterIdLst>
    <p:handoutMasterId r:id="rId19"/>
  </p:handoutMasterIdLst>
  <p:sldIdLst>
    <p:sldId id="256" r:id="rId2"/>
    <p:sldId id="298" r:id="rId3"/>
    <p:sldId id="257" r:id="rId4"/>
    <p:sldId id="258" r:id="rId5"/>
    <p:sldId id="265" r:id="rId6"/>
    <p:sldId id="266" r:id="rId7"/>
    <p:sldId id="272" r:id="rId8"/>
    <p:sldId id="278" r:id="rId9"/>
    <p:sldId id="1092" r:id="rId10"/>
    <p:sldId id="1094" r:id="rId11"/>
    <p:sldId id="279" r:id="rId12"/>
    <p:sldId id="1095" r:id="rId13"/>
    <p:sldId id="271" r:id="rId14"/>
    <p:sldId id="273" r:id="rId15"/>
    <p:sldId id="1096" r:id="rId16"/>
    <p:sldId id="297" r:id="rId17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3399"/>
    <a:srgbClr val="FFD5D5"/>
    <a:srgbClr val="0000FF"/>
    <a:srgbClr val="B9B9FF"/>
    <a:srgbClr val="DDDDFF"/>
    <a:srgbClr val="E6E0EC"/>
    <a:srgbClr val="00823B"/>
    <a:srgbClr val="FFB3B3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84867" autoAdjust="0"/>
  </p:normalViewPr>
  <p:slideViewPr>
    <p:cSldViewPr snapToGrid="0">
      <p:cViewPr varScale="1">
        <p:scale>
          <a:sx n="94" d="100"/>
          <a:sy n="94" d="100"/>
        </p:scale>
        <p:origin x="13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6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If we find evidence, we will report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we won’t go out of our way looking for evidence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Focus on teaching</a:t>
            </a:r>
          </a:p>
        </p:txBody>
      </p:sp>
    </p:spTree>
    <p:extLst>
      <p:ext uri="{BB962C8B-B14F-4D97-AF65-F5344CB8AC3E}">
        <p14:creationId xmlns:p14="http://schemas.microsoft.com/office/powerpoint/2010/main" val="266311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Perspective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people have different ideas</a:t>
            </a:r>
          </a:p>
        </p:txBody>
      </p:sp>
    </p:spTree>
    <p:extLst>
      <p:ext uri="{BB962C8B-B14F-4D97-AF65-F5344CB8AC3E}">
        <p14:creationId xmlns:p14="http://schemas.microsoft.com/office/powerpoint/2010/main" val="3390229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E4E1-F73C-1469-ABCF-E4298F31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5A9D-8A6B-536F-4DA2-BDF37EEE8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C00F5-5232-15D1-1A19-F2303CBF7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54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8942-C923-CA2C-D571-E564165B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8C065-026A-FF27-7E1C-8017F2659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231C8-0204-8332-A44C-DF0AC8BB3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930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26CD-D3AF-C257-AB78-97AE0ADF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50D4C-E75D-562A-51B5-AAFCDB10A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786BF-77FD-2247-BD80-30B7650D5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dimensions</a:t>
            </a:r>
          </a:p>
        </p:txBody>
      </p:sp>
    </p:spTree>
    <p:extLst>
      <p:ext uri="{BB962C8B-B14F-4D97-AF65-F5344CB8AC3E}">
        <p14:creationId xmlns:p14="http://schemas.microsoft.com/office/powerpoint/2010/main" val="3970925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Sunday, December 21,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Sunday, December 21,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Sunday, December 21,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Sunday, December 21,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0241" y="5466332"/>
            <a:ext cx="4711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AFFE10B8-FF50-4557-9ED8-E3FFB0CBA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6696F96-BE01-5647-CDCB-DE7A5BC7486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0607" y="5951500"/>
            <a:ext cx="11470787" cy="435939"/>
          </a:xfrm>
          <a:noFill/>
        </p:spPr>
        <p:txBody>
          <a:bodyPr>
            <a:spAutoFit/>
          </a:bodyPr>
          <a:lstStyle>
            <a:lvl1pPr marL="0" indent="0" algn="ctr">
              <a:buNone/>
              <a:defRPr sz="2400" b="1" i="1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takeaway bullet</a:t>
            </a:r>
          </a:p>
        </p:txBody>
      </p:sp>
    </p:spTree>
    <p:extLst>
      <p:ext uri="{BB962C8B-B14F-4D97-AF65-F5344CB8AC3E}">
        <p14:creationId xmlns:p14="http://schemas.microsoft.com/office/powerpoint/2010/main" val="7698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Sunday, December 21,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tpalit@ucdavis.edu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gabbai@ucdavis.edu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800" dirty="0"/>
              <a:t>ECS 160</a:t>
            </a:r>
            <a:br>
              <a:rPr lang="en-US" sz="4800" dirty="0"/>
            </a:br>
            <a:r>
              <a:rPr lang="en-US" sz="4800" dirty="0"/>
              <a:t>Software Engineering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539151"/>
            <a:ext cx="9871710" cy="976289"/>
          </a:xfrm>
        </p:spPr>
        <p:txBody>
          <a:bodyPr/>
          <a:lstStyle/>
          <a:p>
            <a:r>
              <a:rPr lang="en-US" dirty="0"/>
              <a:t>Instructor: Tapti Palit</a:t>
            </a:r>
          </a:p>
          <a:p>
            <a:r>
              <a:rPr lang="en-US" dirty="0"/>
              <a:t>Teaching Assistant: Gabe Bai</a:t>
            </a:r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736FE-58EE-2428-D415-964C3DFE8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 and TA introductions</a:t>
            </a:r>
          </a:p>
          <a:p>
            <a:r>
              <a:rPr lang="en-US" dirty="0"/>
              <a:t>Course information and policies</a:t>
            </a:r>
          </a:p>
          <a:p>
            <a:r>
              <a:rPr lang="en-US" dirty="0"/>
              <a:t>Software engineering overview</a:t>
            </a:r>
          </a:p>
          <a:p>
            <a:r>
              <a:rPr lang="en-US" dirty="0"/>
              <a:t>Course details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0188F9-AAD3-2C3E-E5A5-64A127B7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0628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565A31-9C25-3A5F-36B9-5D3AE2A62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Tapti Palit</a:t>
            </a:r>
          </a:p>
          <a:p>
            <a:r>
              <a:rPr lang="en-US" dirty="0"/>
              <a:t>Background: Software security, program analysis, systems</a:t>
            </a:r>
          </a:p>
          <a:p>
            <a:pPr lvl="1"/>
            <a:r>
              <a:rPr lang="en-US" dirty="0"/>
              <a:t>Ph.D. at SUNY Stony Brook, postdoc at Purdue University</a:t>
            </a:r>
          </a:p>
          <a:p>
            <a:r>
              <a:rPr lang="en-US" dirty="0"/>
              <a:t>Contact details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tpalit@ucdavis.edu</a:t>
            </a:r>
            <a:endParaRPr lang="en-US" dirty="0"/>
          </a:p>
          <a:p>
            <a:pPr lvl="1"/>
            <a:r>
              <a:rPr lang="en-US" dirty="0"/>
              <a:t>Email subject must contain “</a:t>
            </a:r>
            <a:r>
              <a:rPr lang="en-US" b="1" dirty="0"/>
              <a:t>W26 ECS 160</a:t>
            </a:r>
            <a:r>
              <a:rPr lang="en-US" dirty="0"/>
              <a:t>” followed by the actual subject</a:t>
            </a:r>
          </a:p>
          <a:p>
            <a:pPr lvl="1"/>
            <a:r>
              <a:rPr lang="en-US" dirty="0"/>
              <a:t>Office hours: Wednesday 2 PM – 4 PM (Zoom* / TBD)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A2CC51-2202-B9F6-C9C0-2D35E6B1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details</a:t>
            </a:r>
          </a:p>
        </p:txBody>
      </p:sp>
    </p:spTree>
    <p:extLst>
      <p:ext uri="{BB962C8B-B14F-4D97-AF65-F5344CB8AC3E}">
        <p14:creationId xmlns:p14="http://schemas.microsoft.com/office/powerpoint/2010/main" val="218575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2B49F4-7C7C-DC91-6F2C-4E82FDB44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 Gabe Bai</a:t>
            </a:r>
          </a:p>
          <a:p>
            <a:r>
              <a:rPr lang="en-US" dirty="0"/>
              <a:t>Background:</a:t>
            </a:r>
          </a:p>
          <a:p>
            <a:pPr lvl="1"/>
            <a:r>
              <a:rPr lang="en-US" dirty="0"/>
              <a:t>PhD student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gabbai@ucdavis.edu</a:t>
            </a:r>
            <a:endParaRPr lang="en-US" dirty="0"/>
          </a:p>
          <a:p>
            <a:r>
              <a:rPr lang="en-US" dirty="0"/>
              <a:t>Office hours: TBD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D94F4C-26A9-A8E2-8B67-1B4695E7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 details</a:t>
            </a:r>
          </a:p>
        </p:txBody>
      </p:sp>
    </p:spTree>
    <p:extLst>
      <p:ext uri="{BB962C8B-B14F-4D97-AF65-F5344CB8AC3E}">
        <p14:creationId xmlns:p14="http://schemas.microsoft.com/office/powerpoint/2010/main" val="352508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8F75C-667D-E086-42CA-A33CF3C7F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Class timings</a:t>
            </a:r>
          </a:p>
          <a:p>
            <a:pPr lvl="1"/>
            <a:r>
              <a:rPr lang="en-US" dirty="0"/>
              <a:t>Lectures - </a:t>
            </a:r>
            <a:r>
              <a:rPr lang="de-DE" dirty="0"/>
              <a:t>MWF 9 AM – 9:50 AM in Veihmeyer Hall 212</a:t>
            </a:r>
            <a:endParaRPr lang="en-US" dirty="0"/>
          </a:p>
          <a:p>
            <a:pPr lvl="1"/>
            <a:r>
              <a:rPr lang="en-US" dirty="0"/>
              <a:t>Discussion – </a:t>
            </a:r>
          </a:p>
          <a:p>
            <a:r>
              <a:rPr lang="en-US" dirty="0"/>
              <a:t>Lectures and discussion will be recorded and uploaded on Canvas</a:t>
            </a:r>
          </a:p>
          <a:p>
            <a:r>
              <a:rPr lang="en-US" dirty="0"/>
              <a:t>Course page: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Most slides already up</a:t>
            </a:r>
          </a:p>
          <a:p>
            <a:r>
              <a:rPr lang="en-US" dirty="0"/>
              <a:t>Piazza link:</a:t>
            </a:r>
          </a:p>
          <a:p>
            <a:r>
              <a:rPr lang="en-US" dirty="0"/>
              <a:t>Textbooks:</a:t>
            </a:r>
          </a:p>
          <a:p>
            <a:pPr lvl="1"/>
            <a:r>
              <a:rPr lang="en-US" dirty="0"/>
              <a:t>Required: None</a:t>
            </a:r>
          </a:p>
          <a:p>
            <a:pPr lvl="1"/>
            <a:r>
              <a:rPr lang="en-US" dirty="0"/>
              <a:t>Recommended: check the course website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6776C-2B16-D7EE-9833-E03A7A12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</p:spTree>
    <p:extLst>
      <p:ext uri="{BB962C8B-B14F-4D97-AF65-F5344CB8AC3E}">
        <p14:creationId xmlns:p14="http://schemas.microsoft.com/office/powerpoint/2010/main" val="148284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5E7C08-9EC6-B0D4-9368-42976AEF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79FA1-6CE8-148E-7C93-4FF20FC81DB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1 midterm, 1 final</a:t>
            </a:r>
          </a:p>
          <a:p>
            <a:r>
              <a:rPr lang="en-US" dirty="0"/>
              <a:t>4 HWs – done solo</a:t>
            </a:r>
          </a:p>
          <a:p>
            <a:r>
              <a:rPr lang="en-US" dirty="0"/>
              <a:t>5-6 reading/video discussion on </a:t>
            </a:r>
            <a:r>
              <a:rPr lang="en-US" dirty="0" err="1"/>
              <a:t>Perusall</a:t>
            </a:r>
            <a:r>
              <a:rPr lang="en-US" dirty="0"/>
              <a:t> </a:t>
            </a:r>
          </a:p>
          <a:p>
            <a:r>
              <a:rPr lang="en-US" dirty="0"/>
              <a:t>5 </a:t>
            </a:r>
            <a:r>
              <a:rPr lang="en-US" b="1" dirty="0"/>
              <a:t>in-class</a:t>
            </a:r>
            <a:r>
              <a:rPr lang="en-US" dirty="0"/>
              <a:t> quiz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6358AD-2B02-AECB-0218-D4B9572F4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253409"/>
              </p:ext>
            </p:extLst>
          </p:nvPr>
        </p:nvGraphicFramePr>
        <p:xfrm>
          <a:off x="7311818" y="1576399"/>
          <a:ext cx="3657599" cy="2665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705">
                  <a:extLst>
                    <a:ext uri="{9D8B030D-6E8A-4147-A177-3AD203B41FA5}">
                      <a16:colId xmlns:a16="http://schemas.microsoft.com/office/drawing/2014/main" val="2826240859"/>
                    </a:ext>
                  </a:extLst>
                </a:gridCol>
                <a:gridCol w="1751894">
                  <a:extLst>
                    <a:ext uri="{9D8B030D-6E8A-4147-A177-3AD203B41FA5}">
                      <a16:colId xmlns:a16="http://schemas.microsoft.com/office/drawing/2014/main" val="2804284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527648"/>
                  </a:ext>
                </a:extLst>
              </a:tr>
              <a:tr h="417689">
                <a:tc>
                  <a:txBody>
                    <a:bodyPr/>
                    <a:lstStyle/>
                    <a:p>
                      <a:r>
                        <a:rPr lang="en-US" dirty="0"/>
                        <a:t>Midterm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44120"/>
                  </a:ext>
                </a:extLst>
              </a:tr>
              <a:tr h="428977"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80223"/>
                  </a:ext>
                </a:extLst>
              </a:tr>
              <a:tr h="428977">
                <a:tc>
                  <a:txBody>
                    <a:bodyPr/>
                    <a:lstStyle/>
                    <a:p>
                      <a:r>
                        <a:rPr lang="en-US" dirty="0"/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439713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r>
                        <a:rPr lang="en-US" dirty="0"/>
                        <a:t>In-class quiz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8835"/>
                  </a:ext>
                </a:extLst>
              </a:tr>
              <a:tr h="621838">
                <a:tc>
                  <a:txBody>
                    <a:bodyPr/>
                    <a:lstStyle/>
                    <a:p>
                      <a:r>
                        <a:rPr lang="en-US" dirty="0"/>
                        <a:t>Reading/video reflections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7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2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BEC138D-7987-C3BA-0648-B16B5600F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Standard UC Davis grade cutoffs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Might be curved on top of these cutoffs </a:t>
            </a:r>
            <a:r>
              <a:rPr lang="en-US" i="1" dirty="0"/>
              <a:t>per instructor’s discretion</a:t>
            </a:r>
          </a:p>
          <a:p>
            <a:r>
              <a:rPr lang="en-US" dirty="0"/>
              <a:t>No extra credit assignments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74B77D-24A2-71BE-BE62-0D8FA2A4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Grade cutoffs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B8AB0-7193-657A-F356-2A660724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786" y="215986"/>
            <a:ext cx="1558070" cy="393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4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95FA18-8320-B247-A97B-B682AB79C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Inter-group collaboration and discussion is permitted</a:t>
            </a:r>
          </a:p>
          <a:p>
            <a:pPr lvl="1"/>
            <a:r>
              <a:rPr lang="en-US" dirty="0"/>
              <a:t>Copying code is not permitted</a:t>
            </a:r>
          </a:p>
          <a:p>
            <a:r>
              <a:rPr lang="en-US" dirty="0"/>
              <a:t>Using AI to understand concepts, exceptions, or compilation errors is permitted</a:t>
            </a:r>
          </a:p>
          <a:p>
            <a:r>
              <a:rPr lang="en-US" dirty="0"/>
              <a:t>Using AI as a “search engine” is allowed</a:t>
            </a:r>
          </a:p>
          <a:p>
            <a:r>
              <a:rPr lang="en-US" dirty="0"/>
              <a:t>Using any sort of AI-integration in IDEs is not permitted (Copilot, Cursor,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Turning in AI-generated code is not permitted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F8473-50AC-D18C-5974-B8CF6DEB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 and AI policies</a:t>
            </a:r>
          </a:p>
        </p:txBody>
      </p:sp>
    </p:spTree>
    <p:extLst>
      <p:ext uri="{BB962C8B-B14F-4D97-AF65-F5344CB8AC3E}">
        <p14:creationId xmlns:p14="http://schemas.microsoft.com/office/powerpoint/2010/main" val="301070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209113-70BD-A872-4C3D-A80CDA935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69D53-A07E-E297-101D-53B5B417CF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Modern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425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E04096-B394-1BFE-9D41-9B9C7444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distributed</a:t>
            </a:r>
          </a:p>
          <a:p>
            <a:r>
              <a:rPr lang="en-US" dirty="0"/>
              <a:t>Is systems engineering</a:t>
            </a:r>
          </a:p>
          <a:p>
            <a:r>
              <a:rPr lang="en-US" dirty="0"/>
              <a:t>Is rapidly evolving</a:t>
            </a:r>
          </a:p>
          <a:p>
            <a:r>
              <a:rPr lang="en-US" dirty="0"/>
              <a:t>LLMs and automation raise the bar for humans</a:t>
            </a:r>
          </a:p>
          <a:p>
            <a:pPr lvl="1"/>
            <a:r>
              <a:rPr lang="en-US" b="1" i="1" dirty="0"/>
              <a:t>… ECS 160 takes these concerns into account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DB9F04-FC9C-147A-AE16-85D1D6A2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75216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1D97-B935-97EF-FA17-02177CDE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B54C3-2741-69AB-9837-F8183DAF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platform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B4F02-F591-71E8-2BEE-99E2C14F63EC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8AD6DB-0BDF-86F0-B4A1-36817334D6A1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251E93-B39F-04EA-48F5-B306D2DCC0C5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B364AC-AEB4-8E14-B8DD-F529C59F312B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1EB1BC-97E1-8092-31A9-88B7643750AA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35F60D-0E93-AE94-F2CE-8F69245ADDAE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F8F157-A59A-8AAD-8C15-32B0E6F22E17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21B368-DB87-08A6-2A82-B9E49C00AC9A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969C3E-7182-5584-E679-A27B03E2FEEB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DBEF9-E9DC-55D7-1AFC-7A267957B78B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A6C5CF-D82C-8EFB-7E80-5B13FC70B500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70D0C4-A12C-481E-CD19-D03081595E09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628155-1E1D-C536-3633-3236C63A8B71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6718F-A3E9-BBB1-E742-A8A5FF35E141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5E01C-3AFC-5B0E-1AF2-F7B9F74248C8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0C9490-5B17-0FD5-EDFF-1DF6E26F868B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00444D-9F64-C791-AA5E-26DCBCD51A6E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C0907D-78B6-9C49-B77B-775E1CDF12EB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85C9EF-4417-9E29-D58B-721AED504EB2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ABEEA2-8F96-034D-F47B-5907D3DCBAAE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DA20DD-A638-5ACF-CCF5-14CC3F5C8F7D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441E8-770D-EBD9-D78B-7D2251578655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A95DAF-7DF7-63E3-9963-86DA867FF321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C95B0E8-1650-9494-7E7D-33EB966FD4C2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5D0A07-6453-AC65-D411-C50B85DC517B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E345E5-9A87-12D5-7FED-E22A6523A082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462CFA-AF19-882D-6AF3-23E95D1D0A28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6B25697-E082-794D-810C-DFD7E47B99ED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254F9B2-61A4-7DC8-793D-7712D447F061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49BC71-EB30-DCD5-5034-E8DCD8AFBBDE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A0E26E4-8A91-039C-4632-E3081C8C92D6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8A5462-E530-4F15-54E5-C0EF52078FC7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1A8FCC-6B71-BB58-8A47-B8D95172AA95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D54B31-D9CB-DD62-7C11-F1D6FC752716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BC8246-24C8-CFE4-4293-8BDBCF53245E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377A03-C28D-0608-32AB-4AA592659DA1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BD202A-829B-76D9-0B45-4B81C3D20E57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93CD26-F80F-D392-C26C-7A1EF143FC3B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12F5EC-AB8C-10C5-2B29-A02A2CAE0F2A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4DB8E7E-014B-3C7A-BCF1-C6AE771DAD9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1BF0A22-C5B8-D300-702F-C2EDF8AF02E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EA32E85-AF59-5905-4FDF-492265C3F1A0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D08A41B-A436-3ABD-A382-037EC790A2DF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3F8674EA-A33F-A83E-6591-AC9B0499D372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944F7117-22AE-0319-EF7A-A4C03C971E60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BBB694EC-E021-0F34-3FEC-F22166C59A4D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30140B54-8C75-0D2E-1465-E9D779B9FD9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1BE1A6A1-462F-63D8-0723-135A28BC6574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A26CF1F1-8D5E-CA7E-5361-86A68D10CD9E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98DF38E0-74F5-E80E-7414-DEB305691D2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B87C4073-7FAC-56CC-CCA4-861BD4DCB8EA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BB96C30D-2607-9E61-D2A0-7681A799C261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B71F06FD-1FFE-8905-8EB3-85C8F8D2FDAD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7FBB9DDC-4DBA-1A45-8362-E7AF6D13125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FDD4A529-9584-051D-4C98-1E4880AEC8A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4587FFE5-84DF-8962-290F-11C969C29B0B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6595FECA-6890-B9A8-9A3B-158357BE4DC7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757FFD11-BE92-CCCE-ED67-1F13D1B02255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6FA9552C-9894-84FD-8AE7-6CAE0282B6AA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1C7FFC95-317A-DBBB-BD82-C9CABD751901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68D6BC86-3D98-EDB2-3F59-F547C4E35151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69B6BD1D-066E-2BE3-32FD-EF8C8F68B869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40329D3A-9658-9009-E43A-329F172E5A4D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603F647-DB1E-3467-55DC-F33C69A964CC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FCF63A16-4E5A-452D-7507-A44399043DD4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1942DBA1-6989-2F96-2DE9-524C9457D029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4B96AB6E-F22D-1BA3-9F8A-13B5B7FB95C5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AC9F9B26-9865-0DB1-0DB9-DD11DE5E9ED3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DD01D83E-F465-708D-FDC8-D27B568C4C5A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21756BA6-CC3D-C35C-6EB7-A447431B648A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13D2EB79-D56E-E77B-3161-16DEE33073FE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90D37FEE-15D4-CD0C-AF54-0A50DEE5FAC5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159330F4-0516-8641-403A-6D7A2FC3E492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4EB64FA-95C1-CF4C-48CA-A25249AA9435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490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BCE8D6-B1C5-98ED-A325-F6A75485E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components</a:t>
            </a:r>
          </a:p>
          <a:p>
            <a:r>
              <a:rPr lang="en-US" dirty="0"/>
              <a:t>Composing systems</a:t>
            </a:r>
          </a:p>
          <a:p>
            <a:r>
              <a:rPr lang="en-US" dirty="0"/>
              <a:t>Validating components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01EB90-4F34-C41B-F98E-50DD3698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ECS 160 modules</a:t>
            </a:r>
          </a:p>
        </p:txBody>
      </p:sp>
    </p:spTree>
    <p:extLst>
      <p:ext uri="{BB962C8B-B14F-4D97-AF65-F5344CB8AC3E}">
        <p14:creationId xmlns:p14="http://schemas.microsoft.com/office/powerpoint/2010/main" val="231914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7824-9893-9D77-7C68-C9125587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48591E-287E-80F9-48CA-61F1D685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9E4842-E4E9-5473-D263-92D19E03F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887553"/>
              </p:ext>
            </p:extLst>
          </p:nvPr>
        </p:nvGraphicFramePr>
        <p:xfrm>
          <a:off x="1362075" y="895751"/>
          <a:ext cx="8391524" cy="4311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9395">
                  <a:extLst>
                    <a:ext uri="{9D8B030D-6E8A-4147-A177-3AD203B41FA5}">
                      <a16:colId xmlns:a16="http://schemas.microsoft.com/office/drawing/2014/main" val="2826240859"/>
                    </a:ext>
                  </a:extLst>
                </a:gridCol>
                <a:gridCol w="4093680">
                  <a:extLst>
                    <a:ext uri="{9D8B030D-6E8A-4147-A177-3AD203B41FA5}">
                      <a16:colId xmlns:a16="http://schemas.microsoft.com/office/drawing/2014/main" val="280428476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710721433"/>
                    </a:ext>
                  </a:extLst>
                </a:gridCol>
                <a:gridCol w="1409699">
                  <a:extLst>
                    <a:ext uri="{9D8B030D-6E8A-4147-A177-3AD203B41FA5}">
                      <a16:colId xmlns:a16="http://schemas.microsoft.com/office/drawing/2014/main" val="2095410442"/>
                    </a:ext>
                  </a:extLst>
                </a:gridCol>
              </a:tblGrid>
              <a:tr h="368605">
                <a:tc>
                  <a:txBody>
                    <a:bodyPr/>
                    <a:lstStyle/>
                    <a:p>
                      <a:r>
                        <a:rPr lang="en-US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527648"/>
                  </a:ext>
                </a:extLst>
              </a:tr>
              <a:tr h="621838">
                <a:tc>
                  <a:txBody>
                    <a:bodyPr/>
                    <a:lstStyle/>
                    <a:p>
                      <a:r>
                        <a:rPr lang="en-US" dirty="0"/>
                        <a:t>Building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Design patterns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Metaprogramming using reflection and 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44120"/>
                  </a:ext>
                </a:extLst>
              </a:tr>
              <a:tr h="621838">
                <a:tc>
                  <a:txBody>
                    <a:bodyPr/>
                    <a:lstStyle/>
                    <a:p>
                      <a:r>
                        <a:rPr lang="en-US" dirty="0"/>
                        <a:t>Composing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Microservices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Message queue, pub/sub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Event-driven design using Kafka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Orchestration using Kubernetes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Serverless and Function-as-a-Service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80223"/>
                  </a:ext>
                </a:extLst>
              </a:tr>
              <a:tr h="377048">
                <a:tc>
                  <a:txBody>
                    <a:bodyPr/>
                    <a:lstStyle/>
                    <a:p>
                      <a:r>
                        <a:rPr lang="en-US" dirty="0"/>
                        <a:t>Validating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Property testing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Fuzz testing and sanitizers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Symbolic execution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Abstract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8835"/>
                  </a:ext>
                </a:extLst>
              </a:tr>
              <a:tr h="377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29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300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2034-86F1-BD7C-8EA6-57A1AA7D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05426B-7A76-18FF-C91B-D7BB547E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ORM using Java annotation and reflection</a:t>
            </a:r>
          </a:p>
          <a:p>
            <a:r>
              <a:rPr lang="en-US" dirty="0"/>
              <a:t>Social media data analysis using Spring Boot micro-services and Kafka</a:t>
            </a:r>
          </a:p>
          <a:p>
            <a:r>
              <a:rPr lang="en-US" dirty="0"/>
              <a:t>[Tentative] Deployment of microservices on Google Cloud and Kubernetes</a:t>
            </a:r>
          </a:p>
          <a:p>
            <a:r>
              <a:rPr lang="en-US" dirty="0"/>
              <a:t>Fuzz testing a provided library with custom mutators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51ECE2-8D40-13E9-9092-E5340D85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assignments</a:t>
            </a:r>
          </a:p>
        </p:txBody>
      </p:sp>
    </p:spTree>
    <p:extLst>
      <p:ext uri="{BB962C8B-B14F-4D97-AF65-F5344CB8AC3E}">
        <p14:creationId xmlns:p14="http://schemas.microsoft.com/office/powerpoint/2010/main" val="2606561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450F51-6DDF-CFAE-815C-4F111BC1B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Experience with “app development”</a:t>
            </a:r>
          </a:p>
          <a:p>
            <a:r>
              <a:rPr lang="en-US" dirty="0"/>
              <a:t>Knowledge of networking fundamentals</a:t>
            </a:r>
          </a:p>
          <a:p>
            <a:r>
              <a:rPr lang="en-US" dirty="0"/>
              <a:t>Knowledge of OS fundamentals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EF2146-473C-8AF5-E241-C450D0AF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Ideal 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184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BB4090-494B-576F-FFCE-C01E486C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Enrollment cap will likely not increase</a:t>
            </a:r>
          </a:p>
          <a:p>
            <a:r>
              <a:rPr lang="en-US" dirty="0"/>
              <a:t>Limited by room size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AE58FE-6188-3BE1-8051-8417B312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335994989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5345</TotalTime>
  <Words>577</Words>
  <Application>Microsoft Office PowerPoint</Application>
  <PresentationFormat>Widescreen</PresentationFormat>
  <Paragraphs>158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Helvetica</vt:lpstr>
      <vt:lpstr>Preso 2022 Watertower Stats</vt:lpstr>
      <vt:lpstr>PowerPoint Presentation</vt:lpstr>
      <vt:lpstr>Agenda</vt:lpstr>
      <vt:lpstr>Instructor details</vt:lpstr>
      <vt:lpstr>TA details</vt:lpstr>
      <vt:lpstr>Course information</vt:lpstr>
      <vt:lpstr>Course components</vt:lpstr>
      <vt:lpstr>Grade cutoffs</vt:lpstr>
      <vt:lpstr>Academic integrity and AI policies</vt:lpstr>
      <vt:lpstr>PowerPoint Presentation</vt:lpstr>
      <vt:lpstr>Modern software engineering</vt:lpstr>
      <vt:lpstr>Social media platform</vt:lpstr>
      <vt:lpstr>ECS 160 modules</vt:lpstr>
      <vt:lpstr>Syllabus overview</vt:lpstr>
      <vt:lpstr>HW assignments</vt:lpstr>
      <vt:lpstr>Ideal background</vt:lpstr>
      <vt:lpstr>Logistics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866</cp:revision>
  <dcterms:created xsi:type="dcterms:W3CDTF">2019-06-30T03:25:06Z</dcterms:created>
  <dcterms:modified xsi:type="dcterms:W3CDTF">2025-12-22T04:05:13Z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