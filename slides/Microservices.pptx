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D5_3E2CC6FC.xml" ContentType="application/vnd.ms-powerpoint.comments+xml"/>
  <Override PartName="/ppt/notesSlides/notesSlide11.xml" ContentType="application/vnd.openxmlformats-officedocument.presentationml.notesSlide+xml"/>
  <Override PartName="/ppt/comments/modernComment_1B6_18D66556.xml" ContentType="application/vnd.ms-powerpoint.comments+xml"/>
  <Override PartName="/ppt/comments/modernComment_1A5_2AF52289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modernComment_1D1_FE1D9077.xml" ContentType="application/vnd.ms-powerpoint.comment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52"/>
  </p:notesMasterIdLst>
  <p:handoutMasterIdLst>
    <p:handoutMasterId r:id="rId53"/>
  </p:handoutMasterIdLst>
  <p:sldIdLst>
    <p:sldId id="256" r:id="rId2"/>
    <p:sldId id="467" r:id="rId3"/>
    <p:sldId id="310" r:id="rId4"/>
    <p:sldId id="287" r:id="rId5"/>
    <p:sldId id="314" r:id="rId6"/>
    <p:sldId id="319" r:id="rId7"/>
    <p:sldId id="320" r:id="rId8"/>
    <p:sldId id="315" r:id="rId9"/>
    <p:sldId id="318" r:id="rId10"/>
    <p:sldId id="321" r:id="rId11"/>
    <p:sldId id="322" r:id="rId12"/>
    <p:sldId id="313" r:id="rId13"/>
    <p:sldId id="288" r:id="rId14"/>
    <p:sldId id="289" r:id="rId15"/>
    <p:sldId id="461" r:id="rId16"/>
    <p:sldId id="468" r:id="rId17"/>
    <p:sldId id="469" r:id="rId18"/>
    <p:sldId id="470" r:id="rId19"/>
    <p:sldId id="400" r:id="rId20"/>
    <p:sldId id="264" r:id="rId21"/>
    <p:sldId id="272" r:id="rId22"/>
    <p:sldId id="444" r:id="rId23"/>
    <p:sldId id="273" r:id="rId24"/>
    <p:sldId id="438" r:id="rId25"/>
    <p:sldId id="439" r:id="rId26"/>
    <p:sldId id="276" r:id="rId27"/>
    <p:sldId id="275" r:id="rId28"/>
    <p:sldId id="284" r:id="rId29"/>
    <p:sldId id="285" r:id="rId30"/>
    <p:sldId id="404" r:id="rId31"/>
    <p:sldId id="406" r:id="rId32"/>
    <p:sldId id="419" r:id="rId33"/>
    <p:sldId id="421" r:id="rId34"/>
    <p:sldId id="446" r:id="rId35"/>
    <p:sldId id="460" r:id="rId36"/>
    <p:sldId id="447" r:id="rId37"/>
    <p:sldId id="448" r:id="rId38"/>
    <p:sldId id="466" r:id="rId39"/>
    <p:sldId id="465" r:id="rId40"/>
    <p:sldId id="277" r:id="rId41"/>
    <p:sldId id="296" r:id="rId42"/>
    <p:sldId id="295" r:id="rId43"/>
    <p:sldId id="278" r:id="rId44"/>
    <p:sldId id="279" r:id="rId45"/>
    <p:sldId id="423" r:id="rId46"/>
    <p:sldId id="464" r:id="rId47"/>
    <p:sldId id="281" r:id="rId48"/>
    <p:sldId id="297" r:id="rId49"/>
    <p:sldId id="298" r:id="rId50"/>
    <p:sldId id="260" r:id="rId51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61" autoAdjust="0"/>
  </p:normalViewPr>
  <p:slideViewPr>
    <p:cSldViewPr snapToGrid="0">
      <p:cViewPr varScale="1">
        <p:scale>
          <a:sx n="85" d="100"/>
          <a:sy n="85" d="100"/>
        </p:scale>
        <p:origin x="1752" y="96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omments/modernComment_1A5_2AF5228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7B80AFA-A463-4081-9293-96056A19AA29}" authorId="{D1E25939-87C3-F195-CD78-1C83D60CD0CB}" created="2025-12-20T06:18:36.736">
    <pc:sldMkLst xmlns:pc="http://schemas.microsoft.com/office/powerpoint/2013/main/command">
      <pc:docMk/>
      <pc:sldMk cId="720708233" sldId="421"/>
    </pc:sldMkLst>
    <p188:txBody>
      <a:bodyPr/>
      <a:lstStyle/>
      <a:p>
        <a:r>
          <a:rPr lang="en-US"/>
          <a:t>TODO
</a:t>
        </a:r>
      </a:p>
    </p188:txBody>
  </p188:cm>
</p188:cmLst>
</file>

<file path=ppt/comments/modernComment_1B6_18D6655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911008A-F631-4131-94CF-833561F5081F}" authorId="{D1E25939-87C3-F195-CD78-1C83D60CD0CB}" created="2025-12-21T23:13:32.478">
    <pc:sldMkLst xmlns:pc="http://schemas.microsoft.com/office/powerpoint/2013/main/command">
      <pc:docMk/>
      <pc:sldMk cId="416703830" sldId="438"/>
    </pc:sldMkLst>
    <p188:txBody>
      <a:bodyPr/>
      <a:lstStyle/>
      <a:p>
        <a:r>
          <a:rPr lang="en-US"/>
          <a:t>Add a plot of memory usage runtime for a monolithic application</a:t>
        </a:r>
      </a:p>
    </p188:txBody>
  </p188:cm>
</p188:cmLst>
</file>

<file path=ppt/comments/modernComment_1D1_FE1D907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A36547A-FE22-4BD2-8DDD-F5E93D0D2A12}" authorId="{D1E25939-87C3-F195-CD78-1C83D60CD0CB}" created="2025-12-20T08:36:43.129">
    <pc:sldMkLst xmlns:pc="http://schemas.microsoft.com/office/powerpoint/2013/main/command">
      <pc:docMk/>
      <pc:sldMk cId="4263350391" sldId="465"/>
    </pc:sldMkLst>
    <p188:replyLst>
      <p188:reply id="{26689DD9-3459-4C6B-A73D-5C6A74D0ABB6}" authorId="{D1E25939-87C3-F195-CD78-1C83D60CD0CB}" created="2025-12-20T20:04:29.088">
        <p188:txBody>
          <a:bodyPr/>
          <a:lstStyle/>
          <a:p>
            <a:r>
              <a:rPr lang="en-US"/>
              <a:t>Add data-structures</a:t>
            </a:r>
          </a:p>
        </p188:txBody>
      </p188:reply>
      <p188:reply id="{CAB70193-1D2A-453E-9DE2-0A140CC67D72}" authorId="{D1E25939-87C3-F195-CD78-1C83D60CD0CB}" created="2025-12-21T23:00:44.139">
        <p188:txBody>
          <a:bodyPr/>
          <a:lstStyle/>
          <a:p>
            <a:r>
              <a:rPr lang="en-US"/>
              <a:t>Say this is a log, but the semantics is queue-based and not time-based. 
</a:t>
            </a:r>
          </a:p>
        </p188:txBody>
      </p188:reply>
      <p188:reply id="{DD2F3DC5-D8F0-441D-B018-E189EB68491B}" authorId="{D1E25939-87C3-F195-CD78-1C83D60CD0CB}" created="2025-12-21T23:00:50.366">
        <p188:txBody>
          <a:bodyPr/>
          <a:lstStyle/>
          <a:p>
            <a:r>
              <a:rPr lang="en-US"/>
              <a:t>Once consumed - done</a:t>
            </a:r>
          </a:p>
        </p188:txBody>
      </p188:reply>
    </p188:replyLst>
    <p188:txBody>
      <a:bodyPr/>
      <a:lstStyle/>
      <a:p>
        <a:r>
          <a:rPr lang="en-US"/>
          <a:t>TO COMPLETE</a:t>
        </a:r>
      </a:p>
    </p188:txBody>
  </p188:cm>
</p188:cmLst>
</file>

<file path=ppt/comments/modernComment_1D5_3E2CC6F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786C993-1EB8-4A57-97B0-44EBE49B4F14}" authorId="{D1E25939-87C3-F195-CD78-1C83D60CD0CB}" created="2025-12-21T23:11:51.631">
    <pc:sldMkLst xmlns:pc="http://schemas.microsoft.com/office/powerpoint/2013/main/command">
      <pc:docMk/>
      <pc:sldMk cId="1043121916" sldId="469"/>
    </pc:sldMkLst>
    <p188:txBody>
      <a:bodyPr/>
      <a:lstStyle/>
      <a:p>
        <a:r>
          <a:rPr lang="en-US"/>
          <a:t>Talk about semantics of queue vs. log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652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HW1/2</a:t>
            </a:r>
          </a:p>
        </p:txBody>
      </p:sp>
    </p:spTree>
    <p:extLst>
      <p:ext uri="{BB962C8B-B14F-4D97-AF65-F5344CB8AC3E}">
        <p14:creationId xmlns:p14="http://schemas.microsoft.com/office/powerpoint/2010/main" val="3926622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7C3B-D1A9-0161-7D40-9E57132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DF737-C3DC-490E-A681-24ADAE142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17AB1-6554-BF8E-8676-9369AE648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285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Sunday, December 21,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D5_3E2CC6FC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8/10/relationships/comments" Target="../comments/modernComment_1B6_18D6655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GDhkWc4gYA" TargetMode="External"/><Relationship Id="rId2" Type="http://schemas.microsoft.com/office/2018/10/relationships/comments" Target="../comments/modernComment_1A5_2AF5228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D1_FE1D907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mailto:john.doe@example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www.youtube.com/watch?v=WzO6_4jeliM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bSe_JBSk5w4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jpeg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A08F9F7-C3DA-D334-492F-F70E27930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Service boundaries</a:t>
            </a:r>
          </a:p>
          <a:p>
            <a:r>
              <a:rPr lang="en-US" dirty="0"/>
              <a:t>Communication (sync vs. async)</a:t>
            </a:r>
          </a:p>
          <a:p>
            <a:r>
              <a:rPr lang="en-US" dirty="0"/>
              <a:t>Data per service</a:t>
            </a:r>
          </a:p>
          <a:p>
            <a:pPr lvl="1"/>
            <a:r>
              <a:rPr lang="en-US" dirty="0"/>
              <a:t>Logs (events)</a:t>
            </a:r>
          </a:p>
          <a:p>
            <a:pPr lvl="1"/>
            <a:r>
              <a:rPr lang="en-US" dirty="0"/>
              <a:t>LSM (state)</a:t>
            </a:r>
          </a:p>
          <a:p>
            <a:pPr lvl="1"/>
            <a:r>
              <a:rPr lang="en-US" dirty="0"/>
              <a:t>In-memory cache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788D82-4694-EFFD-C8F5-7D659F5CC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06587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(ECS 153)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87F224-00C9-481F-EB38-6B1DB2F7B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System organization</a:t>
            </a:r>
          </a:p>
          <a:p>
            <a:r>
              <a:rPr lang="en-US" dirty="0"/>
              <a:t>Data organization</a:t>
            </a:r>
          </a:p>
          <a:p>
            <a:r>
              <a:rPr lang="en-US" dirty="0"/>
              <a:t>Communication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48761F-AB7D-B36E-B92E-2748519C3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of software architecture styles</a:t>
            </a:r>
          </a:p>
        </p:txBody>
      </p:sp>
    </p:spTree>
    <p:extLst>
      <p:ext uri="{BB962C8B-B14F-4D97-AF65-F5344CB8AC3E}">
        <p14:creationId xmlns:p14="http://schemas.microsoft.com/office/powerpoint/2010/main" val="2607483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4AB92-A1A8-17C2-C184-124A5C5DD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9B57AA-C4E2-C649-2720-A720272CF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System organization</a:t>
            </a:r>
          </a:p>
          <a:p>
            <a:pPr lvl="1"/>
            <a:r>
              <a:rPr lang="en-US" dirty="0"/>
              <a:t>Monolithic and microservices</a:t>
            </a:r>
          </a:p>
          <a:p>
            <a:r>
              <a:rPr lang="en-US" dirty="0"/>
              <a:t>Data organization</a:t>
            </a:r>
          </a:p>
          <a:p>
            <a:r>
              <a:rPr lang="en-US" dirty="0"/>
              <a:t>Communication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A8868F-FF92-B41B-3BAB-307E17D7D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of software architecture styles</a:t>
            </a:r>
          </a:p>
        </p:txBody>
      </p:sp>
    </p:spTree>
    <p:extLst>
      <p:ext uri="{BB962C8B-B14F-4D97-AF65-F5344CB8AC3E}">
        <p14:creationId xmlns:p14="http://schemas.microsoft.com/office/powerpoint/2010/main" val="40780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349E9-094C-68DB-95D3-8AFA98C96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84599F-7F0D-BCAA-C9B6-DA4982E9A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System organization</a:t>
            </a:r>
          </a:p>
          <a:p>
            <a:pPr lvl="1"/>
            <a:r>
              <a:rPr lang="en-US" dirty="0"/>
              <a:t>Monolithic and microservices</a:t>
            </a:r>
          </a:p>
          <a:p>
            <a:r>
              <a:rPr lang="en-US" dirty="0"/>
              <a:t>Data </a:t>
            </a:r>
            <a:r>
              <a:rPr lang="en-US" b="1" dirty="0"/>
              <a:t>per service</a:t>
            </a:r>
          </a:p>
          <a:p>
            <a:pPr lvl="1"/>
            <a:r>
              <a:rPr lang="en-US" dirty="0"/>
              <a:t>LSM (state)</a:t>
            </a:r>
          </a:p>
          <a:p>
            <a:pPr lvl="1"/>
            <a:r>
              <a:rPr lang="en-US" dirty="0"/>
              <a:t>Logs (events)</a:t>
            </a:r>
          </a:p>
          <a:p>
            <a:pPr lvl="1"/>
            <a:r>
              <a:rPr lang="en-US" dirty="0"/>
              <a:t>In-memory caches</a:t>
            </a:r>
          </a:p>
          <a:p>
            <a:r>
              <a:rPr lang="en-US" dirty="0"/>
              <a:t>Communication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8500C9-BAA4-B7AA-3EF9-03FB7D9B7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of software architecture styles</a:t>
            </a:r>
          </a:p>
        </p:txBody>
      </p:sp>
    </p:spTree>
    <p:extLst>
      <p:ext uri="{BB962C8B-B14F-4D97-AF65-F5344CB8AC3E}">
        <p14:creationId xmlns:p14="http://schemas.microsoft.com/office/powerpoint/2010/main" val="10431219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3491-84E5-4DED-AB60-70AF3B988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E76637-8B74-3583-6AC8-0F060D3D1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System organization</a:t>
            </a:r>
          </a:p>
          <a:p>
            <a:pPr lvl="1"/>
            <a:r>
              <a:rPr lang="en-US" dirty="0"/>
              <a:t>Monolithic and microservices</a:t>
            </a:r>
          </a:p>
          <a:p>
            <a:r>
              <a:rPr lang="en-US" dirty="0"/>
              <a:t>Data </a:t>
            </a:r>
            <a:r>
              <a:rPr lang="en-US" b="1" dirty="0"/>
              <a:t>per service</a:t>
            </a:r>
          </a:p>
          <a:p>
            <a:pPr lvl="1"/>
            <a:r>
              <a:rPr lang="en-US" dirty="0"/>
              <a:t>LSM (state)</a:t>
            </a:r>
          </a:p>
          <a:p>
            <a:pPr lvl="1"/>
            <a:r>
              <a:rPr lang="en-US" dirty="0"/>
              <a:t>Logs (events)</a:t>
            </a:r>
          </a:p>
          <a:p>
            <a:pPr lvl="1"/>
            <a:r>
              <a:rPr lang="en-US" dirty="0"/>
              <a:t>In-memory caches</a:t>
            </a:r>
          </a:p>
          <a:p>
            <a:r>
              <a:rPr lang="en-US" dirty="0"/>
              <a:t>Communication architecture </a:t>
            </a:r>
            <a:r>
              <a:rPr lang="en-US" b="1" dirty="0"/>
              <a:t>for microservices</a:t>
            </a:r>
          </a:p>
          <a:p>
            <a:pPr lvl="1"/>
            <a:r>
              <a:rPr lang="en-US" dirty="0"/>
              <a:t>Synchronous (RPC)</a:t>
            </a:r>
          </a:p>
          <a:p>
            <a:pPr lvl="1"/>
            <a:r>
              <a:rPr lang="en-US" dirty="0"/>
              <a:t>Asynchronous (Message queuing, pub-sub)</a:t>
            </a:r>
          </a:p>
          <a:p>
            <a:pPr lvl="1"/>
            <a:r>
              <a:rPr lang="en-US" dirty="0"/>
              <a:t>Event-driven (Kafka – next module)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B1ABC1-36B1-4822-8C01-855EE833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 of software architecture styles</a:t>
            </a:r>
          </a:p>
        </p:txBody>
      </p:sp>
    </p:spTree>
    <p:extLst>
      <p:ext uri="{BB962C8B-B14F-4D97-AF65-F5344CB8AC3E}">
        <p14:creationId xmlns:p14="http://schemas.microsoft.com/office/powerpoint/2010/main" val="4211375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B9C9-FB1D-EA1C-031B-1ED3565B0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ABD4C1-AA5E-A77C-702E-45BC7F7A0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38D1DD-14F3-896A-C99D-BF135F45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CD8F4A-E490-4559-EB4F-242CDF69C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A6F5E01D-FC87-349F-BB93-25BB9EB44D6F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E181471-FCC8-4862-6DBF-20406EFA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9E07941-8450-EC04-7AF6-561B08B6CFC3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867D599-5A08-1165-E254-A24EA1BBDF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E58094E-9BF8-BBE6-DD2D-9D72D3122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D684143-CABD-676F-B958-6FD29640D107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3C31E63-2F23-3630-E9A4-AB8E88481364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2BC64740-5422-B6C1-68C0-973F2FDC3B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DA005D5C-7C9E-28CA-8047-5128F1A6E6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150E66B3-3F3D-78AE-DE3B-B4DBD620B6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0F2D8EB-0B34-E28E-14D5-AC3E9C0AFF3D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EFD277-E616-3307-065E-1B8FF4584AE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944160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 – </a:t>
            </a:r>
            <a:r>
              <a:rPr lang="en-US" b="1" i="1" dirty="0"/>
              <a:t>shared nothing architecture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2024" y="2151589"/>
            <a:ext cx="5495220" cy="321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3408-C036-3326-42ED-69F9988D0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4C968-F27C-C098-EEFF-C9BAE860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CBD5540-79FC-329B-D836-9085235D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754EAA-CC04-6747-5DDA-29F403B1622A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D054BF-557C-AA20-83B2-4259B68F51B2}"/>
              </a:ext>
            </a:extLst>
          </p:cNvPr>
          <p:cNvSpPr txBox="1"/>
          <p:nvPr/>
        </p:nvSpPr>
        <p:spPr>
          <a:xfrm>
            <a:off x="9872888" y="3794522"/>
            <a:ext cx="2138490" cy="11612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 i="1" dirty="0"/>
              <a:t>Finer control over scaling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71BE6-8168-9B34-D787-CFF8284FFAE7}"/>
              </a:ext>
            </a:extLst>
          </p:cNvPr>
          <p:cNvSpPr/>
          <p:nvPr/>
        </p:nvSpPr>
        <p:spPr>
          <a:xfrm>
            <a:off x="6637867" y="2833511"/>
            <a:ext cx="1603022" cy="835378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D829D8-A316-6D17-B3C7-4BCB5E66BFA5}"/>
              </a:ext>
            </a:extLst>
          </p:cNvPr>
          <p:cNvSpPr/>
          <p:nvPr/>
        </p:nvSpPr>
        <p:spPr>
          <a:xfrm>
            <a:off x="8912578" y="4304103"/>
            <a:ext cx="841022" cy="1470592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383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3E8CA4-00C6-28BF-DF33-8A30A8145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Monolithic application can only be deployed as a whole</a:t>
            </a:r>
          </a:p>
          <a:p>
            <a:pPr lvl="1"/>
            <a:r>
              <a:rPr lang="en-US" dirty="0"/>
              <a:t>Therefore, can only be scaled as a whole</a:t>
            </a:r>
          </a:p>
          <a:p>
            <a:r>
              <a:rPr lang="en-US" dirty="0"/>
              <a:t>Microservices are individually deployable</a:t>
            </a:r>
          </a:p>
          <a:p>
            <a:pPr lvl="1"/>
            <a:r>
              <a:rPr lang="en-US" dirty="0"/>
              <a:t>Therefore, they provide finer scaling control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C03EC0-0CB4-A979-F120-6D4E3492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</p:spTree>
    <p:extLst>
      <p:ext uri="{BB962C8B-B14F-4D97-AF65-F5344CB8AC3E}">
        <p14:creationId xmlns:p14="http://schemas.microsoft.com/office/powerpoint/2010/main" val="214242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Microservices simplify automated deployment </a:t>
            </a:r>
          </a:p>
          <a:p>
            <a:r>
              <a:rPr lang="en-US" dirty="0"/>
              <a:t>E.g., pushing to the main branch in GitHub triggers GitHub 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2512784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9489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59450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https://www.youtube.com/watch?v=uGDhkWc4gYA</a:t>
            </a:r>
            <a:endParaRPr lang="en-US" dirty="0"/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7207082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D067BD-AD0B-F45A-77E1-50290F9F0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Automated release of every code change that passes tests directly to production</a:t>
            </a:r>
          </a:p>
          <a:p>
            <a:r>
              <a:rPr lang="en-US" dirty="0"/>
              <a:t>Final stage of a modern CI/CD pipeline</a:t>
            </a:r>
          </a:p>
          <a:p>
            <a:r>
              <a:rPr lang="en-US" dirty="0"/>
              <a:t>Uses containers</a:t>
            </a:r>
          </a:p>
          <a:p>
            <a:r>
              <a:rPr lang="en-US" dirty="0"/>
              <a:t>GitHub Actions OR GitHub App Integration through cloud host</a:t>
            </a:r>
          </a:p>
          <a:p>
            <a:r>
              <a:rPr lang="en-US" dirty="0"/>
              <a:t>GitHub Apps can </a:t>
            </a:r>
            <a:r>
              <a:rPr lang="en-US" b="1" i="1" dirty="0"/>
              <a:t>extend the functionality </a:t>
            </a:r>
            <a:r>
              <a:rPr lang="en-US" dirty="0"/>
              <a:t>of GitHub itself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6281B7-F567-CC6A-3284-23F1B6C04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</a:t>
            </a:r>
          </a:p>
        </p:txBody>
      </p:sp>
    </p:spTree>
    <p:extLst>
      <p:ext uri="{BB962C8B-B14F-4D97-AF65-F5344CB8AC3E}">
        <p14:creationId xmlns:p14="http://schemas.microsoft.com/office/powerpoint/2010/main" val="3391476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B3FEA1-1BBA-E996-FC9D-E740DB334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host integration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68C5B82-BB58-85AC-7182-7DA304D914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Every push to the repo must automatically deploy to the cloud</a:t>
            </a:r>
          </a:p>
          <a:p>
            <a:r>
              <a:rPr lang="en-US" dirty="0"/>
              <a:t>How to deploy?</a:t>
            </a:r>
          </a:p>
          <a:p>
            <a:pPr lvl="1"/>
            <a:r>
              <a:rPr lang="en-US" dirty="0"/>
              <a:t>Provide a </a:t>
            </a:r>
            <a:r>
              <a:rPr lang="en-US" dirty="0" err="1"/>
              <a:t>Dockerfile</a:t>
            </a:r>
            <a:r>
              <a:rPr lang="en-US" dirty="0"/>
              <a:t> that packages and launches the software</a:t>
            </a:r>
          </a:p>
          <a:p>
            <a:r>
              <a:rPr lang="en-US" dirty="0"/>
              <a:t>How to detect new commit pushes?</a:t>
            </a:r>
          </a:p>
          <a:p>
            <a:pPr lvl="1"/>
            <a:r>
              <a:rPr lang="en-US" dirty="0"/>
              <a:t>GitHub Actions</a:t>
            </a:r>
          </a:p>
          <a:p>
            <a:pPr lvl="1"/>
            <a:r>
              <a:rPr lang="en-US" dirty="0"/>
              <a:t>GitHub Apps provided by the Cloud Host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ABA887-7CAE-4F82-B42E-6B6D7FBD2349}"/>
              </a:ext>
            </a:extLst>
          </p:cNvPr>
          <p:cNvSpPr/>
          <p:nvPr/>
        </p:nvSpPr>
        <p:spPr>
          <a:xfrm>
            <a:off x="6176512" y="2434390"/>
            <a:ext cx="1636295" cy="99461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GitHub Repo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160598-606B-0042-9C93-6F6D9EB7F648}"/>
              </a:ext>
            </a:extLst>
          </p:cNvPr>
          <p:cNvSpPr/>
          <p:nvPr/>
        </p:nvSpPr>
        <p:spPr>
          <a:xfrm>
            <a:off x="9767752" y="1904331"/>
            <a:ext cx="1636295" cy="20453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 Host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(AWS, </a:t>
            </a:r>
            <a:r>
              <a:rPr lang="en-US" dirty="0" err="1">
                <a:solidFill>
                  <a:schemeClr val="tx1"/>
                </a:solidFill>
              </a:rPr>
              <a:t>DigitalOcean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linode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1026" name="Picture 2" descr="GitHub Logo and symbol, meaning, history, PNG, brand">
            <a:extLst>
              <a:ext uri="{FF2B5EF4-FFF2-40B4-BE49-F238E27FC236}">
                <a16:creationId xmlns:a16="http://schemas.microsoft.com/office/drawing/2014/main" id="{D5DAD8DD-E1B6-4334-AAEA-52DA034710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4659" y="1513974"/>
            <a:ext cx="1636295" cy="920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4A5921-0E22-AEE1-4DC5-1E30B5690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3946" y="1140650"/>
            <a:ext cx="1815849" cy="113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342416-5920-1074-8CC8-50FC3B77A978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812807" y="2927015"/>
            <a:ext cx="1954945" cy="4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C6607BF-6C82-B3D1-B1F8-910DDF2BCE3F}"/>
              </a:ext>
            </a:extLst>
          </p:cNvPr>
          <p:cNvSpPr/>
          <p:nvPr/>
        </p:nvSpPr>
        <p:spPr>
          <a:xfrm>
            <a:off x="7812806" y="2692400"/>
            <a:ext cx="924793" cy="662406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GitHub App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6C4993-7D15-F41D-1731-E0AC9711A638}"/>
              </a:ext>
            </a:extLst>
          </p:cNvPr>
          <p:cNvSpPr txBox="1"/>
          <p:nvPr/>
        </p:nvSpPr>
        <p:spPr>
          <a:xfrm>
            <a:off x="8737599" y="2434390"/>
            <a:ext cx="827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deploy</a:t>
            </a:r>
          </a:p>
        </p:txBody>
      </p:sp>
    </p:spTree>
    <p:extLst>
      <p:ext uri="{BB962C8B-B14F-4D97-AF65-F5344CB8AC3E}">
        <p14:creationId xmlns:p14="http://schemas.microsoft.com/office/powerpoint/2010/main" val="1815770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8ED1A5F-BDBB-0F55-E41B-E0AD525ED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DigitalOcean</a:t>
            </a:r>
            <a:r>
              <a:rPr lang="en-US" dirty="0"/>
              <a:t> is a cloud provider, like AWS</a:t>
            </a:r>
          </a:p>
          <a:p>
            <a:pPr lvl="1"/>
            <a:r>
              <a:rPr lang="en-US" dirty="0"/>
              <a:t>Can launch VMs</a:t>
            </a:r>
          </a:p>
          <a:p>
            <a:r>
              <a:rPr lang="en-US" dirty="0"/>
              <a:t>Apps Platform</a:t>
            </a:r>
          </a:p>
          <a:p>
            <a:pPr lvl="1"/>
            <a:r>
              <a:rPr lang="en-US" dirty="0"/>
              <a:t>Managed service that automatically builds, deploys, and scales your apps</a:t>
            </a:r>
          </a:p>
          <a:p>
            <a:pPr lvl="1"/>
            <a:r>
              <a:rPr lang="en-US" dirty="0"/>
              <a:t>Directly from GitHub</a:t>
            </a:r>
          </a:p>
          <a:p>
            <a:r>
              <a:rPr lang="en-US" dirty="0"/>
              <a:t>Following steps similar across many platforms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6B7E56-2772-681A-E881-7E3706DE6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– </a:t>
            </a:r>
            <a:r>
              <a:rPr lang="en-US" dirty="0" err="1"/>
              <a:t>DigitalOcean</a:t>
            </a:r>
            <a:r>
              <a:rPr lang="en-US" dirty="0"/>
              <a:t> integration</a:t>
            </a:r>
          </a:p>
        </p:txBody>
      </p:sp>
    </p:spTree>
    <p:extLst>
      <p:ext uri="{BB962C8B-B14F-4D97-AF65-F5344CB8AC3E}">
        <p14:creationId xmlns:p14="http://schemas.microsoft.com/office/powerpoint/2010/main" val="15210209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6A505B-B92D-3773-FF4C-961FD136C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 --- Build stage ---</a:t>
            </a:r>
          </a:p>
          <a:p>
            <a:r>
              <a:rPr lang="en-US" dirty="0"/>
              <a:t>FROM maven:3.9.8-eclipse-temurin-21 AS build</a:t>
            </a:r>
          </a:p>
          <a:p>
            <a:r>
              <a:rPr lang="en-US" dirty="0"/>
              <a:t>WORKDIR /app</a:t>
            </a:r>
          </a:p>
          <a:p>
            <a:r>
              <a:rPr lang="en-US" dirty="0"/>
              <a:t>COPY pom.xml . # Copy pom.xml into the container</a:t>
            </a:r>
          </a:p>
          <a:p>
            <a:r>
              <a:rPr lang="en-US" dirty="0"/>
              <a:t>COPY </a:t>
            </a:r>
            <a:r>
              <a:rPr lang="en-US" dirty="0" err="1"/>
              <a:t>src</a:t>
            </a:r>
            <a:r>
              <a:rPr lang="en-US" dirty="0"/>
              <a:t> ./</a:t>
            </a:r>
            <a:r>
              <a:rPr lang="en-US" dirty="0" err="1"/>
              <a:t>src</a:t>
            </a:r>
            <a:endParaRPr lang="en-US" dirty="0"/>
          </a:p>
          <a:p>
            <a:r>
              <a:rPr lang="en-US" dirty="0"/>
              <a:t>RUN </a:t>
            </a:r>
            <a:r>
              <a:rPr lang="en-US" dirty="0" err="1"/>
              <a:t>mvn</a:t>
            </a:r>
            <a:r>
              <a:rPr lang="en-US" dirty="0"/>
              <a:t> -q -</a:t>
            </a:r>
            <a:r>
              <a:rPr lang="en-US" dirty="0" err="1"/>
              <a:t>DskipTests</a:t>
            </a:r>
            <a:r>
              <a:rPr lang="en-US" dirty="0"/>
              <a:t> package # Build it!</a:t>
            </a:r>
          </a:p>
          <a:p>
            <a:endParaRPr lang="en-US" dirty="0"/>
          </a:p>
          <a:p>
            <a:r>
              <a:rPr lang="en-US" dirty="0"/>
              <a:t># --- Runtime stage ---</a:t>
            </a:r>
          </a:p>
          <a:p>
            <a:r>
              <a:rPr lang="en-US" dirty="0"/>
              <a:t>FROM eclipse-temurin:21-jre</a:t>
            </a:r>
          </a:p>
          <a:p>
            <a:r>
              <a:rPr lang="en-US" dirty="0"/>
              <a:t>WORKDIR /app</a:t>
            </a:r>
          </a:p>
          <a:p>
            <a:r>
              <a:rPr lang="en-US" dirty="0"/>
              <a:t>COPY --from=build /app/target/*.jar app.jar</a:t>
            </a:r>
          </a:p>
          <a:p>
            <a:r>
              <a:rPr lang="en-US" dirty="0"/>
              <a:t>CMD ["java", "-jar", "app.jar"]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60E959-0332-E6AA-BE36-22EA9ED20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Containerize your app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C9001A-A9BB-2397-4EA7-7157B92539C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build on a base image</a:t>
            </a:r>
          </a:p>
          <a:p>
            <a:pPr lvl="1"/>
            <a:r>
              <a:rPr lang="en-US" dirty="0"/>
              <a:t>maven:3.9.8-eclipse-temurin-21</a:t>
            </a:r>
          </a:p>
          <a:p>
            <a:pPr lvl="1"/>
            <a:r>
              <a:rPr lang="en-US" sz="1050" dirty="0"/>
              <a:t>https://hub.docker.com/layers/library/maven/3.9.8-eclipse-temurin-21/images/sha256-d86bfd73fbfd7e9f0a9554ae23689bd46289f537df4a5aa368fdd1a8c25dd8d0?context=explore</a:t>
            </a:r>
            <a:endParaRPr lang="en-US" dirty="0"/>
          </a:p>
          <a:p>
            <a:pPr lvl="1"/>
            <a:r>
              <a:rPr lang="en-US" dirty="0"/>
              <a:t>eclipse-temurin:21-jre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2041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Message queues and pub-sub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2703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BCD6E6-A012-E619-D2F3-5EB319BD6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RPC</a:t>
            </a:r>
          </a:p>
          <a:p>
            <a:r>
              <a:rPr lang="en-US" dirty="0"/>
              <a:t>Message queue</a:t>
            </a:r>
          </a:p>
          <a:p>
            <a:pPr lvl="1"/>
            <a:r>
              <a:rPr lang="en-US" dirty="0"/>
              <a:t>Data-structures</a:t>
            </a:r>
          </a:p>
          <a:p>
            <a:pPr lvl="1"/>
            <a:r>
              <a:rPr lang="en-US" dirty="0"/>
              <a:t>Persistence</a:t>
            </a:r>
          </a:p>
          <a:p>
            <a:r>
              <a:rPr lang="en-US" dirty="0"/>
              <a:t>Pub/sub</a:t>
            </a:r>
          </a:p>
          <a:p>
            <a:pPr lvl="1"/>
            <a:r>
              <a:rPr lang="en-US" dirty="0"/>
              <a:t>Data-structures</a:t>
            </a:r>
          </a:p>
          <a:p>
            <a:pPr lvl="1"/>
            <a:r>
              <a:rPr lang="en-US" dirty="0"/>
              <a:t>Persistence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B8B875-A56E-01D9-CDE4-2AF643701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42633503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B9F2D-22A7-CC88-C1F4-7803E642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Library/framework gives the illusion that the other microservice is running locally</a:t>
            </a:r>
          </a:p>
          <a:p>
            <a:pPr lvl="1"/>
            <a:r>
              <a:rPr lang="en-US" dirty="0"/>
              <a:t>Protocol that allows a program to execute a procedure on a remote server as if it were local</a:t>
            </a:r>
          </a:p>
          <a:p>
            <a:r>
              <a:rPr lang="en-US" dirty="0"/>
              <a:t>Synchronous communication – caller waits for response before proceeding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6B7FD5-53FD-524A-6E8B-E0B6837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procedure call (RPC)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ADC11C-D3B6-35EE-56FD-8AEE817D1815}"/>
              </a:ext>
            </a:extLst>
          </p:cNvPr>
          <p:cNvGrpSpPr/>
          <p:nvPr/>
        </p:nvGrpSpPr>
        <p:grpSpPr>
          <a:xfrm>
            <a:off x="2836985" y="3739661"/>
            <a:ext cx="6956860" cy="2264324"/>
            <a:chOff x="2142041" y="3516866"/>
            <a:chExt cx="6956860" cy="2264324"/>
          </a:xfrm>
        </p:grpSpPr>
        <p:pic>
          <p:nvPicPr>
            <p:cNvPr id="5124" name="Picture 4" descr="Microservice - Free web icons">
              <a:extLst>
                <a:ext uri="{FF2B5EF4-FFF2-40B4-BE49-F238E27FC236}">
                  <a16:creationId xmlns:a16="http://schemas.microsoft.com/office/drawing/2014/main" id="{F7D82BC4-C285-09E5-EBA8-C09CDB6D9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2041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 descr="Microservice - Free networking icons">
              <a:extLst>
                <a:ext uri="{FF2B5EF4-FFF2-40B4-BE49-F238E27FC236}">
                  <a16:creationId xmlns:a16="http://schemas.microsoft.com/office/drawing/2014/main" id="{3D43B62C-B0B1-6B8C-72ED-175DC3EB07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93548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7B2485-2779-2DD9-BBE6-C7565659BDC8}"/>
                </a:ext>
              </a:extLst>
            </p:cNvPr>
            <p:cNvCxnSpPr/>
            <p:nvPr/>
          </p:nvCxnSpPr>
          <p:spPr>
            <a:xfrm>
              <a:off x="4237892" y="3997566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F0107CB-8001-9816-B4AD-B656757A1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12C362-E15A-BDD9-F53F-12AD9460CB55}"/>
                </a:ext>
              </a:extLst>
            </p:cNvPr>
            <p:cNvSpPr txBox="1"/>
            <p:nvPr/>
          </p:nvSpPr>
          <p:spPr>
            <a:xfrm>
              <a:off x="5259295" y="3516866"/>
              <a:ext cx="957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Request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E1D580-9735-A433-0081-8A79B3A32D9E}"/>
                </a:ext>
              </a:extLst>
            </p:cNvPr>
            <p:cNvSpPr txBox="1"/>
            <p:nvPr/>
          </p:nvSpPr>
          <p:spPr>
            <a:xfrm>
              <a:off x="5260105" y="5032906"/>
              <a:ext cx="1086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Response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CAB65-957D-2C17-5BED-9BCC6D27575A}"/>
                </a:ext>
              </a:extLst>
            </p:cNvPr>
            <p:cNvSpPr txBox="1"/>
            <p:nvPr/>
          </p:nvSpPr>
          <p:spPr>
            <a:xfrm>
              <a:off x="2142041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FB52F21-C219-36EE-FC85-3CBE9F49E0F6}"/>
                </a:ext>
              </a:extLst>
            </p:cNvPr>
            <p:cNvSpPr txBox="1"/>
            <p:nvPr/>
          </p:nvSpPr>
          <p:spPr>
            <a:xfrm>
              <a:off x="7399178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19643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6ACD-FCC8-3D7E-F3A7-32E76558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9D47D5-2DDA-BD47-7300-EE065128F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agnostic: the RPC itself does not depend on the service language</a:t>
            </a:r>
          </a:p>
          <a:p>
            <a:r>
              <a:rPr lang="en-US" dirty="0"/>
              <a:t>Abstracts network details</a:t>
            </a:r>
          </a:p>
          <a:p>
            <a:pPr lvl="1"/>
            <a:r>
              <a:rPr lang="en-US" dirty="0"/>
              <a:t>Typically, over HTTP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29A51-83A7-CB52-5641-507E3E09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key features</a:t>
            </a:r>
          </a:p>
        </p:txBody>
      </p:sp>
    </p:spTree>
    <p:extLst>
      <p:ext uri="{BB962C8B-B14F-4D97-AF65-F5344CB8AC3E}">
        <p14:creationId xmlns:p14="http://schemas.microsoft.com/office/powerpoint/2010/main" val="13874842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A6C8-5421-FC72-2A73-6A16B0B6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A304C-1BA9-A3AC-B838-B56034F77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(e.g. REST APIs)</a:t>
            </a:r>
          </a:p>
          <a:p>
            <a:pPr lvl="1"/>
            <a:r>
              <a:rPr lang="en-US" dirty="0"/>
              <a:t>Uses JSON or XML for data exchange</a:t>
            </a:r>
          </a:p>
          <a:p>
            <a:pPr lvl="1"/>
            <a:r>
              <a:rPr lang="en-US" dirty="0"/>
              <a:t>Human-readable, but larger payloads</a:t>
            </a:r>
          </a:p>
          <a:p>
            <a:r>
              <a:rPr lang="en-US" dirty="0"/>
              <a:t>Binary formats (e.g. 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Uses binary standards (such as </a:t>
            </a:r>
            <a:r>
              <a:rPr lang="en-US" dirty="0" err="1">
                <a:latin typeface="Consolas" panose="020B0609020204030204" pitchFamily="49" charset="0"/>
              </a:rPr>
              <a:t>protobuf</a:t>
            </a:r>
            <a:r>
              <a:rPr lang="en-US" dirty="0"/>
              <a:t>) for serialization</a:t>
            </a:r>
          </a:p>
          <a:p>
            <a:pPr lvl="1"/>
            <a:r>
              <a:rPr lang="en-US" dirty="0"/>
              <a:t>Compact but faster, but less human-readable </a:t>
            </a:r>
          </a:p>
          <a:p>
            <a:pPr lvl="2"/>
            <a:r>
              <a:rPr lang="en-US" dirty="0"/>
              <a:t>… </a:t>
            </a:r>
            <a:r>
              <a:rPr lang="en-US" b="1" i="1" dirty="0"/>
              <a:t>why?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981904-3287-7EE7-FBF4-98A9495F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formats</a:t>
            </a:r>
          </a:p>
        </p:txBody>
      </p:sp>
    </p:spTree>
    <p:extLst>
      <p:ext uri="{BB962C8B-B14F-4D97-AF65-F5344CB8AC3E}">
        <p14:creationId xmlns:p14="http://schemas.microsoft.com/office/powerpoint/2010/main" val="30502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3C86-4C1B-4AC8-C53F-F5FDF92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128E68-C95B-ACB5-3DD0-26D9F972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// GET Request to Fetch a User denoted by ID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</a:t>
            </a:r>
            <a:r>
              <a:rPr lang="en-US" b="1" dirty="0"/>
              <a:t>GET /users/123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// Response</a:t>
            </a:r>
          </a:p>
          <a:p>
            <a:endParaRPr lang="en-US" dirty="0"/>
          </a:p>
          <a:p>
            <a:r>
              <a:rPr lang="en-US" dirty="0"/>
              <a:t>{  </a:t>
            </a:r>
          </a:p>
          <a:p>
            <a:r>
              <a:rPr lang="en-US" dirty="0"/>
              <a:t>	"id": 123,  </a:t>
            </a:r>
          </a:p>
          <a:p>
            <a:r>
              <a:rPr lang="en-US" dirty="0"/>
              <a:t>	"name": "John Doe",  </a:t>
            </a:r>
          </a:p>
          <a:p>
            <a:r>
              <a:rPr lang="en-US" dirty="0"/>
              <a:t>	"email": </a:t>
            </a:r>
            <a:r>
              <a:rPr lang="en-US" dirty="0">
                <a:hlinkClick r:id="rId3"/>
              </a:rPr>
              <a:t>john.doe@example.com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BF3AFE-9AF6-466E-58C1-6551140DF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JSON and REST APIs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BCCF5-0C3B-B981-B560-60AD2023F0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Representational State Transfer (REST) is an architectural style for web services</a:t>
            </a:r>
          </a:p>
          <a:p>
            <a:r>
              <a:rPr lang="en-US" dirty="0"/>
              <a:t>Application/microservice exposes an URL</a:t>
            </a:r>
          </a:p>
          <a:p>
            <a:r>
              <a:rPr lang="en-US" dirty="0"/>
              <a:t>Uses HTTP methods (GET, POST, PUT, DELETE) to perform operations on resources</a:t>
            </a:r>
          </a:p>
          <a:p>
            <a:r>
              <a:rPr lang="en-US" dirty="0"/>
              <a:t>Commonly paired with JSON for data exchange</a:t>
            </a:r>
          </a:p>
        </p:txBody>
      </p:sp>
    </p:spTree>
    <p:extLst>
      <p:ext uri="{BB962C8B-B14F-4D97-AF65-F5344CB8AC3E}">
        <p14:creationId xmlns:p14="http://schemas.microsoft.com/office/powerpoint/2010/main" val="12326869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CC20-E095-8911-0600-DC24CBBDD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F6FE7F-435E-49DD-47B3-537D8425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communication model </a:t>
            </a:r>
          </a:p>
          <a:p>
            <a:pPr lvl="1"/>
            <a:r>
              <a:rPr lang="en-US" dirty="0"/>
              <a:t>Messages sent to a queue and processed by consumers independently of the producer</a:t>
            </a:r>
          </a:p>
          <a:p>
            <a:r>
              <a:rPr lang="en-US" dirty="0"/>
              <a:t>Stronger decoupling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7A8E02-8FCF-5930-0398-289C9B35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queuing (MQ)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B4D45B-3875-A94E-3103-CE2C1F4F1EE8}"/>
              </a:ext>
            </a:extLst>
          </p:cNvPr>
          <p:cNvGrpSpPr/>
          <p:nvPr/>
        </p:nvGrpSpPr>
        <p:grpSpPr>
          <a:xfrm>
            <a:off x="2206869" y="3336681"/>
            <a:ext cx="7680965" cy="2248841"/>
            <a:chOff x="2206869" y="3336681"/>
            <a:chExt cx="7680965" cy="2248841"/>
          </a:xfrm>
        </p:grpSpPr>
        <p:pic>
          <p:nvPicPr>
            <p:cNvPr id="2" name="Picture 4" descr="Microservice - Free web icons">
              <a:extLst>
                <a:ext uri="{FF2B5EF4-FFF2-40B4-BE49-F238E27FC236}">
                  <a16:creationId xmlns:a16="http://schemas.microsoft.com/office/drawing/2014/main" id="{DD7181FC-CE09-733E-001A-230CDACA6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6869" y="3390293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Microservice - Free networking icons">
              <a:extLst>
                <a:ext uri="{FF2B5EF4-FFF2-40B4-BE49-F238E27FC236}">
                  <a16:creationId xmlns:a16="http://schemas.microsoft.com/office/drawing/2014/main" id="{6148EDC7-1AD2-0D07-A24A-A8A98E1EE7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63733" y="3336681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C7C6E18-47B3-F367-5399-C0DE6C74B949}"/>
                </a:ext>
              </a:extLst>
            </p:cNvPr>
            <p:cNvCxnSpPr>
              <a:cxnSpLocks/>
            </p:cNvCxnSpPr>
            <p:nvPr/>
          </p:nvCxnSpPr>
          <p:spPr>
            <a:xfrm>
              <a:off x="4237892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67A19E4-12F7-8217-74E8-4360C9083E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7162F6-0260-6D7F-5D1D-583BEABA4EA5}"/>
                </a:ext>
              </a:extLst>
            </p:cNvPr>
            <p:cNvSpPr txBox="1"/>
            <p:nvPr/>
          </p:nvSpPr>
          <p:spPr>
            <a:xfrm>
              <a:off x="4148380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D4194A-BC9B-97ED-82F4-F6B095725EB9}"/>
                </a:ext>
              </a:extLst>
            </p:cNvPr>
            <p:cNvSpPr txBox="1"/>
            <p:nvPr/>
          </p:nvSpPr>
          <p:spPr>
            <a:xfrm>
              <a:off x="4148380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0CEC34-6576-9659-301E-871C2B6B11D4}"/>
                </a:ext>
              </a:extLst>
            </p:cNvPr>
            <p:cNvSpPr txBox="1"/>
            <p:nvPr/>
          </p:nvSpPr>
          <p:spPr>
            <a:xfrm>
              <a:off x="2230438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B34F2-ED94-45FD-97C6-6EB879927C19}"/>
                </a:ext>
              </a:extLst>
            </p:cNvPr>
            <p:cNvSpPr txBox="1"/>
            <p:nvPr/>
          </p:nvSpPr>
          <p:spPr>
            <a:xfrm>
              <a:off x="8293743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  <p:pic>
          <p:nvPicPr>
            <p:cNvPr id="7170" name="Picture 2" descr="queue&quot; Icon - Download for free – Iconduck">
              <a:extLst>
                <a:ext uri="{FF2B5EF4-FFF2-40B4-BE49-F238E27FC236}">
                  <a16:creationId xmlns:a16="http://schemas.microsoft.com/office/drawing/2014/main" id="{3388D505-EBD1-AE83-275E-288B4B17B3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9050" y="3703627"/>
              <a:ext cx="1481381" cy="1345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EC7B6BB-FDCF-194D-40AB-E0CA87D2875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259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5EAB9B9-0F7F-F8A4-B72B-E86EA04D4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86259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82142D0-E11B-50DC-806F-160A3627D3AC}"/>
                </a:ext>
              </a:extLst>
            </p:cNvPr>
            <p:cNvSpPr txBox="1"/>
            <p:nvPr/>
          </p:nvSpPr>
          <p:spPr>
            <a:xfrm>
              <a:off x="6896747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5563D7-166D-07C2-D566-5371DC6A2814}"/>
                </a:ext>
              </a:extLst>
            </p:cNvPr>
            <p:cNvSpPr txBox="1"/>
            <p:nvPr/>
          </p:nvSpPr>
          <p:spPr>
            <a:xfrm>
              <a:off x="6896747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8184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DBF19D-11F8-201B-D64B-86AE1036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A19CA4-CC0C-BAB0-66EF-0F3DEEED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architecture</a:t>
            </a:r>
          </a:p>
        </p:txBody>
      </p:sp>
      <p:pic>
        <p:nvPicPr>
          <p:cNvPr id="2050" name="Picture 2" descr="Everything you need to know about RabbitMQ (Backend Development Series)">
            <a:extLst>
              <a:ext uri="{FF2B5EF4-FFF2-40B4-BE49-F238E27FC236}">
                <a16:creationId xmlns:a16="http://schemas.microsoft.com/office/drawing/2014/main" id="{E99F1C05-274B-FFDC-ADBE-757D8F4B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957262"/>
            <a:ext cx="9334500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36024C-E712-8984-D2A5-F17EE7EA19A2}"/>
              </a:ext>
            </a:extLst>
          </p:cNvPr>
          <p:cNvSpPr txBox="1"/>
          <p:nvPr/>
        </p:nvSpPr>
        <p:spPr>
          <a:xfrm>
            <a:off x="3048000" y="4149969"/>
            <a:ext cx="1289538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  <a:p>
            <a:r>
              <a:rPr lang="en-US" dirty="0"/>
              <a:t>Producer</a:t>
            </a:r>
          </a:p>
        </p:txBody>
      </p:sp>
    </p:spTree>
    <p:extLst>
      <p:ext uri="{BB962C8B-B14F-4D97-AF65-F5344CB8AC3E}">
        <p14:creationId xmlns:p14="http://schemas.microsoft.com/office/powerpoint/2010/main" val="5108258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1E3D20-2CC9-38F3-BA4E-202A26944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https://www.youtube.com/watch?v=WzO6_4jeliM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C3F9F4-2EE7-8B41-0ED7-3ED6F540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demo</a:t>
            </a:r>
          </a:p>
        </p:txBody>
      </p:sp>
      <p:pic>
        <p:nvPicPr>
          <p:cNvPr id="8194" name="Picture 2" descr="RabbitMQ - meshIQ">
            <a:extLst>
              <a:ext uri="{FF2B5EF4-FFF2-40B4-BE49-F238E27FC236}">
                <a16:creationId xmlns:a16="http://schemas.microsoft.com/office/drawing/2014/main" id="{FC452FBE-1676-EAB6-FBD3-C83EF6AC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791" y="2263856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Latest Apache ActiveMQ installation : Easy step - Maggi Minutes">
            <a:extLst>
              <a:ext uri="{FF2B5EF4-FFF2-40B4-BE49-F238E27FC236}">
                <a16:creationId xmlns:a16="http://schemas.microsoft.com/office/drawing/2014/main" id="{69FA2702-99C1-34FD-AF4A-20A304C2C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2852" y="1251249"/>
            <a:ext cx="5346990" cy="264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Amazon SQS : What? Why? How?. What is SQS? How Top Companies uses… | by  Prakash Agarwal | Towards AWS">
            <a:extLst>
              <a:ext uri="{FF2B5EF4-FFF2-40B4-BE49-F238E27FC236}">
                <a16:creationId xmlns:a16="http://schemas.microsoft.com/office/drawing/2014/main" id="{7F456FDE-8AB7-9519-BD67-AB0BD2BFA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4069" y="3429000"/>
            <a:ext cx="3907843" cy="227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6671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966-41C7-C9CA-AB72-D302BDBA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8BDEF2-315B-7FC4-DC91-13711386C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messaging pattern where </a:t>
            </a:r>
            <a:r>
              <a:rPr lang="en-US" b="1" dirty="0"/>
              <a:t>publishers</a:t>
            </a:r>
            <a:r>
              <a:rPr lang="en-US" dirty="0"/>
              <a:t> send messages to a central </a:t>
            </a:r>
            <a:r>
              <a:rPr lang="en-US" b="1" dirty="0"/>
              <a:t>message broker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, and </a:t>
            </a:r>
            <a:r>
              <a:rPr lang="en-US" b="1" dirty="0"/>
              <a:t>subscribers</a:t>
            </a:r>
            <a:r>
              <a:rPr lang="en-US" dirty="0"/>
              <a:t> receive messages based on their subscriptions</a:t>
            </a:r>
          </a:p>
          <a:p>
            <a:r>
              <a:rPr lang="en-US" dirty="0"/>
              <a:t>Broadcasting: messages can be sent to multiple subscribers</a:t>
            </a:r>
          </a:p>
          <a:p>
            <a:r>
              <a:rPr lang="en-US" dirty="0"/>
              <a:t>Typically, messages are persistent at the broker and must be explicitly deleted</a:t>
            </a:r>
          </a:p>
          <a:p>
            <a:r>
              <a:rPr lang="en-US" dirty="0"/>
              <a:t>Same frameworks often can act as both MQ or Pub-Sub depending on configuration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ADF71B5-195D-8796-94BE-5692877D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599894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7F75-7DFC-AD09-F513-A54B105D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0814C8-D1FA-F6D0-C1C3-04D75A7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8D7D8A-C35E-F9DE-1457-2F2D8595E8E3}"/>
              </a:ext>
            </a:extLst>
          </p:cNvPr>
          <p:cNvGrpSpPr/>
          <p:nvPr/>
        </p:nvGrpSpPr>
        <p:grpSpPr>
          <a:xfrm>
            <a:off x="1639990" y="668155"/>
            <a:ext cx="9439433" cy="4864335"/>
            <a:chOff x="1639990" y="668155"/>
            <a:chExt cx="9439433" cy="486433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9ACA655-870F-E18F-50F9-C32988B4C5C9}"/>
                </a:ext>
              </a:extLst>
            </p:cNvPr>
            <p:cNvGrpSpPr/>
            <p:nvPr/>
          </p:nvGrpSpPr>
          <p:grpSpPr>
            <a:xfrm>
              <a:off x="1639990" y="668155"/>
              <a:ext cx="9439433" cy="4864335"/>
              <a:chOff x="1065563" y="1066737"/>
              <a:chExt cx="9439433" cy="4864335"/>
            </a:xfrm>
          </p:grpSpPr>
          <p:pic>
            <p:nvPicPr>
              <p:cNvPr id="3" name="Picture 4" descr="Microservice - Free web icons">
                <a:extLst>
                  <a:ext uri="{FF2B5EF4-FFF2-40B4-BE49-F238E27FC236}">
                    <a16:creationId xmlns:a16="http://schemas.microsoft.com/office/drawing/2014/main" id="{541BDBBC-7A8F-F57E-AEC3-75132D02A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5563" y="2543489"/>
                <a:ext cx="1641231" cy="1641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6" descr="Microservice - Free networking icons">
                <a:extLst>
                  <a:ext uri="{FF2B5EF4-FFF2-40B4-BE49-F238E27FC236}">
                    <a16:creationId xmlns:a16="http://schemas.microsoft.com/office/drawing/2014/main" id="{41E606A4-735C-14B1-84A2-C9AA4F1AF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267348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19F7E53-C083-BF93-180C-A2801473C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713" y="3547269"/>
                <a:ext cx="861646" cy="0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9C53DC-0887-A47E-52D5-7CE6E5441EC2}"/>
                  </a:ext>
                </a:extLst>
              </p:cNvPr>
              <p:cNvSpPr txBox="1"/>
              <p:nvPr/>
            </p:nvSpPr>
            <p:spPr>
              <a:xfrm>
                <a:off x="3097427" y="371172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930391-7794-75EC-5D77-F798AD4CE02A}"/>
                  </a:ext>
                </a:extLst>
              </p:cNvPr>
              <p:cNvSpPr txBox="1"/>
              <p:nvPr/>
            </p:nvSpPr>
            <p:spPr>
              <a:xfrm>
                <a:off x="1089132" y="4369386"/>
                <a:ext cx="14017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Publisher</a:t>
                </a:r>
              </a:p>
              <a:p>
                <a:r>
                  <a:rPr lang="en-US" b="1" i="1" dirty="0"/>
                  <a:t>Microservice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776AB6-78A7-8D11-8067-12E51C950E5D}"/>
                  </a:ext>
                </a:extLst>
              </p:cNvPr>
              <p:cNvSpPr txBox="1"/>
              <p:nvPr/>
            </p:nvSpPr>
            <p:spPr>
              <a:xfrm>
                <a:off x="7861892" y="3815388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B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3C150F6-0285-84E6-BBC5-BFF0E49F2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7086" y="3713075"/>
                <a:ext cx="1509316" cy="13586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5AE167B-61E3-4421-B484-C9A0FBC86022}"/>
                  </a:ext>
                </a:extLst>
              </p:cNvPr>
              <p:cNvSpPr txBox="1"/>
              <p:nvPr/>
            </p:nvSpPr>
            <p:spPr>
              <a:xfrm>
                <a:off x="6451409" y="3357329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9218" name="Picture 2" descr="Event driven message broker Icons, Logos, Symbols – Free Download PNG, SVG">
                <a:extLst>
                  <a:ext uri="{FF2B5EF4-FFF2-40B4-BE49-F238E27FC236}">
                    <a16:creationId xmlns:a16="http://schemas.microsoft.com/office/drawing/2014/main" id="{7BCD3B95-BD9F-CD60-E1BB-2AD7512A13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64829" y="2686947"/>
                <a:ext cx="2052257" cy="2052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6" descr="Microservice - Free networking icons">
                <a:extLst>
                  <a:ext uri="{FF2B5EF4-FFF2-40B4-BE49-F238E27FC236}">
                    <a16:creationId xmlns:a16="http://schemas.microsoft.com/office/drawing/2014/main" id="{27885891-BAF5-1244-02C4-056432F6F6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81927" y="433819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BADDCA-BB28-ACA4-48F8-51C39980F87A}"/>
                  </a:ext>
                </a:extLst>
              </p:cNvPr>
              <p:cNvSpPr txBox="1"/>
              <p:nvPr/>
            </p:nvSpPr>
            <p:spPr>
              <a:xfrm>
                <a:off x="7876520" y="5561740"/>
                <a:ext cx="262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6DD30B89-A89A-58D0-03BF-24D812C93026}"/>
                  </a:ext>
                </a:extLst>
              </p:cNvPr>
              <p:cNvCxnSpPr>
                <a:cxnSpLocks/>
                <a:stCxn id="9218" idx="3"/>
              </p:cNvCxnSpPr>
              <p:nvPr/>
            </p:nvCxnSpPr>
            <p:spPr>
              <a:xfrm>
                <a:off x="6217086" y="3713076"/>
                <a:ext cx="1509316" cy="1433355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35AF49-EDEC-0923-523D-79178F565942}"/>
                  </a:ext>
                </a:extLst>
              </p:cNvPr>
              <p:cNvSpPr txBox="1"/>
              <p:nvPr/>
            </p:nvSpPr>
            <p:spPr>
              <a:xfrm>
                <a:off x="6451409" y="491537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42" name="Picture 6" descr="Microservice - Free networking icons">
                <a:extLst>
                  <a:ext uri="{FF2B5EF4-FFF2-40B4-BE49-F238E27FC236}">
                    <a16:creationId xmlns:a16="http://schemas.microsoft.com/office/drawing/2014/main" id="{8E0663FD-FE02-16A7-90CE-A1B77E2282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1066737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53A8D3-9169-1971-7EBA-986168193FD8}"/>
                  </a:ext>
                </a:extLst>
              </p:cNvPr>
              <p:cNvSpPr txBox="1"/>
              <p:nvPr/>
            </p:nvSpPr>
            <p:spPr>
              <a:xfrm>
                <a:off x="7861892" y="2208642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A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6B52A58-5851-D528-7DEF-7CAE684F8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72315" y="1992923"/>
                <a:ext cx="1554087" cy="1715863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698181F-A7ED-2A01-5B78-4D31FCFF49A1}"/>
                  </a:ext>
                </a:extLst>
              </p:cNvPr>
              <p:cNvSpPr txBox="1"/>
              <p:nvPr/>
            </p:nvSpPr>
            <p:spPr>
              <a:xfrm>
                <a:off x="6358088" y="2108639"/>
                <a:ext cx="1040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740764D-3681-02B5-D75A-26B720574F80}"/>
                </a:ext>
              </a:extLst>
            </p:cNvPr>
            <p:cNvSpPr txBox="1"/>
            <p:nvPr/>
          </p:nvSpPr>
          <p:spPr>
            <a:xfrm>
              <a:off x="5447766" y="4432469"/>
              <a:ext cx="817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Broker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91198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0F5-6D5D-E0CA-C113-5BF422D1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BCD111-606B-03F7-7586-363B0C07F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https://www.youtube.com/watch?v=bSe_JBSk5w4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D2F3CB-831E-244D-3869-75518613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Redis pub-sub demo</a:t>
            </a:r>
          </a:p>
        </p:txBody>
      </p:sp>
      <p:pic>
        <p:nvPicPr>
          <p:cNvPr id="10242" name="Picture 2" descr="Google Pub/Sub | PubSub+ Integration Hub | Solace">
            <a:extLst>
              <a:ext uri="{FF2B5EF4-FFF2-40B4-BE49-F238E27FC236}">
                <a16:creationId xmlns:a16="http://schemas.microsoft.com/office/drawing/2014/main" id="{FB12CC1E-0FF6-4441-5EE1-8C86DA769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5022" y="2348739"/>
            <a:ext cx="2463312" cy="2463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Redis pub/sub with ruby - DEV Community">
            <a:extLst>
              <a:ext uri="{FF2B5EF4-FFF2-40B4-BE49-F238E27FC236}">
                <a16:creationId xmlns:a16="http://schemas.microsoft.com/office/drawing/2014/main" id="{5A30FEFA-AD06-3074-F3B9-0FB76E594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5200" y="2681823"/>
            <a:ext cx="4141177" cy="1739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3110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5E68BE-9E87-8AE1-E540-7EBF20C3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 architecture using microservices with message queues deployed on a serverless architecture</a:t>
            </a:r>
          </a:p>
          <a:p>
            <a:r>
              <a:rPr lang="en-US" dirty="0"/>
              <a:t>Pub-sub architecture with microservices using containers</a:t>
            </a:r>
          </a:p>
          <a:p>
            <a:r>
              <a:rPr lang="en-US" dirty="0"/>
              <a:t>Pipeline architecture in one part of the system, with a pub-sub in another</a:t>
            </a:r>
          </a:p>
          <a:p>
            <a:r>
              <a:rPr lang="en-US" dirty="0"/>
              <a:t>… and so on</a:t>
            </a:r>
          </a:p>
          <a:p>
            <a:r>
              <a:rPr lang="en-US" dirty="0"/>
              <a:t>Pick what is right for your software system!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1E790-5CCB-19FB-C71E-882223C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mix and match!!</a:t>
            </a:r>
          </a:p>
        </p:txBody>
      </p:sp>
    </p:spTree>
    <p:extLst>
      <p:ext uri="{BB962C8B-B14F-4D97-AF65-F5344CB8AC3E}">
        <p14:creationId xmlns:p14="http://schemas.microsoft.com/office/powerpoint/2010/main" val="35117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14902</TotalTime>
  <Words>1979</Words>
  <Application>Microsoft Office PowerPoint</Application>
  <PresentationFormat>Widescreen</PresentationFormat>
  <Paragraphs>411</Paragraphs>
  <Slides>50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5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Outline</vt:lpstr>
      <vt:lpstr>Software architecture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Performance</vt:lpstr>
      <vt:lpstr>Deployability</vt:lpstr>
      <vt:lpstr>Dimensions of software architecture styles</vt:lpstr>
      <vt:lpstr>Dimensions of software architecture styles</vt:lpstr>
      <vt:lpstr>Dimensions of software architecture styles</vt:lpstr>
      <vt:lpstr>Dimensions of software architecture styles</vt:lpstr>
      <vt:lpstr>Client server architecture</vt:lpstr>
      <vt:lpstr>Pros and cons</vt:lpstr>
      <vt:lpstr>Microservices</vt:lpstr>
      <vt:lpstr>Microservices overview</vt:lpstr>
      <vt:lpstr>Monolithic to microservices</vt:lpstr>
      <vt:lpstr>Microservices provide finer scaling control</vt:lpstr>
      <vt:lpstr>Microservices provide finer scaling control</vt:lpstr>
      <vt:lpstr>Continuous deployment using microservices</vt:lpstr>
      <vt:lpstr>Pros and cons</vt:lpstr>
      <vt:lpstr>Microservices at Uber (2019)</vt:lpstr>
      <vt:lpstr>Microservices at Amazon (2008)</vt:lpstr>
      <vt:lpstr>Spring Boot Overview</vt:lpstr>
      <vt:lpstr>RESTful microservices with Spring Boot</vt:lpstr>
      <vt:lpstr>Spring Boot Framework</vt:lpstr>
      <vt:lpstr>Spring Boot demo</vt:lpstr>
      <vt:lpstr>Continuous Deployment</vt:lpstr>
      <vt:lpstr>Cloud host integration</vt:lpstr>
      <vt:lpstr>Demo – DigitalOcean integration</vt:lpstr>
      <vt:lpstr>Containerize your app</vt:lpstr>
      <vt:lpstr>PowerPoint Presentation</vt:lpstr>
      <vt:lpstr>Outline</vt:lpstr>
      <vt:lpstr>Remote procedure call (RPC)</vt:lpstr>
      <vt:lpstr>RPC key features</vt:lpstr>
      <vt:lpstr>RPC formats</vt:lpstr>
      <vt:lpstr>JSON and REST APIs</vt:lpstr>
      <vt:lpstr>Message queuing (MQ)</vt:lpstr>
      <vt:lpstr>RabbitMQ architecture</vt:lpstr>
      <vt:lpstr>RabbitMQ demo</vt:lpstr>
      <vt:lpstr>Pub-sub architecture</vt:lpstr>
      <vt:lpstr>Pub-sub architecture</vt:lpstr>
      <vt:lpstr>Redis pub-sub demo</vt:lpstr>
      <vt:lpstr>Can mix and match!!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1450</cp:revision>
  <dcterms:created xsi:type="dcterms:W3CDTF">2019-06-30T03:25:06Z</dcterms:created>
  <dcterms:modified xsi:type="dcterms:W3CDTF">2025-12-21T23:15:09Z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