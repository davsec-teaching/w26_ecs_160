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modernComment_1A5_2AF52289.xml" ContentType="application/vnd.ms-powerpoint.comments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6"/>
  </p:notesMasterIdLst>
  <p:handoutMasterIdLst>
    <p:handoutMasterId r:id="rId47"/>
  </p:handoutMasterIdLst>
  <p:sldIdLst>
    <p:sldId id="256" r:id="rId2"/>
    <p:sldId id="310" r:id="rId3"/>
    <p:sldId id="311" r:id="rId4"/>
    <p:sldId id="287" r:id="rId5"/>
    <p:sldId id="314" r:id="rId6"/>
    <p:sldId id="319" r:id="rId7"/>
    <p:sldId id="320" r:id="rId8"/>
    <p:sldId id="315" r:id="rId9"/>
    <p:sldId id="318" r:id="rId10"/>
    <p:sldId id="321" r:id="rId11"/>
    <p:sldId id="322" r:id="rId12"/>
    <p:sldId id="313" r:id="rId13"/>
    <p:sldId id="431" r:id="rId14"/>
    <p:sldId id="432" r:id="rId15"/>
    <p:sldId id="288" r:id="rId16"/>
    <p:sldId id="289" r:id="rId17"/>
    <p:sldId id="323" r:id="rId18"/>
    <p:sldId id="461" r:id="rId19"/>
    <p:sldId id="258" r:id="rId20"/>
    <p:sldId id="463" r:id="rId21"/>
    <p:sldId id="462" r:id="rId22"/>
    <p:sldId id="359" r:id="rId23"/>
    <p:sldId id="360" r:id="rId24"/>
    <p:sldId id="262" r:id="rId25"/>
    <p:sldId id="264" r:id="rId26"/>
    <p:sldId id="263" r:id="rId27"/>
    <p:sldId id="400" r:id="rId28"/>
    <p:sldId id="272" r:id="rId29"/>
    <p:sldId id="444" r:id="rId30"/>
    <p:sldId id="273" r:id="rId31"/>
    <p:sldId id="438" r:id="rId32"/>
    <p:sldId id="439" r:id="rId33"/>
    <p:sldId id="276" r:id="rId34"/>
    <p:sldId id="275" r:id="rId35"/>
    <p:sldId id="284" r:id="rId36"/>
    <p:sldId id="285" r:id="rId37"/>
    <p:sldId id="404" r:id="rId38"/>
    <p:sldId id="406" r:id="rId39"/>
    <p:sldId id="419" r:id="rId40"/>
    <p:sldId id="421" r:id="rId41"/>
    <p:sldId id="446" r:id="rId42"/>
    <p:sldId id="460" r:id="rId43"/>
    <p:sldId id="447" r:id="rId44"/>
    <p:sldId id="448" r:id="rId4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61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omments/modernComment_1A5_2AF5228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7B80AFA-A463-4081-9293-96056A19AA29}" authorId="{D1E25939-87C3-F195-CD78-1C83D60CD0CB}" created="2025-12-20T06:18:36.736">
    <pc:sldMkLst xmlns:pc="http://schemas.microsoft.com/office/powerpoint/2013/main/command">
      <pc:docMk/>
      <pc:sldMk cId="720708233" sldId="421"/>
    </pc:sldMkLst>
    <p188:txBody>
      <a:bodyPr/>
      <a:lstStyle/>
      <a:p>
        <a:r>
          <a:rPr lang="en-US"/>
          <a:t>TODO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01ABD-C3DC-7FDB-AFF8-399C71AE4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B5D1CF-3183-47E8-F19C-A6005F2C5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5B9D6-207C-9E37-C4B7-A3EF8A4C2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46719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058DD-CF5B-E558-3699-AFB5E964E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B6CAE-D4D6-F724-4E84-254A37A0D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19AE1-9353-1C62-4F37-E4BC85D72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42652201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652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December 19,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December 19,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December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December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December 19,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GDhkWc4gYA" TargetMode="External"/><Relationship Id="rId2" Type="http://schemas.microsoft.com/office/2018/10/relationships/comments" Target="../comments/modernComment_1A5_2AF5228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(ECS 153)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87F224-00C9-481F-EB38-6B1DB2F7B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organization</a:t>
            </a:r>
          </a:p>
          <a:p>
            <a:r>
              <a:rPr lang="en-US" dirty="0"/>
              <a:t>Communication architecture</a:t>
            </a:r>
          </a:p>
          <a:p>
            <a:r>
              <a:rPr lang="en-US" dirty="0"/>
              <a:t>Processing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48761F-AB7D-B36E-B92E-2748519C3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 - dimensions</a:t>
            </a:r>
          </a:p>
        </p:txBody>
      </p:sp>
    </p:spTree>
    <p:extLst>
      <p:ext uri="{BB962C8B-B14F-4D97-AF65-F5344CB8AC3E}">
        <p14:creationId xmlns:p14="http://schemas.microsoft.com/office/powerpoint/2010/main" val="2607483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RPC</a:t>
            </a:r>
          </a:p>
          <a:p>
            <a:r>
              <a:rPr lang="en-US" dirty="0"/>
              <a:t>Event-based</a:t>
            </a:r>
          </a:p>
          <a:p>
            <a:pPr lvl="1"/>
            <a:r>
              <a:rPr lang="en-US" dirty="0"/>
              <a:t>Message Queue</a:t>
            </a:r>
          </a:p>
          <a:p>
            <a:pPr lvl="1"/>
            <a:r>
              <a:rPr lang="en-US" dirty="0"/>
              <a:t>Pub-sub</a:t>
            </a:r>
          </a:p>
          <a:p>
            <a:pPr lvl="1"/>
            <a:r>
              <a:rPr lang="en-US" dirty="0"/>
              <a:t>Kafka – distributed event logging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0E734-2E38-F14E-BA42-EC9BFC163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A989E4-503A-5816-6622-1084FCCBD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 organization</a:t>
            </a:r>
          </a:p>
          <a:p>
            <a:pPr lvl="1"/>
            <a:r>
              <a:rPr lang="en-US" dirty="0"/>
              <a:t>Monolithic</a:t>
            </a:r>
          </a:p>
          <a:p>
            <a:pPr lvl="1"/>
            <a:r>
              <a:rPr lang="en-US" dirty="0"/>
              <a:t>Client-server</a:t>
            </a:r>
          </a:p>
          <a:p>
            <a:pPr lvl="1"/>
            <a:r>
              <a:rPr lang="en-US" dirty="0"/>
              <a:t>Microservices</a:t>
            </a:r>
          </a:p>
          <a:p>
            <a:pPr lvl="1"/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511363-B376-13F1-89E8-90EB04B44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organization</a:t>
            </a:r>
          </a:p>
        </p:txBody>
      </p:sp>
    </p:spTree>
    <p:extLst>
      <p:ext uri="{BB962C8B-B14F-4D97-AF65-F5344CB8AC3E}">
        <p14:creationId xmlns:p14="http://schemas.microsoft.com/office/powerpoint/2010/main" val="2597708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82B-4BD3-6D37-7ED7-FB04A9CAB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1465C1-879E-C5B6-A232-48291250F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Distributed dataflow architecture</a:t>
            </a:r>
          </a:p>
          <a:p>
            <a:r>
              <a:rPr lang="en-US" dirty="0"/>
              <a:t>Batch processing (Apache Spark)</a:t>
            </a:r>
          </a:p>
          <a:p>
            <a:r>
              <a:rPr lang="en-US" dirty="0"/>
              <a:t>Stream processing (Apache Flink)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6F326F-00F8-4B76-CB7C-CA90DD4B5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model</a:t>
            </a:r>
          </a:p>
        </p:txBody>
      </p:sp>
    </p:spTree>
    <p:extLst>
      <p:ext uri="{BB962C8B-B14F-4D97-AF65-F5344CB8AC3E}">
        <p14:creationId xmlns:p14="http://schemas.microsoft.com/office/powerpoint/2010/main" val="886025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810D68-44B9-9E84-8082-A56DCAB6A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4211" y="4013208"/>
            <a:ext cx="2059123" cy="979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pache Tomcat ...">
            <a:extLst>
              <a:ext uri="{FF2B5EF4-FFF2-40B4-BE49-F238E27FC236}">
                <a16:creationId xmlns:a16="http://schemas.microsoft.com/office/drawing/2014/main" id="{C8723949-BA3C-E662-CD0D-EA7BDDB50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7873" y="3049950"/>
            <a:ext cx="2059123" cy="1072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B9C9-FB1D-EA1C-031B-1ED3565B0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ABD4C1-AA5E-A77C-702E-45BC7F7A0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38D1DD-14F3-896A-C99D-BF135F45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CD8F4A-E490-4559-EB4F-242CDF69C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6F5E01D-FC87-349F-BB93-25BB9EB44D6F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181471-FCC8-4862-6DBF-20406EFA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E07941-8450-EC04-7AF6-561B08B6CFC3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867D599-5A08-1165-E254-A24EA1BBD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E58094E-9BF8-BBE6-DD2D-9D72D3122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D684143-CABD-676F-B958-6FD29640D107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3C31E63-2F23-3630-E9A4-AB8E88481364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2BC64740-5422-B6C1-68C0-973F2FDC3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DA005D5C-7C9E-28CA-8047-5128F1A6E6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50E66B3-3F3D-78AE-DE3B-B4DBD620B6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0F2D8EB-0B34-E28E-14D5-AC3E9C0AFF3D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EFD277-E616-3307-065E-1B8FF4584AE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944160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 – </a:t>
            </a:r>
            <a:r>
              <a:rPr lang="en-US" b="1" i="1" dirty="0"/>
              <a:t>shared nothing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2024" y="2151589"/>
            <a:ext cx="5495220" cy="321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25127844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489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59450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https://www.youtube.com/watch?v=uGDhkWc4gYA</a:t>
            </a:r>
            <a:endParaRPr lang="en-US" dirty="0"/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720708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D067BD-AD0B-F45A-77E1-50290F9F0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release of every code change that passes tests directly to production</a:t>
            </a:r>
          </a:p>
          <a:p>
            <a:r>
              <a:rPr lang="en-US" dirty="0"/>
              <a:t>Final stage of a modern CI/CD pipeline</a:t>
            </a:r>
          </a:p>
          <a:p>
            <a:r>
              <a:rPr lang="en-US" dirty="0"/>
              <a:t>Uses containers</a:t>
            </a:r>
          </a:p>
          <a:p>
            <a:r>
              <a:rPr lang="en-US" dirty="0"/>
              <a:t>GitHub Actions OR GitHub App Integration through cloud host</a:t>
            </a:r>
          </a:p>
          <a:p>
            <a:r>
              <a:rPr lang="en-US" dirty="0"/>
              <a:t>GitHub Apps can </a:t>
            </a:r>
            <a:r>
              <a:rPr lang="en-US" b="1" i="1" dirty="0"/>
              <a:t>extend the functionality </a:t>
            </a:r>
            <a:r>
              <a:rPr lang="en-US" dirty="0"/>
              <a:t>of GitHub itself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6281B7-F567-CC6A-3284-23F1B6C04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3391476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B3FEA1-1BBA-E996-FC9D-E740DB334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host integration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68C5B82-BB58-85AC-7182-7DA304D914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Every push to the repo must automatically deploy to the cloud</a:t>
            </a:r>
          </a:p>
          <a:p>
            <a:r>
              <a:rPr lang="en-US" dirty="0"/>
              <a:t>How to deploy?</a:t>
            </a:r>
          </a:p>
          <a:p>
            <a:pPr lvl="1"/>
            <a:r>
              <a:rPr lang="en-US" dirty="0"/>
              <a:t>Provide a </a:t>
            </a:r>
            <a:r>
              <a:rPr lang="en-US" dirty="0" err="1"/>
              <a:t>Dockerfile</a:t>
            </a:r>
            <a:r>
              <a:rPr lang="en-US" dirty="0"/>
              <a:t> that packages and launches the software</a:t>
            </a:r>
          </a:p>
          <a:p>
            <a:r>
              <a:rPr lang="en-US" dirty="0"/>
              <a:t>How to detect new commit pushes?</a:t>
            </a:r>
          </a:p>
          <a:p>
            <a:pPr lvl="1"/>
            <a:r>
              <a:rPr lang="en-US" dirty="0"/>
              <a:t>GitHub Actions</a:t>
            </a:r>
          </a:p>
          <a:p>
            <a:pPr lvl="1"/>
            <a:r>
              <a:rPr lang="en-US" dirty="0"/>
              <a:t>GitHub Apps provided by the Cloud Host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BA887-7CAE-4F82-B42E-6B6D7FBD2349}"/>
              </a:ext>
            </a:extLst>
          </p:cNvPr>
          <p:cNvSpPr/>
          <p:nvPr/>
        </p:nvSpPr>
        <p:spPr>
          <a:xfrm>
            <a:off x="6176512" y="2434390"/>
            <a:ext cx="1636295" cy="9946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 Repo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60598-606B-0042-9C93-6F6D9EB7F648}"/>
              </a:ext>
            </a:extLst>
          </p:cNvPr>
          <p:cNvSpPr/>
          <p:nvPr/>
        </p:nvSpPr>
        <p:spPr>
          <a:xfrm>
            <a:off x="9767752" y="1904331"/>
            <a:ext cx="1636295" cy="20453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 Host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(AWS, </a:t>
            </a:r>
            <a:r>
              <a:rPr lang="en-US" dirty="0" err="1">
                <a:solidFill>
                  <a:schemeClr val="tx1"/>
                </a:solidFill>
              </a:rPr>
              <a:t>DigitalOcean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linode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1026" name="Picture 2" descr="GitHub Logo and symbol, meaning, history, PNG, brand">
            <a:extLst>
              <a:ext uri="{FF2B5EF4-FFF2-40B4-BE49-F238E27FC236}">
                <a16:creationId xmlns:a16="http://schemas.microsoft.com/office/drawing/2014/main" id="{D5DAD8DD-E1B6-4334-AAEA-52DA03471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659" y="1513974"/>
            <a:ext cx="1636295" cy="920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4A5921-0E22-AEE1-4DC5-1E30B5690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3946" y="1140650"/>
            <a:ext cx="1815849" cy="113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342416-5920-1074-8CC8-50FC3B77A978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812807" y="2927015"/>
            <a:ext cx="1954945" cy="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6607BF-6C82-B3D1-B1F8-910DDF2BCE3F}"/>
              </a:ext>
            </a:extLst>
          </p:cNvPr>
          <p:cNvSpPr/>
          <p:nvPr/>
        </p:nvSpPr>
        <p:spPr>
          <a:xfrm>
            <a:off x="7812806" y="2692400"/>
            <a:ext cx="924793" cy="66240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GitHub App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6C4993-7D15-F41D-1731-E0AC9711A638}"/>
              </a:ext>
            </a:extLst>
          </p:cNvPr>
          <p:cNvSpPr txBox="1"/>
          <p:nvPr/>
        </p:nvSpPr>
        <p:spPr>
          <a:xfrm>
            <a:off x="8737599" y="2434390"/>
            <a:ext cx="82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deploy</a:t>
            </a:r>
          </a:p>
        </p:txBody>
      </p:sp>
    </p:spTree>
    <p:extLst>
      <p:ext uri="{BB962C8B-B14F-4D97-AF65-F5344CB8AC3E}">
        <p14:creationId xmlns:p14="http://schemas.microsoft.com/office/powerpoint/2010/main" val="1815770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8ED1A5F-BDBB-0F55-E41B-E0AD525ED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DigitalOcean</a:t>
            </a:r>
            <a:r>
              <a:rPr lang="en-US" dirty="0"/>
              <a:t> is a cloud provider, like AWS</a:t>
            </a:r>
          </a:p>
          <a:p>
            <a:pPr lvl="1"/>
            <a:r>
              <a:rPr lang="en-US" dirty="0"/>
              <a:t>Can launch VMs</a:t>
            </a:r>
          </a:p>
          <a:p>
            <a:r>
              <a:rPr lang="en-US" dirty="0"/>
              <a:t>Apps Platform</a:t>
            </a:r>
          </a:p>
          <a:p>
            <a:pPr lvl="1"/>
            <a:r>
              <a:rPr lang="en-US" dirty="0"/>
              <a:t>Managed service that automatically builds, deploys, and scales your apps</a:t>
            </a:r>
          </a:p>
          <a:p>
            <a:pPr lvl="1"/>
            <a:r>
              <a:rPr lang="en-US" dirty="0"/>
              <a:t>Directly from GitHub</a:t>
            </a:r>
          </a:p>
          <a:p>
            <a:r>
              <a:rPr lang="en-US" dirty="0"/>
              <a:t>Following steps similar across many platforms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6B7E56-2772-681A-E881-7E3706DE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</a:t>
            </a:r>
            <a:r>
              <a:rPr lang="en-US" dirty="0" err="1"/>
              <a:t>DigitalOcean</a:t>
            </a:r>
            <a:r>
              <a:rPr lang="en-US" dirty="0"/>
              <a:t> integration</a:t>
            </a:r>
          </a:p>
        </p:txBody>
      </p:sp>
    </p:spTree>
    <p:extLst>
      <p:ext uri="{BB962C8B-B14F-4D97-AF65-F5344CB8AC3E}">
        <p14:creationId xmlns:p14="http://schemas.microsoft.com/office/powerpoint/2010/main" val="15210209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A505B-B92D-3773-FF4C-961FD136C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--- Build stage ---</a:t>
            </a:r>
          </a:p>
          <a:p>
            <a:r>
              <a:rPr lang="en-US" dirty="0"/>
              <a:t>FROM maven:3.9.8-eclipse-temurin-21 AS build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pom.xml . # Copy pom.xml into the container</a:t>
            </a:r>
          </a:p>
          <a:p>
            <a:r>
              <a:rPr lang="en-US" dirty="0"/>
              <a:t>COPY </a:t>
            </a:r>
            <a:r>
              <a:rPr lang="en-US" dirty="0" err="1"/>
              <a:t>src</a:t>
            </a:r>
            <a:r>
              <a:rPr lang="en-US" dirty="0"/>
              <a:t> ./</a:t>
            </a:r>
            <a:r>
              <a:rPr lang="en-US" dirty="0" err="1"/>
              <a:t>src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/>
              <a:t>mvn</a:t>
            </a:r>
            <a:r>
              <a:rPr lang="en-US" dirty="0"/>
              <a:t> -q -</a:t>
            </a:r>
            <a:r>
              <a:rPr lang="en-US" dirty="0" err="1"/>
              <a:t>DskipTests</a:t>
            </a:r>
            <a:r>
              <a:rPr lang="en-US" dirty="0"/>
              <a:t> package # Build it!</a:t>
            </a:r>
          </a:p>
          <a:p>
            <a:endParaRPr lang="en-US" dirty="0"/>
          </a:p>
          <a:p>
            <a:r>
              <a:rPr lang="en-US" dirty="0"/>
              <a:t># --- Runtime stage ---</a:t>
            </a:r>
          </a:p>
          <a:p>
            <a:r>
              <a:rPr lang="en-US" dirty="0"/>
              <a:t>FROM eclipse-temurin:21-jre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--from=build /app/target/*.jar app.jar</a:t>
            </a:r>
          </a:p>
          <a:p>
            <a:r>
              <a:rPr lang="en-US" dirty="0"/>
              <a:t>CMD ["java", "-jar", "app.jar"]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60E959-0332-E6AA-BE36-22EA9ED20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 your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9001A-A9BB-2397-4EA7-7157B92539C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build on a base image</a:t>
            </a:r>
          </a:p>
          <a:p>
            <a:pPr lvl="1"/>
            <a:r>
              <a:rPr lang="en-US" dirty="0"/>
              <a:t>maven:3.9.8-eclipse-temurin-21</a:t>
            </a:r>
          </a:p>
          <a:p>
            <a:pPr lvl="1"/>
            <a:r>
              <a:rPr lang="en-US" sz="1050" dirty="0"/>
              <a:t>https://hub.docker.com/layers/library/maven/3.9.8-eclipse-temurin-21/images/sha256-d86bfd73fbfd7e9f0a9554ae23689bd46289f537df4a5aa368fdd1a8c25dd8d0?context=explore</a:t>
            </a:r>
            <a:endParaRPr lang="en-US" dirty="0"/>
          </a:p>
          <a:p>
            <a:pPr lvl="1"/>
            <a:r>
              <a:rPr lang="en-US" dirty="0"/>
              <a:t>eclipse-temurin:21-jre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204134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14891</TotalTime>
  <Words>1805</Words>
  <Application>Microsoft Office PowerPoint</Application>
  <PresentationFormat>Widescreen</PresentationFormat>
  <Paragraphs>357</Paragraphs>
  <Slides>44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Popular software architecture styles - dimensions</vt:lpstr>
      <vt:lpstr>Communication architecture</vt:lpstr>
      <vt:lpstr>System organization</vt:lpstr>
      <vt:lpstr>Processing model</vt:lpstr>
      <vt:lpstr>Client server architecture</vt:lpstr>
      <vt:lpstr>Client server architecture</vt:lpstr>
      <vt:lpstr>Client-server architecture examples</vt:lpstr>
      <vt:lpstr>Pros and cons</vt:lpstr>
      <vt:lpstr>Client-server architecture examples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Spring Boot Overview</vt:lpstr>
      <vt:lpstr>RESTful microservices with Spring Boot</vt:lpstr>
      <vt:lpstr>Spring Boot Framework</vt:lpstr>
      <vt:lpstr>Spring Boot demo</vt:lpstr>
      <vt:lpstr>Continuous Deployment</vt:lpstr>
      <vt:lpstr>Cloud host integration</vt:lpstr>
      <vt:lpstr>Demo – DigitalOcean integration</vt:lpstr>
      <vt:lpstr>Containerize your app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1436</cp:revision>
  <dcterms:created xsi:type="dcterms:W3CDTF">2019-06-30T03:25:06Z</dcterms:created>
  <dcterms:modified xsi:type="dcterms:W3CDTF">2025-12-20T06:35:16Z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