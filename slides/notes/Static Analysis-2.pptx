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93" r:id="rId2"/>
    <p:sldId id="308" r:id="rId3"/>
    <p:sldId id="304" r:id="rId4"/>
    <p:sldId id="305" r:id="rId5"/>
    <p:sldId id="306" r:id="rId6"/>
    <p:sldId id="307" r:id="rId7"/>
    <p:sldId id="309" r:id="rId8"/>
    <p:sldId id="303" r:id="rId9"/>
    <p:sldId id="258" r:id="rId10"/>
    <p:sldId id="259" r:id="rId11"/>
    <p:sldId id="310" r:id="rId12"/>
    <p:sldId id="294" r:id="rId13"/>
    <p:sldId id="295" r:id="rId14"/>
    <p:sldId id="262" r:id="rId15"/>
    <p:sldId id="296" r:id="rId16"/>
    <p:sldId id="297" r:id="rId17"/>
    <p:sldId id="298" r:id="rId18"/>
    <p:sldId id="299" r:id="rId19"/>
    <p:sldId id="300" r:id="rId20"/>
    <p:sldId id="301" r:id="rId21"/>
    <p:sldId id="311" r:id="rId22"/>
    <p:sldId id="312" r:id="rId23"/>
    <p:sldId id="313" r:id="rId24"/>
    <p:sldId id="315" r:id="rId25"/>
    <p:sldId id="314" r:id="rId26"/>
    <p:sldId id="316" r:id="rId27"/>
    <p:sldId id="317" r:id="rId28"/>
    <p:sldId id="275" r:id="rId29"/>
    <p:sldId id="276" r:id="rId30"/>
    <p:sldId id="319" r:id="rId31"/>
    <p:sldId id="277" r:id="rId32"/>
    <p:sldId id="279" r:id="rId33"/>
    <p:sldId id="281" r:id="rId34"/>
    <p:sldId id="302" r:id="rId35"/>
    <p:sldId id="32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Fonseca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23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1T20:49:15.603" idx="1">
    <p:pos x="6000" y="0"/>
    <p:text>add slide number and at least  a bit of color?</p:text>
    <p:extLst>
      <p:ext uri="{C676402C-5697-4E1C-873F-D02D1690AC5C}">
        <p15:threadingInfo xmlns:p15="http://schemas.microsoft.com/office/powerpoint/2012/main" timeZoneBias="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1T20:49:15.603" idx="1">
    <p:pos x="6000" y="0"/>
    <p:text>add slide number and at least  a bit of color?</p:text>
    <p:extLst>
      <p:ext uri="{C676402C-5697-4E1C-873F-D02D1690AC5C}">
        <p15:threadingInfo xmlns:p15="http://schemas.microsoft.com/office/powerpoint/2012/main" timeZoneBias="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1T20:45:10.059" idx="2">
    <p:pos x="6000" y="100"/>
    <p:text>Add motivating example?</p:text>
    <p:extLst>
      <p:ext uri="{C676402C-5697-4E1C-873F-D02D1690AC5C}">
        <p15:threadingInfo xmlns:p15="http://schemas.microsoft.com/office/powerpoint/2012/main" timeZoneBias="0"/>
      </p:ext>
    </p:extLst>
  </p:cm>
  <p:cm authorId="1" dt="2023-03-21T20:48:04.426" idx="3">
    <p:pos x="6000" y="0"/>
    <p:text>explain use cases?</p:text>
    <p:extLst>
      <p:ext uri="{C676402C-5697-4E1C-873F-D02D1690AC5C}">
        <p15:threadingInfo xmlns:p15="http://schemas.microsoft.com/office/powerpoint/2012/main" timeZoneBias="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86597-79F8-443D-BC7A-4BAF2FC1A05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7A477-CDFC-4405-8A15-2401DCD3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00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1205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5545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7A477-CDFC-4405-8A15-2401DCD395B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14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D3E9A-C151-29EA-DE75-4D598B392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401E3-58FA-73C9-876D-17E2EFFD3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94C99-6EDE-B23B-932D-91876A7EE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F96D-022D-42B3-9E7B-53538A9F7293}" type="datetime1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1ED81-2D3F-D68F-002C-E9F06A68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452CA-0335-AC48-0AA3-CCDEE8DC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36B3-E692-48B8-B414-1C3A75E9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BD5F7-9EE7-1DD5-D6FA-A61133FDE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B355D-81C2-00BC-1DF7-67D2ED91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CA28-1279-4E01-827F-7309EFAC4417}" type="datetime1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A1ED5-2DD1-5206-1182-3C955B95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A8589-E5AE-3343-CD69-DFD50E188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989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D51C-597B-23E1-9E2C-08635274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63606-D3B1-A625-2D78-9B61AD18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83D66-D332-235C-75BF-94AF7F49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68D2-B807-497C-B819-4185CF0FFA67}" type="datetime1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CE91C-6652-6748-857E-1983162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0407B-274F-44BD-ABE6-605ACC10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004F-6869-0735-9382-C856EF3FB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4FAB-9D78-2D1C-D801-839E99B82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34907-96F8-E3C2-BCFB-D4A57068C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4CEDF-272F-BA06-B499-CD54329A6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1069-29FA-422C-8BA8-E36E69C8CFF1}" type="datetime1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72487-44C6-7508-132B-91A772C0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665AB-D5D1-DD8C-265B-B382CD38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9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2172C-D20D-C2C4-C3F5-44790CAE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7FA88-5DD1-9548-12E5-D8C3FA0D4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FBF49B-D93B-E1A0-A74B-D6CF2974B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DC7C4-FF38-C842-BEA9-F195793E1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9F67F-8CC6-92AE-5D86-0712E418F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BF5CD-A6E7-36AC-4F29-5AE4B3AA4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B377-794A-43FD-8861-7694337E1CA5}" type="datetime1">
              <a:rPr lang="en-US" smtClean="0"/>
              <a:t>3/28/2023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19F98D-3089-02DE-34F1-EC5190534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4711E-8EF7-712B-5261-52CC247F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1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ED81-B2FD-A707-63B5-E9306129A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DD7660-5FC6-49CA-57A8-C7523847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A9CE-F641-4176-AE48-08666BADC188}" type="datetime1">
              <a:rPr lang="en-US" smtClean="0"/>
              <a:t>3/28/2023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6B600D-94CA-2675-ACB8-D5A8C9D4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DFE56D-5B60-16AA-5EF9-924D1723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1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3A367D-231E-F45F-03F0-45884B89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52CB-4E42-4084-9F4A-4B462C56A847}" type="datetime1">
              <a:rPr lang="en-US" smtClean="0"/>
              <a:t>3/28/2023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CD1277-F7E7-6D2C-38BB-13F15155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EDC82-2D67-1271-433D-B57BEA5A8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90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03AC-834C-9731-C709-84E824CE5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6A3B8-9088-A9A3-DC34-EE46FC7EA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DC9ED-D3F5-7926-AE8F-AB89CF94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DA3C3-6AA7-14DA-C573-8A51E907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3B2E0-8F61-4953-9880-D949AE792682}" type="datetime1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92B6E-C2CA-096E-7177-E7286EB71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BEACB-6689-D4F0-1A98-16A3BDF0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15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1113E-7870-4502-F35D-2ED5DB2A9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C9CA0-BB4B-3D07-2C1B-DE785C1FA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590FE-451E-9479-1D86-0D6458510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CBB82-0266-373A-3041-AD6E715A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A1B4-88A6-4FA6-A026-01971A9B5F11}" type="datetime1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A9650-F29C-416E-C01F-912B93BA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F1F46-199B-2293-B8D1-56D0FF55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7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931F3-6302-A83B-A0D7-ABB25FE61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403C9-34F5-935E-81CA-4B1F40746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D1AE0-A6BE-9881-5D78-6D46255D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B806E-F230-41F8-8218-FB9795DBFC93}" type="datetime1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9F82F-3950-B6D2-4CBE-88B75684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23810-05E5-23CC-335A-49B33662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79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C9D8B-D787-E221-A1CD-9A56C9DA87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10379-803F-9E96-C0AF-AC17E81AD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627B6-2F9A-8F96-317C-284B8001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63EFB-9C07-4175-A6DF-09EBC3254B0C}" type="datetime1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888AE-A24D-B390-D3F6-17F3D3FC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4FF42-4995-8A51-A7C2-AD6EDFD0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2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78129-C96B-8065-6B29-81F8AB8DE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CB4A1-C709-B5E9-7783-34FB24315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0A54E-79EF-E632-6E7E-41D6E14345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5A5E3-94F1-45F2-85A2-96ED93AA8500}" type="datetime1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33723-11D1-CACA-D7D4-EAA4596E3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E8CB2-E225-DA2A-4A94-84C7E4171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844DD-540E-4B9F-B578-7EE54316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7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cornell.edu/courses/cs711/2005fa/papers/steensgaard-popl96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Static Analysis (Recap)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FA70B87-A5A6-4AE7-5B5D-397D81238E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Slides adapted from Claire Le </a:t>
            </a:r>
            <a:r>
              <a:rPr lang="en-US" dirty="0" err="1"/>
              <a:t>Goues</a:t>
            </a:r>
            <a:r>
              <a:rPr lang="en-US" dirty="0"/>
              <a:t>, Jonathan Aldrich, Phillip Gibbons 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E44B84-614F-6D0E-ADCC-49AF51A753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49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96AF-E68F-0E12-016E-6A9DF86EC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54ABA-706D-A6AB-1822-BE476D07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Static program analysis aims at discovering semantic properties or runtime behavior of programs without running them</a:t>
            </a:r>
          </a:p>
          <a:p>
            <a:r>
              <a:rPr lang="en-US" dirty="0"/>
              <a:t>Key ideas</a:t>
            </a:r>
          </a:p>
          <a:p>
            <a:pPr lvl="1"/>
            <a:r>
              <a:rPr lang="en-US" dirty="0"/>
              <a:t>Abstraction</a:t>
            </a:r>
          </a:p>
          <a:p>
            <a:pPr lvl="2"/>
            <a:r>
              <a:rPr lang="en-US" dirty="0"/>
              <a:t>Capture semantically relevant details and elide non-relevant details</a:t>
            </a:r>
          </a:p>
          <a:p>
            <a:pPr lvl="1"/>
            <a:r>
              <a:rPr lang="en-US" dirty="0"/>
              <a:t>Treat programs as data: </a:t>
            </a:r>
          </a:p>
          <a:p>
            <a:pPr lvl="2"/>
            <a:r>
              <a:rPr lang="en-US" dirty="0"/>
              <a:t>Programs are just graphs (CFG, </a:t>
            </a:r>
            <a:r>
              <a:rPr lang="en-US" dirty="0" err="1"/>
              <a:t>callgraph</a:t>
            </a:r>
            <a:r>
              <a:rPr lang="en-US" dirty="0"/>
              <a:t>)</a:t>
            </a:r>
          </a:p>
          <a:p>
            <a:r>
              <a:rPr lang="en-US" dirty="0"/>
              <a:t>Sound: if the program can violate a property it will always report it</a:t>
            </a:r>
          </a:p>
          <a:p>
            <a:r>
              <a:rPr lang="en-US"/>
              <a:t>But imprecise</a:t>
            </a:r>
            <a:r>
              <a:rPr lang="en-US" dirty="0"/>
              <a:t>: even if the program does not violate the property the result could say that it might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88EE3-2D22-EBFD-25FA-B2707964F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964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Analysis (Negative Array Index)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003C65-6601-26AC-E51D-24F48769DE5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81823"/>
            <a:ext cx="6048730" cy="48409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[1000];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endParaRPr lang="en-US" sz="2000" dirty="0">
              <a:solidFill>
                <a:srgbClr val="000000"/>
              </a:solidFill>
              <a:latin typeface="Consolas" pitchFamily="49" charset="0"/>
              <a:ea typeface="ＭＳ Ｐゴシック" pitchFamily="34" charset="-128"/>
              <a:cs typeface="Consolas" pitchFamily="49" charset="0"/>
            </a:endParaRP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main(void)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= -2;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j = -10;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m = 20;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endParaRPr lang="en-US" sz="2000" dirty="0">
              <a:solidFill>
                <a:srgbClr val="000000"/>
              </a:solidFill>
              <a:latin typeface="Consolas" pitchFamily="49" charset="0"/>
              <a:ea typeface="ＭＳ Ｐゴシック" pitchFamily="34" charset="-128"/>
              <a:cs typeface="Consolas" pitchFamily="49" charset="0"/>
            </a:endParaRP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for (int k = j; k &lt; 200; k++)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*=2;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m-=4;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i+m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] = k;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return 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186B1-0660-4CED-30A3-63A79D6BB2EE}"/>
              </a:ext>
            </a:extLst>
          </p:cNvPr>
          <p:cNvSpPr txBox="1"/>
          <p:nvPr/>
        </p:nvSpPr>
        <p:spPr>
          <a:xfrm>
            <a:off x="4572378" y="4122813"/>
            <a:ext cx="57322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Can the array index in statement 9 be negative?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99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  <a:p>
            <a:pPr lvl="1"/>
            <a:r>
              <a:rPr lang="en-US" dirty="0"/>
              <a:t>Positive, Not-Positive, Maybe-Positive</a:t>
            </a:r>
          </a:p>
          <a:p>
            <a:pPr lvl="1"/>
            <a:endParaRPr lang="en-US" dirty="0"/>
          </a:p>
          <a:p>
            <a:r>
              <a:rPr lang="en-US" dirty="0"/>
              <a:t>Operations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6" name="Table 57">
            <a:extLst>
              <a:ext uri="{FF2B5EF4-FFF2-40B4-BE49-F238E27FC236}">
                <a16:creationId xmlns:a16="http://schemas.microsoft.com/office/drawing/2014/main" id="{A6669AB4-8141-E195-76AE-FB713F3C4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882763"/>
              </p:ext>
            </p:extLst>
          </p:nvPr>
        </p:nvGraphicFramePr>
        <p:xfrm>
          <a:off x="6348037" y="578728"/>
          <a:ext cx="4931052" cy="48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763">
                  <a:extLst>
                    <a:ext uri="{9D8B030D-6E8A-4147-A177-3AD203B41FA5}">
                      <a16:colId xmlns:a16="http://schemas.microsoft.com/office/drawing/2014/main" val="2909566383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505269219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2726991713"/>
                    </a:ext>
                  </a:extLst>
                </a:gridCol>
                <a:gridCol w="1232763">
                  <a:extLst>
                    <a:ext uri="{9D8B030D-6E8A-4147-A177-3AD203B41FA5}">
                      <a16:colId xmlns:a16="http://schemas.microsoft.com/office/drawing/2014/main" val="4292164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Operand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Operand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37009"/>
                  </a:ext>
                </a:extLst>
              </a:tr>
              <a:tr h="3712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4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25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366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99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31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752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04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68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466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99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7975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17758" y="427770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Can be zero!</a:t>
            </a:r>
          </a:p>
        </p:txBody>
      </p:sp>
    </p:spTree>
    <p:extLst>
      <p:ext uri="{BB962C8B-B14F-4D97-AF65-F5344CB8AC3E}">
        <p14:creationId xmlns:p14="http://schemas.microsoft.com/office/powerpoint/2010/main" val="115674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Analysis: Control Flow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0003C65-6601-26AC-E51D-24F48769DE5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81823"/>
            <a:ext cx="6048730" cy="48409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[1000];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endParaRPr lang="en-US" sz="2000" dirty="0">
              <a:solidFill>
                <a:srgbClr val="000000"/>
              </a:solidFill>
              <a:latin typeface="Consolas" pitchFamily="49" charset="0"/>
              <a:ea typeface="ＭＳ Ｐゴシック" pitchFamily="34" charset="-128"/>
              <a:cs typeface="Consolas" pitchFamily="49" charset="0"/>
            </a:endParaRP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main(void)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= -2;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j = -10;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int m = 20;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endParaRPr lang="en-US" sz="2000" dirty="0">
              <a:solidFill>
                <a:srgbClr val="000000"/>
              </a:solidFill>
              <a:latin typeface="Consolas" pitchFamily="49" charset="0"/>
              <a:ea typeface="ＭＳ Ｐゴシック" pitchFamily="34" charset="-128"/>
              <a:cs typeface="Consolas" pitchFamily="49" charset="0"/>
            </a:endParaRP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for (int k = j; k &lt; 200; k++)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*=2;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m-=4;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i+m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] = k;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return 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4185" y="1403575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= -2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4186" y="2211642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 = 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4190" y="3072721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 = 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4189" y="3972172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*2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4188" y="4762114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 = m - 4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4187" y="5661565"/>
            <a:ext cx="1864311" cy="51490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arr</a:t>
            </a:r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en-US" dirty="0" err="1">
                <a:solidFill>
                  <a:schemeClr val="tx1"/>
                </a:solidFill>
              </a:rPr>
              <a:t>i+m</a:t>
            </a:r>
            <a:r>
              <a:rPr lang="en-US" dirty="0">
                <a:solidFill>
                  <a:schemeClr val="tx1"/>
                </a:solidFill>
              </a:rPr>
              <a:t>] = k</a:t>
            </a:r>
          </a:p>
        </p:txBody>
      </p:sp>
      <p:cxnSp>
        <p:nvCxnSpPr>
          <p:cNvPr id="15" name="Straight Arrow Connector 14"/>
          <p:cNvCxnSpPr>
            <a:stCxn id="8" idx="2"/>
            <a:endCxn id="9" idx="0"/>
          </p:cNvCxnSpPr>
          <p:nvPr/>
        </p:nvCxnSpPr>
        <p:spPr>
          <a:xfrm>
            <a:off x="9046341" y="1918480"/>
            <a:ext cx="1" cy="2931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2"/>
            <a:endCxn id="10" idx="0"/>
          </p:cNvCxnSpPr>
          <p:nvPr/>
        </p:nvCxnSpPr>
        <p:spPr>
          <a:xfrm>
            <a:off x="9046342" y="2726547"/>
            <a:ext cx="4" cy="3461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1" idx="0"/>
          </p:cNvCxnSpPr>
          <p:nvPr/>
        </p:nvCxnSpPr>
        <p:spPr>
          <a:xfrm flipH="1">
            <a:off x="9046345" y="3587626"/>
            <a:ext cx="1" cy="3845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1" idx="2"/>
            <a:endCxn id="12" idx="0"/>
          </p:cNvCxnSpPr>
          <p:nvPr/>
        </p:nvCxnSpPr>
        <p:spPr>
          <a:xfrm flipH="1">
            <a:off x="9046344" y="4487077"/>
            <a:ext cx="1" cy="2750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2" idx="2"/>
            <a:endCxn id="13" idx="0"/>
          </p:cNvCxnSpPr>
          <p:nvPr/>
        </p:nvCxnSpPr>
        <p:spPr>
          <a:xfrm flipH="1">
            <a:off x="9046343" y="5277019"/>
            <a:ext cx="1" cy="3845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13" idx="1"/>
            <a:endCxn id="11" idx="1"/>
          </p:cNvCxnSpPr>
          <p:nvPr/>
        </p:nvCxnSpPr>
        <p:spPr>
          <a:xfrm rot="10800000" flipH="1">
            <a:off x="8114187" y="4229626"/>
            <a:ext cx="2" cy="1689393"/>
          </a:xfrm>
          <a:prstGeom prst="bentConnector3">
            <a:avLst>
              <a:gd name="adj1" fmla="val -11430000000"/>
            </a:avLst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03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Analysis: Apply Abstraction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093128" y="1562146"/>
            <a:ext cx="1864316" cy="4772895"/>
            <a:chOff x="3093128" y="1562146"/>
            <a:chExt cx="1864316" cy="4772895"/>
          </a:xfrm>
        </p:grpSpPr>
        <p:sp>
          <p:nvSpPr>
            <p:cNvPr id="8" name="Rectangle 7"/>
            <p:cNvSpPr/>
            <p:nvPr/>
          </p:nvSpPr>
          <p:spPr>
            <a:xfrm>
              <a:off x="3093128" y="1562146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 = -2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93129" y="2370213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j = -10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93133" y="3231292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 = 20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93132" y="4130743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 = </a:t>
              </a:r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*2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93131" y="4920685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 = m - 4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093130" y="5820136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arr</a:t>
              </a:r>
              <a:r>
                <a:rPr lang="en-US" dirty="0">
                  <a:solidFill>
                    <a:schemeClr val="tx1"/>
                  </a:solidFill>
                </a:rPr>
                <a:t>[</a:t>
              </a:r>
              <a:r>
                <a:rPr lang="en-US" dirty="0" err="1">
                  <a:solidFill>
                    <a:schemeClr val="tx1"/>
                  </a:solidFill>
                </a:rPr>
                <a:t>i+m</a:t>
              </a:r>
              <a:r>
                <a:rPr lang="en-US" dirty="0">
                  <a:solidFill>
                    <a:schemeClr val="tx1"/>
                  </a:solidFill>
                </a:rPr>
                <a:t>] = k</a:t>
              </a:r>
            </a:p>
          </p:txBody>
        </p:sp>
        <p:cxnSp>
          <p:nvCxnSpPr>
            <p:cNvPr id="15" name="Straight Arrow Connector 14"/>
            <p:cNvCxnSpPr>
              <a:stCxn id="8" idx="2"/>
              <a:endCxn id="9" idx="0"/>
            </p:cNvCxnSpPr>
            <p:nvPr/>
          </p:nvCxnSpPr>
          <p:spPr>
            <a:xfrm>
              <a:off x="4025284" y="2077051"/>
              <a:ext cx="1" cy="29316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2"/>
              <a:endCxn id="10" idx="0"/>
            </p:cNvCxnSpPr>
            <p:nvPr/>
          </p:nvCxnSpPr>
          <p:spPr>
            <a:xfrm>
              <a:off x="4025285" y="2885118"/>
              <a:ext cx="4" cy="34617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2"/>
              <a:endCxn id="11" idx="0"/>
            </p:cNvCxnSpPr>
            <p:nvPr/>
          </p:nvCxnSpPr>
          <p:spPr>
            <a:xfrm flipH="1">
              <a:off x="4025288" y="3746197"/>
              <a:ext cx="1" cy="3845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1" idx="2"/>
              <a:endCxn id="12" idx="0"/>
            </p:cNvCxnSpPr>
            <p:nvPr/>
          </p:nvCxnSpPr>
          <p:spPr>
            <a:xfrm flipH="1">
              <a:off x="4025287" y="4645648"/>
              <a:ext cx="1" cy="27503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2" idx="2"/>
              <a:endCxn id="13" idx="0"/>
            </p:cNvCxnSpPr>
            <p:nvPr/>
          </p:nvCxnSpPr>
          <p:spPr>
            <a:xfrm flipH="1">
              <a:off x="4025286" y="5435590"/>
              <a:ext cx="1" cy="3845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>
              <a:stCxn id="13" idx="1"/>
              <a:endCxn id="11" idx="1"/>
            </p:cNvCxnSpPr>
            <p:nvPr/>
          </p:nvCxnSpPr>
          <p:spPr>
            <a:xfrm rot="10800000" flipH="1">
              <a:off x="3093130" y="4388197"/>
              <a:ext cx="2" cy="1689393"/>
            </a:xfrm>
            <a:prstGeom prst="bentConnector3">
              <a:avLst>
                <a:gd name="adj1" fmla="val -11430000000"/>
              </a:avLst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8" name="Table 57">
            <a:extLst>
              <a:ext uri="{FF2B5EF4-FFF2-40B4-BE49-F238E27FC236}">
                <a16:creationId xmlns:a16="http://schemas.microsoft.com/office/drawing/2014/main" id="{A6669AB4-8141-E195-76AE-FB713F3C4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977223"/>
              </p:ext>
            </p:extLst>
          </p:nvPr>
        </p:nvGraphicFramePr>
        <p:xfrm>
          <a:off x="373365" y="1513683"/>
          <a:ext cx="214789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973">
                  <a:extLst>
                    <a:ext uri="{9D8B030D-6E8A-4147-A177-3AD203B41FA5}">
                      <a16:colId xmlns:a16="http://schemas.microsoft.com/office/drawing/2014/main" val="2909566383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505269219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2726991713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4292164389"/>
                    </a:ext>
                  </a:extLst>
                </a:gridCol>
              </a:tblGrid>
              <a:tr h="3230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37009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4207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25433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366932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993504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31806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752245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7277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04644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68709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466900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99896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7975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34732" y="1588813"/>
            <a:ext cx="79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i: 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4732" y="2392103"/>
            <a:ext cx="159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</a:t>
            </a:r>
            <a:r>
              <a:rPr lang="en-US" u="sng" dirty="0"/>
              <a:t>j = 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4732" y="3260020"/>
            <a:ext cx="1902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</a:t>
            </a:r>
            <a:r>
              <a:rPr lang="en-US" u="sng" dirty="0"/>
              <a:t>m = 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4732" y="4130972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</a:t>
            </a:r>
            <a:r>
              <a:rPr lang="en-US" u="sng" dirty="0"/>
              <a:t>MP</a:t>
            </a:r>
            <a:r>
              <a:rPr lang="en-US" dirty="0"/>
              <a:t>, j = NP, m = 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5715" y="4920685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MP, j = NP, m = </a:t>
            </a:r>
            <a:r>
              <a:rPr lang="en-US" b="1" u="sng" dirty="0">
                <a:solidFill>
                  <a:srgbClr val="C00000"/>
                </a:solidFill>
              </a:rPr>
              <a:t>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7439" y="5847658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MP, j = NP, m = MP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759E6-3B61-6FCF-95ED-B170D6EAFA1B}"/>
              </a:ext>
            </a:extLst>
          </p:cNvPr>
          <p:cNvSpPr txBox="1"/>
          <p:nvPr/>
        </p:nvSpPr>
        <p:spPr>
          <a:xfrm>
            <a:off x="7323434" y="4130743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MP, j = NP, m = MP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C07EA-3573-C040-612F-41149E89D1A4}"/>
              </a:ext>
            </a:extLst>
          </p:cNvPr>
          <p:cNvSpPr txBox="1"/>
          <p:nvPr/>
        </p:nvSpPr>
        <p:spPr>
          <a:xfrm>
            <a:off x="7293561" y="4920456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MP, j = NP, m = MP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F29272-A5CD-FE8E-1F9D-56D325F2C03D}"/>
              </a:ext>
            </a:extLst>
          </p:cNvPr>
          <p:cNvSpPr txBox="1"/>
          <p:nvPr/>
        </p:nvSpPr>
        <p:spPr>
          <a:xfrm>
            <a:off x="7273573" y="5847429"/>
            <a:ext cx="220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MP, j = NP, m = MP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AD99F8-10F4-5198-8043-DA678C12BF3D}"/>
              </a:ext>
            </a:extLst>
          </p:cNvPr>
          <p:cNvSpPr txBox="1"/>
          <p:nvPr/>
        </p:nvSpPr>
        <p:spPr>
          <a:xfrm>
            <a:off x="4642221" y="6350288"/>
            <a:ext cx="610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m = MP </a:t>
            </a:r>
            <a:r>
              <a:rPr lang="en-US" sz="2400" b="1" i="1" dirty="0">
                <a:sym typeface="Wingdings" panose="05000000000000000000" pitchFamily="2" charset="2"/>
              </a:rPr>
              <a:t> array-index might be negative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32703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22" grpId="0"/>
      <p:bldP spid="24" grpId="0"/>
      <p:bldP spid="25" grpId="0"/>
      <p:bldP spid="27" grpId="0"/>
      <p:bldP spid="5" grpId="0"/>
      <p:bldP spid="7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093128" y="1562146"/>
            <a:ext cx="1864316" cy="4772895"/>
            <a:chOff x="3093128" y="1562146"/>
            <a:chExt cx="1864316" cy="4772895"/>
          </a:xfrm>
        </p:grpSpPr>
        <p:sp>
          <p:nvSpPr>
            <p:cNvPr id="8" name="Rectangle 7"/>
            <p:cNvSpPr/>
            <p:nvPr/>
          </p:nvSpPr>
          <p:spPr>
            <a:xfrm>
              <a:off x="3093128" y="1562146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 = -2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93129" y="2370213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j = -10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93133" y="3231292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 = 20, </a:t>
              </a:r>
              <a:r>
                <a:rPr lang="en-US" b="1" dirty="0">
                  <a:solidFill>
                    <a:srgbClr val="00B050"/>
                  </a:solidFill>
                </a:rPr>
                <a:t>x = -5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93132" y="4130743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 = </a:t>
              </a:r>
              <a:r>
                <a:rPr lang="en-US" dirty="0" err="1">
                  <a:solidFill>
                    <a:schemeClr val="tx1"/>
                  </a:solidFill>
                </a:rPr>
                <a:t>i</a:t>
              </a:r>
              <a:r>
                <a:rPr lang="en-US" dirty="0">
                  <a:solidFill>
                    <a:schemeClr val="tx1"/>
                  </a:solidFill>
                </a:rPr>
                <a:t>*2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93131" y="4920685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 = m </a:t>
              </a:r>
              <a:r>
                <a:rPr lang="en-US" b="1" dirty="0">
                  <a:solidFill>
                    <a:srgbClr val="00B050"/>
                  </a:solidFill>
                </a:rPr>
                <a:t>- x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093130" y="5820136"/>
              <a:ext cx="1864311" cy="514905"/>
            </a:xfrm>
            <a:prstGeom prst="rect">
              <a:avLst/>
            </a:prstGeom>
            <a:noFill/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arr</a:t>
              </a:r>
              <a:r>
                <a:rPr lang="en-US" dirty="0">
                  <a:solidFill>
                    <a:schemeClr val="tx1"/>
                  </a:solidFill>
                </a:rPr>
                <a:t>[</a:t>
              </a:r>
              <a:r>
                <a:rPr lang="en-US" dirty="0" err="1">
                  <a:solidFill>
                    <a:schemeClr val="tx1"/>
                  </a:solidFill>
                </a:rPr>
                <a:t>i+m</a:t>
              </a:r>
              <a:r>
                <a:rPr lang="en-US" dirty="0">
                  <a:solidFill>
                    <a:schemeClr val="tx1"/>
                  </a:solidFill>
                </a:rPr>
                <a:t>] = k</a:t>
              </a:r>
            </a:p>
          </p:txBody>
        </p:sp>
        <p:cxnSp>
          <p:nvCxnSpPr>
            <p:cNvPr id="15" name="Straight Arrow Connector 14"/>
            <p:cNvCxnSpPr>
              <a:stCxn id="8" idx="2"/>
              <a:endCxn id="9" idx="0"/>
            </p:cNvCxnSpPr>
            <p:nvPr/>
          </p:nvCxnSpPr>
          <p:spPr>
            <a:xfrm>
              <a:off x="4025284" y="2077051"/>
              <a:ext cx="1" cy="29316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2"/>
              <a:endCxn id="10" idx="0"/>
            </p:cNvCxnSpPr>
            <p:nvPr/>
          </p:nvCxnSpPr>
          <p:spPr>
            <a:xfrm>
              <a:off x="4025285" y="2885118"/>
              <a:ext cx="4" cy="34617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2"/>
              <a:endCxn id="11" idx="0"/>
            </p:cNvCxnSpPr>
            <p:nvPr/>
          </p:nvCxnSpPr>
          <p:spPr>
            <a:xfrm flipH="1">
              <a:off x="4025288" y="3746197"/>
              <a:ext cx="1" cy="3845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1" idx="2"/>
              <a:endCxn id="12" idx="0"/>
            </p:cNvCxnSpPr>
            <p:nvPr/>
          </p:nvCxnSpPr>
          <p:spPr>
            <a:xfrm flipH="1">
              <a:off x="4025287" y="4645648"/>
              <a:ext cx="1" cy="27503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2" idx="2"/>
              <a:endCxn id="13" idx="0"/>
            </p:cNvCxnSpPr>
            <p:nvPr/>
          </p:nvCxnSpPr>
          <p:spPr>
            <a:xfrm flipH="1">
              <a:off x="4025286" y="5435590"/>
              <a:ext cx="1" cy="3845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>
              <a:stCxn id="13" idx="1"/>
              <a:endCxn id="11" idx="1"/>
            </p:cNvCxnSpPr>
            <p:nvPr/>
          </p:nvCxnSpPr>
          <p:spPr>
            <a:xfrm rot="10800000" flipH="1">
              <a:off x="3093130" y="4388197"/>
              <a:ext cx="2" cy="1689393"/>
            </a:xfrm>
            <a:prstGeom prst="bentConnector3">
              <a:avLst>
                <a:gd name="adj1" fmla="val -11430000000"/>
              </a:avLst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8" name="Table 57">
            <a:extLst>
              <a:ext uri="{FF2B5EF4-FFF2-40B4-BE49-F238E27FC236}">
                <a16:creationId xmlns:a16="http://schemas.microsoft.com/office/drawing/2014/main" id="{A6669AB4-8141-E195-76AE-FB713F3C4D72}"/>
              </a:ext>
            </a:extLst>
          </p:cNvPr>
          <p:cNvGraphicFramePr>
            <a:graphicFrameLocks noGrp="1"/>
          </p:cNvGraphicFramePr>
          <p:nvPr/>
        </p:nvGraphicFramePr>
        <p:xfrm>
          <a:off x="373365" y="1513683"/>
          <a:ext cx="214789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973">
                  <a:extLst>
                    <a:ext uri="{9D8B030D-6E8A-4147-A177-3AD203B41FA5}">
                      <a16:colId xmlns:a16="http://schemas.microsoft.com/office/drawing/2014/main" val="2909566383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505269219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2726991713"/>
                    </a:ext>
                  </a:extLst>
                </a:gridCol>
                <a:gridCol w="536973">
                  <a:extLst>
                    <a:ext uri="{9D8B030D-6E8A-4147-A177-3AD203B41FA5}">
                      <a16:colId xmlns:a16="http://schemas.microsoft.com/office/drawing/2014/main" val="4292164389"/>
                    </a:ext>
                  </a:extLst>
                </a:gridCol>
              </a:tblGrid>
              <a:tr h="3230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37009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4207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25433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366932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993504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31806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752245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7277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04644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68709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466900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99896"/>
                  </a:ext>
                </a:extLst>
              </a:tr>
              <a:tr h="3192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17975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34732" y="1588813"/>
            <a:ext cx="79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i: 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4732" y="2392103"/>
            <a:ext cx="159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</a:t>
            </a:r>
            <a:r>
              <a:rPr lang="en-US" u="sng" dirty="0"/>
              <a:t>j = 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4731" y="3260020"/>
            <a:ext cx="260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</a:t>
            </a:r>
            <a:r>
              <a:rPr lang="en-US" u="sng" dirty="0"/>
              <a:t>m = P, x = NP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4732" y="4130972"/>
            <a:ext cx="2509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</a:t>
            </a:r>
            <a:r>
              <a:rPr lang="en-US" u="sng" dirty="0"/>
              <a:t>NP</a:t>
            </a:r>
            <a:r>
              <a:rPr lang="en-US" dirty="0"/>
              <a:t>, j = NP, m = P, x = NP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5715" y="4920685"/>
            <a:ext cx="263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m = </a:t>
            </a:r>
            <a:r>
              <a:rPr lang="en-US" u="sng" dirty="0"/>
              <a:t>P, </a:t>
            </a:r>
            <a:r>
              <a:rPr lang="en-US" dirty="0"/>
              <a:t>x = NP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57439" y="5847658"/>
            <a:ext cx="263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m = P, x = NP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9EF80B-AC9C-528B-1AB6-5A55458AF008}"/>
              </a:ext>
            </a:extLst>
          </p:cNvPr>
          <p:cNvSpPr txBox="1"/>
          <p:nvPr/>
        </p:nvSpPr>
        <p:spPr>
          <a:xfrm>
            <a:off x="7789810" y="4130743"/>
            <a:ext cx="2509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m = P, x = NP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B08933-60A8-6F9B-5D25-00175657AC99}"/>
              </a:ext>
            </a:extLst>
          </p:cNvPr>
          <p:cNvSpPr txBox="1"/>
          <p:nvPr/>
        </p:nvSpPr>
        <p:spPr>
          <a:xfrm>
            <a:off x="7750793" y="4920456"/>
            <a:ext cx="263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m = P, x = NP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3A65A6-CC42-3EC5-1838-79AB3F05ED5F}"/>
              </a:ext>
            </a:extLst>
          </p:cNvPr>
          <p:cNvSpPr txBox="1"/>
          <p:nvPr/>
        </p:nvSpPr>
        <p:spPr>
          <a:xfrm>
            <a:off x="7712517" y="5847429"/>
            <a:ext cx="263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i: NP, j = NP, m = P, x = NP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F8EB0B-771C-FF59-B023-414E8FBC281A}"/>
              </a:ext>
            </a:extLst>
          </p:cNvPr>
          <p:cNvSpPr txBox="1"/>
          <p:nvPr/>
        </p:nvSpPr>
        <p:spPr>
          <a:xfrm>
            <a:off x="5154285" y="6301209"/>
            <a:ext cx="610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m = P </a:t>
            </a:r>
            <a:r>
              <a:rPr lang="en-US" sz="2400" b="1" i="1" dirty="0">
                <a:sym typeface="Wingdings" panose="05000000000000000000" pitchFamily="2" charset="2"/>
              </a:rPr>
              <a:t> array-index must be positive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49110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22" grpId="0"/>
      <p:bldP spid="24" grpId="0"/>
      <p:bldP spid="25" grpId="0"/>
      <p:bldP spid="27" grpId="0"/>
      <p:bldP spid="16" grpId="0"/>
      <p:bldP spid="19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Static Pointer Analysis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FA70B87-A5A6-4AE7-5B5D-397D81238E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E44B84-614F-6D0E-ADCC-49AF51A753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08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What is Pointer Analysis?</a:t>
            </a: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969000" cy="4351338"/>
          </a:xfrm>
        </p:spPr>
        <p:txBody>
          <a:bodyPr/>
          <a:lstStyle/>
          <a:p>
            <a:pPr lvl="0"/>
            <a:r>
              <a:rPr lang="en-US" dirty="0"/>
              <a:t>Languages such as C/C++ use pointers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Pointers present a challenge for static analysis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Pointer analysis is a static analysis technique that determines what memory locations a pointer can point to at runtime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60E8F-BBAA-1F01-0E0A-84A8EF83BA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9</a:t>
            </a:fld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4FC98B5-D626-6707-9639-671236330FE6}"/>
              </a:ext>
            </a:extLst>
          </p:cNvPr>
          <p:cNvSpPr txBox="1">
            <a:spLocks noChangeArrowheads="1"/>
          </p:cNvSpPr>
          <p:nvPr/>
        </p:nvSpPr>
        <p:spPr>
          <a:xfrm>
            <a:off x="7565136" y="2357783"/>
            <a:ext cx="3788664" cy="26475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b = 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p = &amp;q;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*p;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k = 100/*r;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0B1DD-70F9-A242-8006-44C50CE829ED}"/>
              </a:ext>
            </a:extLst>
          </p:cNvPr>
          <p:cNvSpPr txBox="1"/>
          <p:nvPr/>
        </p:nvSpPr>
        <p:spPr>
          <a:xfrm>
            <a:off x="7060186" y="5133312"/>
            <a:ext cx="5028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Need to know what </a:t>
            </a:r>
            <a:r>
              <a:rPr lang="en-US" sz="2400" b="1" dirty="0">
                <a:latin typeface="Consolas" panose="020B0609020204030204" pitchFamily="49" charset="0"/>
              </a:rPr>
              <a:t>r</a:t>
            </a:r>
            <a:r>
              <a:rPr lang="en-US" sz="2400" b="1" i="1" dirty="0"/>
              <a:t> points to, to determine if statement 9 has a DIV-BY-ZERO bug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May and Must Points-to</a:t>
            </a:r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Pointer analysis is a sound static analysis technique, but has imprecision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May point-to:</a:t>
            </a:r>
          </a:p>
          <a:p>
            <a:pPr lvl="1"/>
            <a:r>
              <a:rPr lang="en-US" dirty="0"/>
              <a:t>A pointer p may point to object o during execution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Must point to:</a:t>
            </a:r>
          </a:p>
          <a:p>
            <a:pPr lvl="1"/>
            <a:r>
              <a:rPr lang="en-US" dirty="0"/>
              <a:t>A pointer p must point to object o during execution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8B091F-E0E5-62DA-2099-3BF5E384D6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EE25-1EB3-436D-6FA1-395C1AFC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Analysis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19CD5-9CB0-12CD-34EE-C3654F15D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program to a graph form</a:t>
            </a:r>
          </a:p>
          <a:p>
            <a:pPr lvl="1"/>
            <a:r>
              <a:rPr lang="en-US" dirty="0"/>
              <a:t>Instead of a control flow graph, we create the Program Assignment Graph (PAG)</a:t>
            </a:r>
            <a:br>
              <a:rPr lang="en-US" dirty="0"/>
            </a:br>
            <a:endParaRPr lang="en-US" dirty="0"/>
          </a:p>
          <a:p>
            <a:r>
              <a:rPr lang="en-US" dirty="0"/>
              <a:t>Elide irrelevant information</a:t>
            </a:r>
          </a:p>
          <a:p>
            <a:pPr lvl="1"/>
            <a:r>
              <a:rPr lang="en-US" dirty="0"/>
              <a:t>Model only the operations that update pointer values in the PAG</a:t>
            </a:r>
            <a:br>
              <a:rPr lang="en-US" dirty="0"/>
            </a:br>
            <a:endParaRPr lang="en-US" dirty="0"/>
          </a:p>
          <a:p>
            <a:r>
              <a:rPr lang="en-US" dirty="0"/>
              <a:t>Solve the PAG according to constraint resolution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C68A-FEEF-08D7-0ED8-27CDE3D3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05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A737-A640-EB84-B0EA-9985DFEB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Program to Program Assignment Graph (PAG)</a:t>
            </a:r>
          </a:p>
        </p:txBody>
      </p:sp>
      <p:sp>
        <p:nvSpPr>
          <p:cNvPr id="7" name="Google Shape;103;p4">
            <a:extLst>
              <a:ext uri="{FF2B5EF4-FFF2-40B4-BE49-F238E27FC236}">
                <a16:creationId xmlns:a16="http://schemas.microsoft.com/office/drawing/2014/main" id="{C74304EE-F764-1FF5-75AF-B3035DA80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PAG graph has a node for each pointer in the program, and an edge for each pointer assignment (constraint)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Pointers can be assigned by four types of statements</a:t>
            </a:r>
          </a:p>
          <a:p>
            <a:pPr lvl="1"/>
            <a:r>
              <a:rPr lang="en-US" dirty="0"/>
              <a:t>p = &amp;a; (</a:t>
            </a:r>
            <a:r>
              <a:rPr lang="en-US" dirty="0" err="1"/>
              <a:t>Addr</a:t>
            </a:r>
            <a:r>
              <a:rPr lang="en-US" dirty="0"/>
              <a:t>-of)</a:t>
            </a:r>
          </a:p>
          <a:p>
            <a:pPr lvl="1"/>
            <a:r>
              <a:rPr lang="en-US" dirty="0"/>
              <a:t>p = q;    (Copy)</a:t>
            </a:r>
          </a:p>
          <a:p>
            <a:pPr lvl="1"/>
            <a:r>
              <a:rPr lang="en-US" dirty="0"/>
              <a:t>p = *q;  (Load)</a:t>
            </a:r>
          </a:p>
          <a:p>
            <a:pPr lvl="1"/>
            <a:r>
              <a:rPr lang="en-US" dirty="0"/>
              <a:t>*q = p;  (Store)</a:t>
            </a:r>
          </a:p>
          <a:p>
            <a:pPr lvl="1"/>
            <a:endParaRPr lang="en-US" dirty="0"/>
          </a:p>
          <a:p>
            <a:r>
              <a:rPr lang="en-US" dirty="0"/>
              <a:t>These are also known as constraints</a:t>
            </a:r>
          </a:p>
          <a:p>
            <a:pPr lvl="1"/>
            <a:endParaRPr lang="en-US" dirty="0"/>
          </a:p>
          <a:p>
            <a:r>
              <a:rPr lang="en-US" dirty="0"/>
              <a:t>Note that p, q, and a can be multi-level pointers (int*, int**, int***, </a:t>
            </a:r>
            <a:r>
              <a:rPr lang="en-US" dirty="0" err="1"/>
              <a:t>etc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049983-8153-9953-2532-047E7E7C29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52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EFC59-B73B-727A-C30A-348FBE84B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 Example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B391707-7009-47BA-DF14-E43384ADD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r>
              <a:rPr lang="en-US" b="1" i="1" dirty="0"/>
              <a:t>Every pointer has its points-to set that is updated as the analysis proceeds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62CFA745-9EFE-0E8A-79A2-D61C5869A4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13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72235-F1A3-6425-8C48-653D5EF6D48B}"/>
              </a:ext>
            </a:extLst>
          </p:cNvPr>
          <p:cNvSpPr txBox="1">
            <a:spLocks noChangeArrowheads="1"/>
          </p:cNvSpPr>
          <p:nvPr/>
        </p:nvSpPr>
        <p:spPr>
          <a:xfrm>
            <a:off x="954024" y="2174903"/>
            <a:ext cx="3788664" cy="26475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b = 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p = &amp;q;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*p;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k = 100/*r;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680970-D583-3610-730F-21A3922D9886}"/>
              </a:ext>
            </a:extLst>
          </p:cNvPr>
          <p:cNvSpPr/>
          <p:nvPr/>
        </p:nvSpPr>
        <p:spPr>
          <a:xfrm>
            <a:off x="6167628" y="1892808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0CFEC6-6212-D827-357F-BAE74EA8EE59}"/>
              </a:ext>
            </a:extLst>
          </p:cNvPr>
          <p:cNvSpPr/>
          <p:nvPr/>
        </p:nvSpPr>
        <p:spPr>
          <a:xfrm>
            <a:off x="7831836" y="1892808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567244-05BD-680D-21AC-B13AF072400C}"/>
              </a:ext>
            </a:extLst>
          </p:cNvPr>
          <p:cNvSpPr/>
          <p:nvPr/>
        </p:nvSpPr>
        <p:spPr>
          <a:xfrm>
            <a:off x="6167628" y="349516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97353F-4D82-DA7F-95AB-16EB03380D89}"/>
              </a:ext>
            </a:extLst>
          </p:cNvPr>
          <p:cNvSpPr/>
          <p:nvPr/>
        </p:nvSpPr>
        <p:spPr>
          <a:xfrm>
            <a:off x="7365492" y="349516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D62C64-6008-11F0-E60F-A0DA2EF993CC}"/>
              </a:ext>
            </a:extLst>
          </p:cNvPr>
          <p:cNvCxnSpPr>
            <a:stCxn id="10" idx="2"/>
            <a:endCxn id="9" idx="6"/>
          </p:cNvCxnSpPr>
          <p:nvPr/>
        </p:nvCxnSpPr>
        <p:spPr>
          <a:xfrm flipH="1">
            <a:off x="6789420" y="2194560"/>
            <a:ext cx="104241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D56915EA-3DE6-E1F2-FF44-8B658FD3B6DD}"/>
              </a:ext>
            </a:extLst>
          </p:cNvPr>
          <p:cNvSpPr/>
          <p:nvPr/>
        </p:nvSpPr>
        <p:spPr>
          <a:xfrm>
            <a:off x="8677656" y="349516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C5CCCE-5247-B80B-D637-F05220EDCEED}"/>
              </a:ext>
            </a:extLst>
          </p:cNvPr>
          <p:cNvCxnSpPr>
            <a:cxnSpLocks/>
            <a:stCxn id="12" idx="0"/>
            <a:endCxn id="10" idx="4"/>
          </p:cNvCxnSpPr>
          <p:nvPr/>
        </p:nvCxnSpPr>
        <p:spPr>
          <a:xfrm flipV="1">
            <a:off x="7676388" y="2496312"/>
            <a:ext cx="466344" cy="998854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2C52C9-932D-D584-B10B-46DB37670F1A}"/>
              </a:ext>
            </a:extLst>
          </p:cNvPr>
          <p:cNvCxnSpPr>
            <a:cxnSpLocks/>
          </p:cNvCxnSpPr>
          <p:nvPr/>
        </p:nvCxnSpPr>
        <p:spPr>
          <a:xfrm flipH="1" flipV="1">
            <a:off x="8277606" y="2496312"/>
            <a:ext cx="845820" cy="99885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EC7FBC5-8C5E-94A9-6A95-F012A14A7968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6478524" y="2496312"/>
            <a:ext cx="0" cy="99885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99A63D7-D4D9-2603-A1D2-590165C1FBA2}"/>
              </a:ext>
            </a:extLst>
          </p:cNvPr>
          <p:cNvSpPr txBox="1"/>
          <p:nvPr/>
        </p:nvSpPr>
        <p:spPr>
          <a:xfrm>
            <a:off x="6761988" y="1681792"/>
            <a:ext cx="120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70A68D-0C7C-452B-CF07-37EB36ACEE1E}"/>
              </a:ext>
            </a:extLst>
          </p:cNvPr>
          <p:cNvSpPr txBox="1"/>
          <p:nvPr/>
        </p:nvSpPr>
        <p:spPr>
          <a:xfrm>
            <a:off x="8700516" y="2630689"/>
            <a:ext cx="116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A7B006-9A44-6776-A4FA-791249C46766}"/>
              </a:ext>
            </a:extLst>
          </p:cNvPr>
          <p:cNvSpPr txBox="1"/>
          <p:nvPr/>
        </p:nvSpPr>
        <p:spPr>
          <a:xfrm>
            <a:off x="6789420" y="2656815"/>
            <a:ext cx="1138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4F4F84-8817-7CB3-0649-B62A9379F139}"/>
              </a:ext>
            </a:extLst>
          </p:cNvPr>
          <p:cNvSpPr txBox="1"/>
          <p:nvPr/>
        </p:nvSpPr>
        <p:spPr>
          <a:xfrm>
            <a:off x="5718050" y="2656815"/>
            <a:ext cx="886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1FBC29-B0C5-9153-91FF-052F7BC8A534}"/>
              </a:ext>
            </a:extLst>
          </p:cNvPr>
          <p:cNvSpPr txBox="1"/>
          <p:nvPr/>
        </p:nvSpPr>
        <p:spPr>
          <a:xfrm>
            <a:off x="8677656" y="788985"/>
            <a:ext cx="28635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p = &amp;a; (</a:t>
            </a:r>
            <a:r>
              <a:rPr lang="en-US" b="1" dirty="0" err="1"/>
              <a:t>Addr</a:t>
            </a:r>
            <a:r>
              <a:rPr lang="en-US" b="1" dirty="0"/>
              <a:t>-of)</a:t>
            </a:r>
          </a:p>
          <a:p>
            <a:pPr lvl="1"/>
            <a:r>
              <a:rPr lang="en-US" b="1" dirty="0"/>
              <a:t>p = q;    (Copy)</a:t>
            </a:r>
          </a:p>
          <a:p>
            <a:pPr lvl="1"/>
            <a:r>
              <a:rPr lang="en-US" b="1" dirty="0"/>
              <a:t>p = *q;  (Load)</a:t>
            </a:r>
          </a:p>
          <a:p>
            <a:pPr lvl="1"/>
            <a:r>
              <a:rPr lang="en-US" b="1" dirty="0"/>
              <a:t>*q = p;  (Store)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F0CC1B-F1A0-E357-EF37-56A72BC25861}"/>
              </a:ext>
            </a:extLst>
          </p:cNvPr>
          <p:cNvSpPr txBox="1"/>
          <p:nvPr/>
        </p:nvSpPr>
        <p:spPr>
          <a:xfrm>
            <a:off x="8478174" y="1785015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E3A30-0E20-C5A6-481C-A53B3E5851A6}"/>
              </a:ext>
            </a:extLst>
          </p:cNvPr>
          <p:cNvSpPr txBox="1"/>
          <p:nvPr/>
        </p:nvSpPr>
        <p:spPr>
          <a:xfrm>
            <a:off x="5619313" y="1804648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0243ED-1C9C-13D3-CA06-AF6D9558F933}"/>
              </a:ext>
            </a:extLst>
          </p:cNvPr>
          <p:cNvSpPr txBox="1"/>
          <p:nvPr/>
        </p:nvSpPr>
        <p:spPr>
          <a:xfrm>
            <a:off x="5619313" y="3640832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8EA252-CC32-9104-FFA4-5B70795116FD}"/>
              </a:ext>
            </a:extLst>
          </p:cNvPr>
          <p:cNvSpPr txBox="1"/>
          <p:nvPr/>
        </p:nvSpPr>
        <p:spPr>
          <a:xfrm>
            <a:off x="7497018" y="4127437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B611F8-A6C0-02CC-3252-2A99941649E4}"/>
              </a:ext>
            </a:extLst>
          </p:cNvPr>
          <p:cNvSpPr txBox="1"/>
          <p:nvPr/>
        </p:nvSpPr>
        <p:spPr>
          <a:xfrm>
            <a:off x="8812992" y="4143567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{}</a:t>
            </a:r>
          </a:p>
        </p:txBody>
      </p:sp>
    </p:spTree>
    <p:extLst>
      <p:ext uri="{BB962C8B-B14F-4D97-AF65-F5344CB8AC3E}">
        <p14:creationId xmlns:p14="http://schemas.microsoft.com/office/powerpoint/2010/main" val="3787158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Classes of pointer analysis algorithms</a:t>
            </a:r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Once the PAG is built, the constraints are solved using constraint resolution rules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Two types of constraint resolution rules</a:t>
            </a:r>
          </a:p>
          <a:p>
            <a:pPr lvl="1"/>
            <a:r>
              <a:rPr lang="en-US" dirty="0"/>
              <a:t>Andersen’s style analysis </a:t>
            </a:r>
            <a:r>
              <a:rPr lang="en-US" b="1" dirty="0"/>
              <a:t>[this lecture] </a:t>
            </a:r>
            <a:endParaRPr lang="en-US" dirty="0"/>
          </a:p>
          <a:p>
            <a:pPr lvl="1"/>
            <a:r>
              <a:rPr lang="en-US" dirty="0" err="1"/>
              <a:t>Steensgaard’s</a:t>
            </a:r>
            <a:r>
              <a:rPr lang="en-US" dirty="0"/>
              <a:t> style analysis </a:t>
            </a:r>
            <a:r>
              <a:rPr lang="en-US" b="1" dirty="0"/>
              <a:t>[link on last slide]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C1124E-A40E-6EF0-9F07-261417CF5E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6D9C1-8CEB-0904-2899-23D0FBE8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Andersen-Style Pointer Analysis [Andersen1994]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9D8116-F251-8B6D-8102-4412F818F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0D8B1-D636-0EB2-6C60-938F83ADAC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15</a:t>
            </a:fld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0C1F75-4749-DEBD-4E35-E1BC11C8446C}"/>
              </a:ext>
            </a:extLst>
          </p:cNvPr>
          <p:cNvGraphicFramePr>
            <a:graphicFrameLocks noGrp="1"/>
          </p:cNvGraphicFramePr>
          <p:nvPr/>
        </p:nvGraphicFramePr>
        <p:xfrm>
          <a:off x="1953305" y="2729222"/>
          <a:ext cx="7680222" cy="214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074">
                  <a:extLst>
                    <a:ext uri="{9D8B030D-6E8A-4147-A177-3AD203B41FA5}">
                      <a16:colId xmlns:a16="http://schemas.microsoft.com/office/drawing/2014/main" val="873219315"/>
                    </a:ext>
                  </a:extLst>
                </a:gridCol>
                <a:gridCol w="2560074">
                  <a:extLst>
                    <a:ext uri="{9D8B030D-6E8A-4147-A177-3AD203B41FA5}">
                      <a16:colId xmlns:a16="http://schemas.microsoft.com/office/drawing/2014/main" val="3176729228"/>
                    </a:ext>
                  </a:extLst>
                </a:gridCol>
                <a:gridCol w="2560074">
                  <a:extLst>
                    <a:ext uri="{9D8B030D-6E8A-4147-A177-3AD203B41FA5}">
                      <a16:colId xmlns:a16="http://schemas.microsoft.com/office/drawing/2014/main" val="1592506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Constraint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414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= 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∈ pts(p)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36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=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pts(p) = pts(p)∪ pts(q)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7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= *q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∀a ∈ pts(q), add Copy constraint p = 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432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*p =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∀a ∈ pts(p), add Copy constraint a = 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036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667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0F71-3F41-AD8B-9509-48C315A8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PAG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0EEAB-4D51-96ED-FB9E-E4508770DE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16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2CEAD24-D62F-E7E3-07F3-CCC401E1882D}"/>
              </a:ext>
            </a:extLst>
          </p:cNvPr>
          <p:cNvSpPr txBox="1">
            <a:spLocks noChangeArrowheads="1"/>
          </p:cNvSpPr>
          <p:nvPr/>
        </p:nvSpPr>
        <p:spPr>
          <a:xfrm>
            <a:off x="854667" y="1534889"/>
            <a:ext cx="3100738" cy="26475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b = 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p = &amp;q;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*p;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k = 100/*r;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6D215C-D239-4600-1CE5-EB35C0E5369E}"/>
              </a:ext>
            </a:extLst>
          </p:cNvPr>
          <p:cNvSpPr/>
          <p:nvPr/>
        </p:nvSpPr>
        <p:spPr>
          <a:xfrm>
            <a:off x="5785104" y="4182402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E12DD9-AFB0-84D3-E1E4-FB0C5853942A}"/>
              </a:ext>
            </a:extLst>
          </p:cNvPr>
          <p:cNvSpPr/>
          <p:nvPr/>
        </p:nvSpPr>
        <p:spPr>
          <a:xfrm>
            <a:off x="7449312" y="4182402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215EE1-8447-F80F-7C48-9656CDC6BB8A}"/>
              </a:ext>
            </a:extLst>
          </p:cNvPr>
          <p:cNvSpPr/>
          <p:nvPr/>
        </p:nvSpPr>
        <p:spPr>
          <a:xfrm>
            <a:off x="5785104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F55166-C6DA-F454-2EE1-E0EFCABB8B44}"/>
              </a:ext>
            </a:extLst>
          </p:cNvPr>
          <p:cNvSpPr/>
          <p:nvPr/>
        </p:nvSpPr>
        <p:spPr>
          <a:xfrm>
            <a:off x="6982968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AD3CB2-DC92-2EBC-DB41-003ACAC25581}"/>
              </a:ext>
            </a:extLst>
          </p:cNvPr>
          <p:cNvCxnSpPr>
            <a:stCxn id="7" idx="2"/>
            <a:endCxn id="6" idx="6"/>
          </p:cNvCxnSpPr>
          <p:nvPr/>
        </p:nvCxnSpPr>
        <p:spPr>
          <a:xfrm flipH="1">
            <a:off x="6406896" y="4484154"/>
            <a:ext cx="104241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DBCC618-B758-8574-5D07-2CC1D3501823}"/>
              </a:ext>
            </a:extLst>
          </p:cNvPr>
          <p:cNvSpPr/>
          <p:nvPr/>
        </p:nvSpPr>
        <p:spPr>
          <a:xfrm>
            <a:off x="8295132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FAF5BE-F704-1BF2-E042-D700B7AFF190}"/>
              </a:ext>
            </a:extLst>
          </p:cNvPr>
          <p:cNvCxnSpPr>
            <a:cxnSpLocks/>
            <a:stCxn id="9" idx="0"/>
            <a:endCxn id="7" idx="4"/>
          </p:cNvCxnSpPr>
          <p:nvPr/>
        </p:nvCxnSpPr>
        <p:spPr>
          <a:xfrm flipV="1">
            <a:off x="7293864" y="4785906"/>
            <a:ext cx="466344" cy="99885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585899-94D7-9AC6-AEB4-394992F61F9B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H="1" flipV="1">
            <a:off x="7760208" y="4785906"/>
            <a:ext cx="845820" cy="99885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02EF97-0FDB-DEAF-4E58-197878EB5C96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6096000" y="4785906"/>
            <a:ext cx="0" cy="9988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54E947C-EFB8-70C7-95F7-08849CC256AA}"/>
              </a:ext>
            </a:extLst>
          </p:cNvPr>
          <p:cNvSpPr txBox="1"/>
          <p:nvPr/>
        </p:nvSpPr>
        <p:spPr>
          <a:xfrm>
            <a:off x="6484620" y="3970186"/>
            <a:ext cx="1136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7C9631-7D86-D302-C53B-261C28E13790}"/>
              </a:ext>
            </a:extLst>
          </p:cNvPr>
          <p:cNvSpPr txBox="1"/>
          <p:nvPr/>
        </p:nvSpPr>
        <p:spPr>
          <a:xfrm>
            <a:off x="8317992" y="4920283"/>
            <a:ext cx="110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EFCF6-7678-3825-8F05-7C957CDB69B3}"/>
              </a:ext>
            </a:extLst>
          </p:cNvPr>
          <p:cNvSpPr txBox="1"/>
          <p:nvPr/>
        </p:nvSpPr>
        <p:spPr>
          <a:xfrm>
            <a:off x="6658356" y="4946409"/>
            <a:ext cx="110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B0DD13-4285-2D5B-EA2F-486C473C415B}"/>
              </a:ext>
            </a:extLst>
          </p:cNvPr>
          <p:cNvSpPr txBox="1"/>
          <p:nvPr/>
        </p:nvSpPr>
        <p:spPr>
          <a:xfrm>
            <a:off x="5335526" y="4946409"/>
            <a:ext cx="886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</p:txBody>
      </p:sp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5CE3954B-47EB-A668-0A02-9913005D1C96}"/>
              </a:ext>
            </a:extLst>
          </p:cNvPr>
          <p:cNvGraphicFramePr>
            <a:graphicFrameLocks noGrp="1"/>
          </p:cNvGraphicFramePr>
          <p:nvPr/>
        </p:nvGraphicFramePr>
        <p:xfrm>
          <a:off x="4060214" y="1572178"/>
          <a:ext cx="7680222" cy="214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074">
                  <a:extLst>
                    <a:ext uri="{9D8B030D-6E8A-4147-A177-3AD203B41FA5}">
                      <a16:colId xmlns:a16="http://schemas.microsoft.com/office/drawing/2014/main" val="873219315"/>
                    </a:ext>
                  </a:extLst>
                </a:gridCol>
                <a:gridCol w="2560074">
                  <a:extLst>
                    <a:ext uri="{9D8B030D-6E8A-4147-A177-3AD203B41FA5}">
                      <a16:colId xmlns:a16="http://schemas.microsoft.com/office/drawing/2014/main" val="3176729228"/>
                    </a:ext>
                  </a:extLst>
                </a:gridCol>
                <a:gridCol w="2560074">
                  <a:extLst>
                    <a:ext uri="{9D8B030D-6E8A-4147-A177-3AD203B41FA5}">
                      <a16:colId xmlns:a16="http://schemas.microsoft.com/office/drawing/2014/main" val="1592506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Constraint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414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= 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∈ pts(p)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36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=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pts(p) = pts(p)∪ pts(q)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7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= *q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∀a ∈ pts(q), add Copy constraint p = 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432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*p =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∀a ∈ pts(p), add Copy constraint a = 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03654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DA945A5-8F00-AD46-0BE7-A6671AD2B42D}"/>
              </a:ext>
            </a:extLst>
          </p:cNvPr>
          <p:cNvSpPr txBox="1"/>
          <p:nvPr/>
        </p:nvSpPr>
        <p:spPr>
          <a:xfrm>
            <a:off x="5256324" y="4073618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E1AD32-75A9-2A34-3864-3F814162C294}"/>
              </a:ext>
            </a:extLst>
          </p:cNvPr>
          <p:cNvSpPr txBox="1"/>
          <p:nvPr/>
        </p:nvSpPr>
        <p:spPr>
          <a:xfrm>
            <a:off x="8101954" y="4101973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D55FAF-7D29-10C8-EB85-63CF6D222267}"/>
              </a:ext>
            </a:extLst>
          </p:cNvPr>
          <p:cNvSpPr txBox="1"/>
          <p:nvPr/>
        </p:nvSpPr>
        <p:spPr>
          <a:xfrm>
            <a:off x="5256324" y="5796793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{}</a:t>
            </a:r>
          </a:p>
        </p:txBody>
      </p:sp>
    </p:spTree>
    <p:extLst>
      <p:ext uri="{BB962C8B-B14F-4D97-AF65-F5344CB8AC3E}">
        <p14:creationId xmlns:p14="http://schemas.microsoft.com/office/powerpoint/2010/main" val="124284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0F71-3F41-AD8B-9509-48C315A8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PAG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0EEAB-4D51-96ED-FB9E-E4508770DE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17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2CEAD24-D62F-E7E3-07F3-CCC401E1882D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506266"/>
            <a:ext cx="3100738" cy="26475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b = 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p = &amp;q;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*p;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k = 100/*r;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6D215C-D239-4600-1CE5-EB35C0E5369E}"/>
              </a:ext>
            </a:extLst>
          </p:cNvPr>
          <p:cNvSpPr/>
          <p:nvPr/>
        </p:nvSpPr>
        <p:spPr>
          <a:xfrm>
            <a:off x="5785104" y="4182402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E12DD9-AFB0-84D3-E1E4-FB0C5853942A}"/>
              </a:ext>
            </a:extLst>
          </p:cNvPr>
          <p:cNvSpPr/>
          <p:nvPr/>
        </p:nvSpPr>
        <p:spPr>
          <a:xfrm>
            <a:off x="7449312" y="4182402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215EE1-8447-F80F-7C48-9656CDC6BB8A}"/>
              </a:ext>
            </a:extLst>
          </p:cNvPr>
          <p:cNvSpPr/>
          <p:nvPr/>
        </p:nvSpPr>
        <p:spPr>
          <a:xfrm>
            <a:off x="5785104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F55166-C6DA-F454-2EE1-E0EFCABB8B44}"/>
              </a:ext>
            </a:extLst>
          </p:cNvPr>
          <p:cNvSpPr/>
          <p:nvPr/>
        </p:nvSpPr>
        <p:spPr>
          <a:xfrm>
            <a:off x="6982968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AD3CB2-DC92-2EBC-DB41-003ACAC25581}"/>
              </a:ext>
            </a:extLst>
          </p:cNvPr>
          <p:cNvCxnSpPr>
            <a:stCxn id="7" idx="2"/>
            <a:endCxn id="6" idx="6"/>
          </p:cNvCxnSpPr>
          <p:nvPr/>
        </p:nvCxnSpPr>
        <p:spPr>
          <a:xfrm flipH="1">
            <a:off x="6406896" y="4484154"/>
            <a:ext cx="104241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DBCC618-B758-8574-5D07-2CC1D3501823}"/>
              </a:ext>
            </a:extLst>
          </p:cNvPr>
          <p:cNvSpPr/>
          <p:nvPr/>
        </p:nvSpPr>
        <p:spPr>
          <a:xfrm>
            <a:off x="8295132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FAF5BE-F704-1BF2-E042-D700B7AFF190}"/>
              </a:ext>
            </a:extLst>
          </p:cNvPr>
          <p:cNvCxnSpPr>
            <a:cxnSpLocks/>
            <a:stCxn id="9" idx="0"/>
            <a:endCxn id="7" idx="4"/>
          </p:cNvCxnSpPr>
          <p:nvPr/>
        </p:nvCxnSpPr>
        <p:spPr>
          <a:xfrm flipV="1">
            <a:off x="7293864" y="4785906"/>
            <a:ext cx="466344" cy="99885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585899-94D7-9AC6-AEB4-394992F61F9B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H="1" flipV="1">
            <a:off x="7760208" y="4785906"/>
            <a:ext cx="845820" cy="998854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02EF97-0FDB-DEAF-4E58-197878EB5C96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6096000" y="4785906"/>
            <a:ext cx="0" cy="9988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54E947C-EFB8-70C7-95F7-08849CC256AA}"/>
              </a:ext>
            </a:extLst>
          </p:cNvPr>
          <p:cNvSpPr txBox="1"/>
          <p:nvPr/>
        </p:nvSpPr>
        <p:spPr>
          <a:xfrm>
            <a:off x="6484620" y="3970186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7C9631-7D86-D302-C53B-261C28E13790}"/>
              </a:ext>
            </a:extLst>
          </p:cNvPr>
          <p:cNvSpPr txBox="1"/>
          <p:nvPr/>
        </p:nvSpPr>
        <p:spPr>
          <a:xfrm>
            <a:off x="8317992" y="4920283"/>
            <a:ext cx="110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EFCF6-7678-3825-8F05-7C957CDB69B3}"/>
              </a:ext>
            </a:extLst>
          </p:cNvPr>
          <p:cNvSpPr txBox="1"/>
          <p:nvPr/>
        </p:nvSpPr>
        <p:spPr>
          <a:xfrm>
            <a:off x="6658356" y="4946409"/>
            <a:ext cx="110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B0DD13-4285-2D5B-EA2F-486C473C415B}"/>
              </a:ext>
            </a:extLst>
          </p:cNvPr>
          <p:cNvSpPr txBox="1"/>
          <p:nvPr/>
        </p:nvSpPr>
        <p:spPr>
          <a:xfrm>
            <a:off x="5335526" y="4946409"/>
            <a:ext cx="886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</p:txBody>
      </p:sp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5CE3954B-47EB-A668-0A02-9913005D1C96}"/>
              </a:ext>
            </a:extLst>
          </p:cNvPr>
          <p:cNvGraphicFramePr>
            <a:graphicFrameLocks noGrp="1"/>
          </p:cNvGraphicFramePr>
          <p:nvPr/>
        </p:nvGraphicFramePr>
        <p:xfrm>
          <a:off x="4060214" y="1572178"/>
          <a:ext cx="7680222" cy="214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074">
                  <a:extLst>
                    <a:ext uri="{9D8B030D-6E8A-4147-A177-3AD203B41FA5}">
                      <a16:colId xmlns:a16="http://schemas.microsoft.com/office/drawing/2014/main" val="873219315"/>
                    </a:ext>
                  </a:extLst>
                </a:gridCol>
                <a:gridCol w="2560074">
                  <a:extLst>
                    <a:ext uri="{9D8B030D-6E8A-4147-A177-3AD203B41FA5}">
                      <a16:colId xmlns:a16="http://schemas.microsoft.com/office/drawing/2014/main" val="3176729228"/>
                    </a:ext>
                  </a:extLst>
                </a:gridCol>
                <a:gridCol w="2560074">
                  <a:extLst>
                    <a:ext uri="{9D8B030D-6E8A-4147-A177-3AD203B41FA5}">
                      <a16:colId xmlns:a16="http://schemas.microsoft.com/office/drawing/2014/main" val="1592506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Constraint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414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 = 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∈ pts(p)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36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=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pts(p) = pts(p)∪ pts(q)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7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= *q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∀a ∈ pts(q), add Copy constraint p = 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432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*p =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∀a ∈ pts(p), add Copy constraint a = 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03654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DA945A5-8F00-AD46-0BE7-A6671AD2B42D}"/>
              </a:ext>
            </a:extLst>
          </p:cNvPr>
          <p:cNvSpPr txBox="1"/>
          <p:nvPr/>
        </p:nvSpPr>
        <p:spPr>
          <a:xfrm>
            <a:off x="5163312" y="4101972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{q}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E1AD32-75A9-2A34-3864-3F814162C294}"/>
              </a:ext>
            </a:extLst>
          </p:cNvPr>
          <p:cNvSpPr txBox="1"/>
          <p:nvPr/>
        </p:nvSpPr>
        <p:spPr>
          <a:xfrm>
            <a:off x="8101954" y="4101973"/>
            <a:ext cx="1457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{a, b}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D55FAF-7D29-10C8-EB85-63CF6D222267}"/>
              </a:ext>
            </a:extLst>
          </p:cNvPr>
          <p:cNvSpPr txBox="1"/>
          <p:nvPr/>
        </p:nvSpPr>
        <p:spPr>
          <a:xfrm>
            <a:off x="5256324" y="5796793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{}</a:t>
            </a:r>
          </a:p>
        </p:txBody>
      </p:sp>
    </p:spTree>
    <p:extLst>
      <p:ext uri="{BB962C8B-B14F-4D97-AF65-F5344CB8AC3E}">
        <p14:creationId xmlns:p14="http://schemas.microsoft.com/office/powerpoint/2010/main" val="337561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0F71-3F41-AD8B-9509-48C315A8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PAG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0EEAB-4D51-96ED-FB9E-E4508770DE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18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2CEAD24-D62F-E7E3-07F3-CCC401E1882D}"/>
              </a:ext>
            </a:extLst>
          </p:cNvPr>
          <p:cNvSpPr txBox="1">
            <a:spLocks noChangeArrowheads="1"/>
          </p:cNvSpPr>
          <p:nvPr/>
        </p:nvSpPr>
        <p:spPr>
          <a:xfrm>
            <a:off x="789733" y="1493401"/>
            <a:ext cx="3100738" cy="26475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b = 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p = &amp;q;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*p;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k = 100/*r;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6D215C-D239-4600-1CE5-EB35C0E5369E}"/>
              </a:ext>
            </a:extLst>
          </p:cNvPr>
          <p:cNvSpPr/>
          <p:nvPr/>
        </p:nvSpPr>
        <p:spPr>
          <a:xfrm>
            <a:off x="5785104" y="4182402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E12DD9-AFB0-84D3-E1E4-FB0C5853942A}"/>
              </a:ext>
            </a:extLst>
          </p:cNvPr>
          <p:cNvSpPr/>
          <p:nvPr/>
        </p:nvSpPr>
        <p:spPr>
          <a:xfrm>
            <a:off x="7449312" y="4182402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215EE1-8447-F80F-7C48-9656CDC6BB8A}"/>
              </a:ext>
            </a:extLst>
          </p:cNvPr>
          <p:cNvSpPr/>
          <p:nvPr/>
        </p:nvSpPr>
        <p:spPr>
          <a:xfrm>
            <a:off x="5785104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F55166-C6DA-F454-2EE1-E0EFCABB8B44}"/>
              </a:ext>
            </a:extLst>
          </p:cNvPr>
          <p:cNvSpPr/>
          <p:nvPr/>
        </p:nvSpPr>
        <p:spPr>
          <a:xfrm>
            <a:off x="6982968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AD3CB2-DC92-2EBC-DB41-003ACAC25581}"/>
              </a:ext>
            </a:extLst>
          </p:cNvPr>
          <p:cNvCxnSpPr>
            <a:stCxn id="7" idx="2"/>
            <a:endCxn id="6" idx="6"/>
          </p:cNvCxnSpPr>
          <p:nvPr/>
        </p:nvCxnSpPr>
        <p:spPr>
          <a:xfrm flipH="1">
            <a:off x="6406896" y="4484154"/>
            <a:ext cx="104241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DBCC618-B758-8574-5D07-2CC1D3501823}"/>
              </a:ext>
            </a:extLst>
          </p:cNvPr>
          <p:cNvSpPr/>
          <p:nvPr/>
        </p:nvSpPr>
        <p:spPr>
          <a:xfrm>
            <a:off x="8295132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FAF5BE-F704-1BF2-E042-D700B7AFF190}"/>
              </a:ext>
            </a:extLst>
          </p:cNvPr>
          <p:cNvCxnSpPr>
            <a:cxnSpLocks/>
            <a:stCxn id="9" idx="0"/>
            <a:endCxn id="7" idx="4"/>
          </p:cNvCxnSpPr>
          <p:nvPr/>
        </p:nvCxnSpPr>
        <p:spPr>
          <a:xfrm flipV="1">
            <a:off x="7293864" y="4785906"/>
            <a:ext cx="466344" cy="99885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585899-94D7-9AC6-AEB4-394992F61F9B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H="1" flipV="1">
            <a:off x="7760208" y="4785906"/>
            <a:ext cx="845820" cy="99885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02EF97-0FDB-DEAF-4E58-197878EB5C96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6096000" y="4785906"/>
            <a:ext cx="0" cy="9988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54E947C-EFB8-70C7-95F7-08849CC256AA}"/>
              </a:ext>
            </a:extLst>
          </p:cNvPr>
          <p:cNvSpPr txBox="1"/>
          <p:nvPr/>
        </p:nvSpPr>
        <p:spPr>
          <a:xfrm>
            <a:off x="6484620" y="3970186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7C9631-7D86-D302-C53B-261C28E13790}"/>
              </a:ext>
            </a:extLst>
          </p:cNvPr>
          <p:cNvSpPr txBox="1"/>
          <p:nvPr/>
        </p:nvSpPr>
        <p:spPr>
          <a:xfrm>
            <a:off x="8628888" y="5408603"/>
            <a:ext cx="1457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EFCF6-7678-3825-8F05-7C957CDB69B3}"/>
              </a:ext>
            </a:extLst>
          </p:cNvPr>
          <p:cNvSpPr txBox="1"/>
          <p:nvPr/>
        </p:nvSpPr>
        <p:spPr>
          <a:xfrm>
            <a:off x="7449312" y="5417501"/>
            <a:ext cx="106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B0DD13-4285-2D5B-EA2F-486C473C415B}"/>
              </a:ext>
            </a:extLst>
          </p:cNvPr>
          <p:cNvSpPr txBox="1"/>
          <p:nvPr/>
        </p:nvSpPr>
        <p:spPr>
          <a:xfrm>
            <a:off x="5335526" y="4946409"/>
            <a:ext cx="886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</p:txBody>
      </p:sp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5CE3954B-47EB-A668-0A02-9913005D1C96}"/>
              </a:ext>
            </a:extLst>
          </p:cNvPr>
          <p:cNvGraphicFramePr>
            <a:graphicFrameLocks noGrp="1"/>
          </p:cNvGraphicFramePr>
          <p:nvPr/>
        </p:nvGraphicFramePr>
        <p:xfrm>
          <a:off x="4060214" y="1572178"/>
          <a:ext cx="7680222" cy="214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074">
                  <a:extLst>
                    <a:ext uri="{9D8B030D-6E8A-4147-A177-3AD203B41FA5}">
                      <a16:colId xmlns:a16="http://schemas.microsoft.com/office/drawing/2014/main" val="873219315"/>
                    </a:ext>
                  </a:extLst>
                </a:gridCol>
                <a:gridCol w="2560074">
                  <a:extLst>
                    <a:ext uri="{9D8B030D-6E8A-4147-A177-3AD203B41FA5}">
                      <a16:colId xmlns:a16="http://schemas.microsoft.com/office/drawing/2014/main" val="3176729228"/>
                    </a:ext>
                  </a:extLst>
                </a:gridCol>
                <a:gridCol w="2560074">
                  <a:extLst>
                    <a:ext uri="{9D8B030D-6E8A-4147-A177-3AD203B41FA5}">
                      <a16:colId xmlns:a16="http://schemas.microsoft.com/office/drawing/2014/main" val="1592506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Constraint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414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 = 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∈ pts(p)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36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=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pts(p) = pts(p)∪ pts(q)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7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 = *q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∀a ∈ pts(q), add Copy constraint p = 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432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*p =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∀a ∈ pts(p), add Copy constraint a = 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03654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DA945A5-8F00-AD46-0BE7-A6671AD2B42D}"/>
              </a:ext>
            </a:extLst>
          </p:cNvPr>
          <p:cNvSpPr txBox="1"/>
          <p:nvPr/>
        </p:nvSpPr>
        <p:spPr>
          <a:xfrm>
            <a:off x="5163312" y="4101972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{q}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E1AD32-75A9-2A34-3864-3F814162C294}"/>
              </a:ext>
            </a:extLst>
          </p:cNvPr>
          <p:cNvSpPr txBox="1"/>
          <p:nvPr/>
        </p:nvSpPr>
        <p:spPr>
          <a:xfrm>
            <a:off x="8101954" y="4101973"/>
            <a:ext cx="1457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{a, b}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D55FAF-7D29-10C8-EB85-63CF6D222267}"/>
              </a:ext>
            </a:extLst>
          </p:cNvPr>
          <p:cNvSpPr txBox="1"/>
          <p:nvPr/>
        </p:nvSpPr>
        <p:spPr>
          <a:xfrm>
            <a:off x="5256324" y="5796793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3E03693-27F3-2214-0DF2-FD31926D4DD2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6315837" y="4697525"/>
            <a:ext cx="1224534" cy="11756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8989842-F812-0575-0187-A1C4B4E47885}"/>
              </a:ext>
            </a:extLst>
          </p:cNvPr>
          <p:cNvSpPr txBox="1"/>
          <p:nvPr/>
        </p:nvSpPr>
        <p:spPr>
          <a:xfrm>
            <a:off x="6441186" y="4933365"/>
            <a:ext cx="886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</p:spTree>
    <p:extLst>
      <p:ext uri="{BB962C8B-B14F-4D97-AF65-F5344CB8AC3E}">
        <p14:creationId xmlns:p14="http://schemas.microsoft.com/office/powerpoint/2010/main" val="407329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0F71-3F41-AD8B-9509-48C315A8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PAG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0EEAB-4D51-96ED-FB9E-E4508770DE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19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2CEAD24-D62F-E7E3-07F3-CCC401E1882D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76561"/>
            <a:ext cx="3100738" cy="26475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b = 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p = &amp;q;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*p;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k = 100/*r;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6D215C-D239-4600-1CE5-EB35C0E5369E}"/>
              </a:ext>
            </a:extLst>
          </p:cNvPr>
          <p:cNvSpPr/>
          <p:nvPr/>
        </p:nvSpPr>
        <p:spPr>
          <a:xfrm>
            <a:off x="5785104" y="4182402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E12DD9-AFB0-84D3-E1E4-FB0C5853942A}"/>
              </a:ext>
            </a:extLst>
          </p:cNvPr>
          <p:cNvSpPr/>
          <p:nvPr/>
        </p:nvSpPr>
        <p:spPr>
          <a:xfrm>
            <a:off x="7449312" y="4182402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215EE1-8447-F80F-7C48-9656CDC6BB8A}"/>
              </a:ext>
            </a:extLst>
          </p:cNvPr>
          <p:cNvSpPr/>
          <p:nvPr/>
        </p:nvSpPr>
        <p:spPr>
          <a:xfrm>
            <a:off x="5785104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F55166-C6DA-F454-2EE1-E0EFCABB8B44}"/>
              </a:ext>
            </a:extLst>
          </p:cNvPr>
          <p:cNvSpPr/>
          <p:nvPr/>
        </p:nvSpPr>
        <p:spPr>
          <a:xfrm>
            <a:off x="6982968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AD3CB2-DC92-2EBC-DB41-003ACAC25581}"/>
              </a:ext>
            </a:extLst>
          </p:cNvPr>
          <p:cNvCxnSpPr>
            <a:stCxn id="7" idx="2"/>
            <a:endCxn id="6" idx="6"/>
          </p:cNvCxnSpPr>
          <p:nvPr/>
        </p:nvCxnSpPr>
        <p:spPr>
          <a:xfrm flipH="1">
            <a:off x="6406896" y="4484154"/>
            <a:ext cx="104241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DBCC618-B758-8574-5D07-2CC1D3501823}"/>
              </a:ext>
            </a:extLst>
          </p:cNvPr>
          <p:cNvSpPr/>
          <p:nvPr/>
        </p:nvSpPr>
        <p:spPr>
          <a:xfrm>
            <a:off x="8295132" y="5784760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FAF5BE-F704-1BF2-E042-D700B7AFF190}"/>
              </a:ext>
            </a:extLst>
          </p:cNvPr>
          <p:cNvCxnSpPr>
            <a:cxnSpLocks/>
            <a:stCxn id="9" idx="0"/>
            <a:endCxn id="7" idx="4"/>
          </p:cNvCxnSpPr>
          <p:nvPr/>
        </p:nvCxnSpPr>
        <p:spPr>
          <a:xfrm flipV="1">
            <a:off x="7293864" y="4785906"/>
            <a:ext cx="466344" cy="99885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585899-94D7-9AC6-AEB4-394992F61F9B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H="1" flipV="1">
            <a:off x="7760208" y="4785906"/>
            <a:ext cx="845820" cy="99885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02EF97-0FDB-DEAF-4E58-197878EB5C96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6096000" y="4785906"/>
            <a:ext cx="0" cy="9988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54E947C-EFB8-70C7-95F7-08849CC256AA}"/>
              </a:ext>
            </a:extLst>
          </p:cNvPr>
          <p:cNvSpPr txBox="1"/>
          <p:nvPr/>
        </p:nvSpPr>
        <p:spPr>
          <a:xfrm>
            <a:off x="6484620" y="3970186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7C9631-7D86-D302-C53B-261C28E13790}"/>
              </a:ext>
            </a:extLst>
          </p:cNvPr>
          <p:cNvSpPr txBox="1"/>
          <p:nvPr/>
        </p:nvSpPr>
        <p:spPr>
          <a:xfrm>
            <a:off x="8628888" y="5408603"/>
            <a:ext cx="127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EFCF6-7678-3825-8F05-7C957CDB69B3}"/>
              </a:ext>
            </a:extLst>
          </p:cNvPr>
          <p:cNvSpPr txBox="1"/>
          <p:nvPr/>
        </p:nvSpPr>
        <p:spPr>
          <a:xfrm>
            <a:off x="7449312" y="5417501"/>
            <a:ext cx="119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B0DD13-4285-2D5B-EA2F-486C473C415B}"/>
              </a:ext>
            </a:extLst>
          </p:cNvPr>
          <p:cNvSpPr txBox="1"/>
          <p:nvPr/>
        </p:nvSpPr>
        <p:spPr>
          <a:xfrm>
            <a:off x="5341620" y="4933365"/>
            <a:ext cx="88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Load</a:t>
            </a:r>
            <a:endParaRPr lang="en-US" dirty="0"/>
          </a:p>
        </p:txBody>
      </p:sp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5CE3954B-47EB-A668-0A02-9913005D1C96}"/>
              </a:ext>
            </a:extLst>
          </p:cNvPr>
          <p:cNvGraphicFramePr>
            <a:graphicFrameLocks noGrp="1"/>
          </p:cNvGraphicFramePr>
          <p:nvPr/>
        </p:nvGraphicFramePr>
        <p:xfrm>
          <a:off x="4060214" y="1572178"/>
          <a:ext cx="7680222" cy="214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074">
                  <a:extLst>
                    <a:ext uri="{9D8B030D-6E8A-4147-A177-3AD203B41FA5}">
                      <a16:colId xmlns:a16="http://schemas.microsoft.com/office/drawing/2014/main" val="873219315"/>
                    </a:ext>
                  </a:extLst>
                </a:gridCol>
                <a:gridCol w="2560074">
                  <a:extLst>
                    <a:ext uri="{9D8B030D-6E8A-4147-A177-3AD203B41FA5}">
                      <a16:colId xmlns:a16="http://schemas.microsoft.com/office/drawing/2014/main" val="3176729228"/>
                    </a:ext>
                  </a:extLst>
                </a:gridCol>
                <a:gridCol w="2560074">
                  <a:extLst>
                    <a:ext uri="{9D8B030D-6E8A-4147-A177-3AD203B41FA5}">
                      <a16:colId xmlns:a16="http://schemas.microsoft.com/office/drawing/2014/main" val="1592506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Constraint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414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 = 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∈ pts(p)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36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 =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pts(p) = pts(p)∪ pts(q)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7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 = *q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∀a ∈ pts(q), add Copy constraint p = a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432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*p =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∀a ∈ pts(p), add Copy constraint a = 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03654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DA945A5-8F00-AD46-0BE7-A6671AD2B42D}"/>
              </a:ext>
            </a:extLst>
          </p:cNvPr>
          <p:cNvSpPr txBox="1"/>
          <p:nvPr/>
        </p:nvSpPr>
        <p:spPr>
          <a:xfrm>
            <a:off x="5163312" y="4101972"/>
            <a:ext cx="66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</a:t>
            </a:r>
            <a:r>
              <a:rPr lang="en-US" sz="2400" dirty="0" smtClean="0"/>
              <a:t>q}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E1AD32-75A9-2A34-3864-3F814162C294}"/>
              </a:ext>
            </a:extLst>
          </p:cNvPr>
          <p:cNvSpPr txBox="1"/>
          <p:nvPr/>
        </p:nvSpPr>
        <p:spPr>
          <a:xfrm>
            <a:off x="8101954" y="4101973"/>
            <a:ext cx="1457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{a, b}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D55FAF-7D29-10C8-EB85-63CF6D222267}"/>
              </a:ext>
            </a:extLst>
          </p:cNvPr>
          <p:cNvSpPr txBox="1"/>
          <p:nvPr/>
        </p:nvSpPr>
        <p:spPr>
          <a:xfrm>
            <a:off x="4876800" y="5796793"/>
            <a:ext cx="1049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</a:t>
            </a:r>
            <a:r>
              <a:rPr lang="en-US" sz="2400" dirty="0" err="1"/>
              <a:t>a,b</a:t>
            </a:r>
            <a:r>
              <a:rPr lang="en-US" sz="2400" dirty="0"/>
              <a:t>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3E03693-27F3-2214-0DF2-FD31926D4DD2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6315837" y="4697525"/>
            <a:ext cx="1224534" cy="11756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8989842-F812-0575-0187-A1C4B4E47885}"/>
              </a:ext>
            </a:extLst>
          </p:cNvPr>
          <p:cNvSpPr txBox="1"/>
          <p:nvPr/>
        </p:nvSpPr>
        <p:spPr>
          <a:xfrm>
            <a:off x="6441186" y="4933365"/>
            <a:ext cx="886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16D6C2-C839-D157-5A45-D776DD82F85A}"/>
              </a:ext>
            </a:extLst>
          </p:cNvPr>
          <p:cNvSpPr txBox="1"/>
          <p:nvPr/>
        </p:nvSpPr>
        <p:spPr>
          <a:xfrm>
            <a:off x="436764" y="4332804"/>
            <a:ext cx="4305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Pts(r) = {a, b} and because b = 0, statement 9 can have a DIV-BY-ZERO error.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5D4D8C-91CB-E9B2-02C9-3368FD618232}"/>
              </a:ext>
            </a:extLst>
          </p:cNvPr>
          <p:cNvSpPr txBox="1"/>
          <p:nvPr/>
        </p:nvSpPr>
        <p:spPr>
          <a:xfrm>
            <a:off x="408639" y="5560841"/>
            <a:ext cx="4305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Does the program have DIV-BY-ZERO error during actual execution?</a:t>
            </a:r>
          </a:p>
        </p:txBody>
      </p:sp>
    </p:spTree>
    <p:extLst>
      <p:ext uri="{BB962C8B-B14F-4D97-AF65-F5344CB8AC3E}">
        <p14:creationId xmlns:p14="http://schemas.microsoft.com/office/powerpoint/2010/main" val="71933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B828-4A7E-72A4-21E0-882EA223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F93ED-7E68-F614-8128-8B6C3F58E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point reached after no new pointer relationships discovered</a:t>
            </a:r>
            <a:br>
              <a:rPr lang="en-US" dirty="0"/>
            </a:br>
            <a:endParaRPr lang="en-US" dirty="0"/>
          </a:p>
          <a:p>
            <a:r>
              <a:rPr lang="en-US" dirty="0"/>
              <a:t>Question: How many iterations?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DF622-16B8-C13A-5336-8861B61ABA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82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C455-2751-5B22-C748-F5D4A47E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Considerations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9427DCD-0344-BB18-7DB4-BC8A5B8DC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4636" cy="4351338"/>
          </a:xfrm>
        </p:spPr>
        <p:txBody>
          <a:bodyPr/>
          <a:lstStyle/>
          <a:p>
            <a:r>
              <a:rPr lang="en-US" dirty="0"/>
              <a:t>How much information to model in the PAG? </a:t>
            </a:r>
            <a:br>
              <a:rPr lang="en-US" dirty="0"/>
            </a:br>
            <a:endParaRPr lang="en-US" dirty="0"/>
          </a:p>
          <a:p>
            <a:r>
              <a:rPr lang="en-US" dirty="0"/>
              <a:t>Question: what kind of information would be helpful?</a:t>
            </a:r>
            <a:br>
              <a:rPr lang="en-US" dirty="0"/>
            </a:br>
            <a:endParaRPr lang="en-US" dirty="0"/>
          </a:p>
          <a:p>
            <a:r>
              <a:rPr lang="en-US" dirty="0"/>
              <a:t>More information </a:t>
            </a:r>
            <a:r>
              <a:rPr lang="en-US" dirty="0">
                <a:sym typeface="Wingdings" panose="05000000000000000000" pitchFamily="2" charset="2"/>
              </a:rPr>
              <a:t> better results  more complex analysis  slow analysis</a:t>
            </a:r>
            <a:br>
              <a:rPr lang="en-US" dirty="0">
                <a:sym typeface="Wingdings" panose="05000000000000000000" pitchFamily="2" charset="2"/>
              </a:rPr>
            </a:b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9C409-8C2D-4968-A136-FBC073B3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8554564-C643-ADF0-8A82-ABD594CDDCD9}"/>
              </a:ext>
            </a:extLst>
          </p:cNvPr>
          <p:cNvSpPr txBox="1">
            <a:spLocks noChangeArrowheads="1"/>
          </p:cNvSpPr>
          <p:nvPr/>
        </p:nvSpPr>
        <p:spPr>
          <a:xfrm>
            <a:off x="7312891" y="2019588"/>
            <a:ext cx="4324927" cy="36496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10, b = 20;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c;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...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if (c &gt; 0)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 else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q = 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25B73-8482-278C-2D5B-CEDA27F2A5D7}"/>
              </a:ext>
            </a:extLst>
          </p:cNvPr>
          <p:cNvSpPr txBox="1"/>
          <p:nvPr/>
        </p:nvSpPr>
        <p:spPr>
          <a:xfrm>
            <a:off x="7829682" y="5715298"/>
            <a:ext cx="3291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What does </a:t>
            </a:r>
            <a:r>
              <a:rPr lang="en-US" sz="2400" b="1" dirty="0">
                <a:latin typeface="Consolas" panose="020B0609020204030204" pitchFamily="49" charset="0"/>
              </a:rPr>
              <a:t>r</a:t>
            </a:r>
            <a:r>
              <a:rPr lang="en-US" sz="2400" b="1" i="1" dirty="0"/>
              <a:t> point to? </a:t>
            </a:r>
          </a:p>
        </p:txBody>
      </p:sp>
    </p:spTree>
    <p:extLst>
      <p:ext uri="{BB962C8B-B14F-4D97-AF65-F5344CB8AC3E}">
        <p14:creationId xmlns:p14="http://schemas.microsoft.com/office/powerpoint/2010/main" val="353630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32E3-1665-27D7-78C6-82FCF540C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PAG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B0662-52BA-3D7A-057D-9E0B6E82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245298-843F-764D-DE28-1375D0C8DC7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899515"/>
            <a:ext cx="3447473" cy="36496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10, b = 20;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c;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...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if (c &gt; 0)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 else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q = 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15E553-CDEE-CC30-097B-79C0379FEB72}"/>
              </a:ext>
            </a:extLst>
          </p:cNvPr>
          <p:cNvSpPr/>
          <p:nvPr/>
        </p:nvSpPr>
        <p:spPr>
          <a:xfrm>
            <a:off x="6382322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A2EF9A-7F32-24CA-800A-34A227741689}"/>
              </a:ext>
            </a:extLst>
          </p:cNvPr>
          <p:cNvSpPr/>
          <p:nvPr/>
        </p:nvSpPr>
        <p:spPr>
          <a:xfrm>
            <a:off x="8608932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19CA31-8778-3BC0-2E4B-5D98EA1120ED}"/>
              </a:ext>
            </a:extLst>
          </p:cNvPr>
          <p:cNvSpPr/>
          <p:nvPr/>
        </p:nvSpPr>
        <p:spPr>
          <a:xfrm>
            <a:off x="10177214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05867A-3AF2-7A23-296F-7C72D0469EE9}"/>
              </a:ext>
            </a:extLst>
          </p:cNvPr>
          <p:cNvSpPr/>
          <p:nvPr/>
        </p:nvSpPr>
        <p:spPr>
          <a:xfrm>
            <a:off x="5963823" y="3771233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8B00EF-8890-0539-4830-A9B70A7A6C62}"/>
              </a:ext>
            </a:extLst>
          </p:cNvPr>
          <p:cNvSpPr/>
          <p:nvPr/>
        </p:nvSpPr>
        <p:spPr>
          <a:xfrm>
            <a:off x="7275987" y="3771233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16300A-B30C-4098-6633-A4608825A933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H="1" flipV="1">
            <a:off x="6693218" y="2730960"/>
            <a:ext cx="893665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9BB8BC-B2C0-296A-6B80-B77359CB12ED}"/>
              </a:ext>
            </a:extLst>
          </p:cNvPr>
          <p:cNvSpPr txBox="1"/>
          <p:nvPr/>
        </p:nvSpPr>
        <p:spPr>
          <a:xfrm>
            <a:off x="7275987" y="2932376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8B2DFF-F191-94F4-31DE-84E13EBAC2AD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V="1">
            <a:off x="7586883" y="2730960"/>
            <a:ext cx="1332945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498387-AD72-3C81-3CB6-33DD54C374B3}"/>
              </a:ext>
            </a:extLst>
          </p:cNvPr>
          <p:cNvCxnSpPr>
            <a:cxnSpLocks/>
            <a:stCxn id="10" idx="0"/>
            <a:endCxn id="7" idx="4"/>
          </p:cNvCxnSpPr>
          <p:nvPr/>
        </p:nvCxnSpPr>
        <p:spPr>
          <a:xfrm flipV="1">
            <a:off x="6274719" y="2730960"/>
            <a:ext cx="418499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A1356B-6E65-0B5D-79A9-7B91460B1F22}"/>
              </a:ext>
            </a:extLst>
          </p:cNvPr>
          <p:cNvSpPr txBox="1"/>
          <p:nvPr/>
        </p:nvSpPr>
        <p:spPr>
          <a:xfrm>
            <a:off x="8480548" y="2983062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3B0744-C951-809C-CFBF-83A2E9ABD7F7}"/>
              </a:ext>
            </a:extLst>
          </p:cNvPr>
          <p:cNvSpPr txBox="1"/>
          <p:nvPr/>
        </p:nvSpPr>
        <p:spPr>
          <a:xfrm>
            <a:off x="5507224" y="2933315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CF761-D9FC-4564-E9A6-E8A0DB16656F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7004114" y="2429208"/>
            <a:ext cx="160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419101-D6F3-38FB-DC4C-88503E2CE49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9230724" y="2429208"/>
            <a:ext cx="9464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F5334C-C99E-7397-2A3F-9732CBE9D976}"/>
              </a:ext>
            </a:extLst>
          </p:cNvPr>
          <p:cNvSpPr txBox="1"/>
          <p:nvPr/>
        </p:nvSpPr>
        <p:spPr>
          <a:xfrm>
            <a:off x="7259985" y="1992439"/>
            <a:ext cx="76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9DB01C-11EF-EA09-7959-6BDB7BBD079E}"/>
              </a:ext>
            </a:extLst>
          </p:cNvPr>
          <p:cNvSpPr txBox="1"/>
          <p:nvPr/>
        </p:nvSpPr>
        <p:spPr>
          <a:xfrm>
            <a:off x="9320880" y="2010369"/>
            <a:ext cx="76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</p:spTree>
    <p:extLst>
      <p:ext uri="{BB962C8B-B14F-4D97-AF65-F5344CB8AC3E}">
        <p14:creationId xmlns:p14="http://schemas.microsoft.com/office/powerpoint/2010/main" val="4253524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32E3-1665-27D7-78C6-82FCF540C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</a:t>
            </a:r>
            <a:r>
              <a:rPr lang="en-US" dirty="0" err="1"/>
              <a:t>Addr</a:t>
            </a:r>
            <a:r>
              <a:rPr lang="en-US" dirty="0"/>
              <a:t>-Of Edges in PAG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B0662-52BA-3D7A-057D-9E0B6E82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245298-843F-764D-DE28-1375D0C8DC7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899515"/>
            <a:ext cx="3447473" cy="36496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10, b = 20;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c;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...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if (c &gt; 0)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 else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q = 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15E553-CDEE-CC30-097B-79C0379FEB72}"/>
              </a:ext>
            </a:extLst>
          </p:cNvPr>
          <p:cNvSpPr/>
          <p:nvPr/>
        </p:nvSpPr>
        <p:spPr>
          <a:xfrm>
            <a:off x="6382322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A2EF9A-7F32-24CA-800A-34A227741689}"/>
              </a:ext>
            </a:extLst>
          </p:cNvPr>
          <p:cNvSpPr/>
          <p:nvPr/>
        </p:nvSpPr>
        <p:spPr>
          <a:xfrm>
            <a:off x="8608932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19CA31-8778-3BC0-2E4B-5D98EA1120ED}"/>
              </a:ext>
            </a:extLst>
          </p:cNvPr>
          <p:cNvSpPr/>
          <p:nvPr/>
        </p:nvSpPr>
        <p:spPr>
          <a:xfrm>
            <a:off x="10177214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05867A-3AF2-7A23-296F-7C72D0469EE9}"/>
              </a:ext>
            </a:extLst>
          </p:cNvPr>
          <p:cNvSpPr/>
          <p:nvPr/>
        </p:nvSpPr>
        <p:spPr>
          <a:xfrm>
            <a:off x="5963823" y="3771233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8B00EF-8890-0539-4830-A9B70A7A6C62}"/>
              </a:ext>
            </a:extLst>
          </p:cNvPr>
          <p:cNvSpPr/>
          <p:nvPr/>
        </p:nvSpPr>
        <p:spPr>
          <a:xfrm>
            <a:off x="7275987" y="3771233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16300A-B30C-4098-6633-A4608825A933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H="1" flipV="1">
            <a:off x="6693218" y="2730960"/>
            <a:ext cx="893665" cy="1040273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9BB8BC-B2C0-296A-6B80-B77359CB12ED}"/>
              </a:ext>
            </a:extLst>
          </p:cNvPr>
          <p:cNvSpPr txBox="1"/>
          <p:nvPr/>
        </p:nvSpPr>
        <p:spPr>
          <a:xfrm>
            <a:off x="7275987" y="2932376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8B2DFF-F191-94F4-31DE-84E13EBAC2AD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V="1">
            <a:off x="7586883" y="2730960"/>
            <a:ext cx="1332945" cy="1040273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498387-AD72-3C81-3CB6-33DD54C374B3}"/>
              </a:ext>
            </a:extLst>
          </p:cNvPr>
          <p:cNvCxnSpPr>
            <a:cxnSpLocks/>
            <a:stCxn id="10" idx="0"/>
            <a:endCxn id="7" idx="4"/>
          </p:cNvCxnSpPr>
          <p:nvPr/>
        </p:nvCxnSpPr>
        <p:spPr>
          <a:xfrm flipV="1">
            <a:off x="6274719" y="2730960"/>
            <a:ext cx="418499" cy="1040273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A1356B-6E65-0B5D-79A9-7B91460B1F22}"/>
              </a:ext>
            </a:extLst>
          </p:cNvPr>
          <p:cNvSpPr txBox="1"/>
          <p:nvPr/>
        </p:nvSpPr>
        <p:spPr>
          <a:xfrm>
            <a:off x="8480548" y="2983062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3B0744-C951-809C-CFBF-83A2E9ABD7F7}"/>
              </a:ext>
            </a:extLst>
          </p:cNvPr>
          <p:cNvSpPr txBox="1"/>
          <p:nvPr/>
        </p:nvSpPr>
        <p:spPr>
          <a:xfrm>
            <a:off x="5507224" y="2933315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CF761-D9FC-4564-E9A6-E8A0DB16656F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7004114" y="2429208"/>
            <a:ext cx="160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419101-D6F3-38FB-DC4C-88503E2CE49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9230724" y="2429208"/>
            <a:ext cx="9464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F5334C-C99E-7397-2A3F-9732CBE9D976}"/>
              </a:ext>
            </a:extLst>
          </p:cNvPr>
          <p:cNvSpPr txBox="1"/>
          <p:nvPr/>
        </p:nvSpPr>
        <p:spPr>
          <a:xfrm>
            <a:off x="7259985" y="1992439"/>
            <a:ext cx="76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9DB01C-11EF-EA09-7959-6BDB7BBD079E}"/>
              </a:ext>
            </a:extLst>
          </p:cNvPr>
          <p:cNvSpPr txBox="1"/>
          <p:nvPr/>
        </p:nvSpPr>
        <p:spPr>
          <a:xfrm>
            <a:off x="9320880" y="2010369"/>
            <a:ext cx="76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97797-ACCC-65F1-A138-20EDE7F0146D}"/>
              </a:ext>
            </a:extLst>
          </p:cNvPr>
          <p:cNvSpPr txBox="1"/>
          <p:nvPr/>
        </p:nvSpPr>
        <p:spPr>
          <a:xfrm>
            <a:off x="5778212" y="1711721"/>
            <a:ext cx="96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{a, b}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86294F-6401-8477-446B-84D0568A27CD}"/>
              </a:ext>
            </a:extLst>
          </p:cNvPr>
          <p:cNvSpPr txBox="1"/>
          <p:nvPr/>
        </p:nvSpPr>
        <p:spPr>
          <a:xfrm>
            <a:off x="8435588" y="1642625"/>
            <a:ext cx="96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{b}</a:t>
            </a:r>
          </a:p>
        </p:txBody>
      </p:sp>
    </p:spTree>
    <p:extLst>
      <p:ext uri="{BB962C8B-B14F-4D97-AF65-F5344CB8AC3E}">
        <p14:creationId xmlns:p14="http://schemas.microsoft.com/office/powerpoint/2010/main" val="4187662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32E3-1665-27D7-78C6-82FCF540C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Copy Edge in PAG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B0662-52BA-3D7A-057D-9E0B6E82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245298-843F-764D-DE28-1375D0C8DC7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899515"/>
            <a:ext cx="3447473" cy="36496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10, b = 20;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c;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...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if (c &gt; 0)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 else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q = 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15E553-CDEE-CC30-097B-79C0379FEB72}"/>
              </a:ext>
            </a:extLst>
          </p:cNvPr>
          <p:cNvSpPr/>
          <p:nvPr/>
        </p:nvSpPr>
        <p:spPr>
          <a:xfrm>
            <a:off x="6382322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A2EF9A-7F32-24CA-800A-34A227741689}"/>
              </a:ext>
            </a:extLst>
          </p:cNvPr>
          <p:cNvSpPr/>
          <p:nvPr/>
        </p:nvSpPr>
        <p:spPr>
          <a:xfrm>
            <a:off x="8608932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19CA31-8778-3BC0-2E4B-5D98EA1120ED}"/>
              </a:ext>
            </a:extLst>
          </p:cNvPr>
          <p:cNvSpPr/>
          <p:nvPr/>
        </p:nvSpPr>
        <p:spPr>
          <a:xfrm>
            <a:off x="10177214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05867A-3AF2-7A23-296F-7C72D0469EE9}"/>
              </a:ext>
            </a:extLst>
          </p:cNvPr>
          <p:cNvSpPr/>
          <p:nvPr/>
        </p:nvSpPr>
        <p:spPr>
          <a:xfrm>
            <a:off x="5963823" y="3771233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8B00EF-8890-0539-4830-A9B70A7A6C62}"/>
              </a:ext>
            </a:extLst>
          </p:cNvPr>
          <p:cNvSpPr/>
          <p:nvPr/>
        </p:nvSpPr>
        <p:spPr>
          <a:xfrm>
            <a:off x="7275987" y="3771233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16300A-B30C-4098-6633-A4608825A933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H="1" flipV="1">
            <a:off x="6693218" y="2730960"/>
            <a:ext cx="893665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9BB8BC-B2C0-296A-6B80-B77359CB12ED}"/>
              </a:ext>
            </a:extLst>
          </p:cNvPr>
          <p:cNvSpPr txBox="1"/>
          <p:nvPr/>
        </p:nvSpPr>
        <p:spPr>
          <a:xfrm>
            <a:off x="7275987" y="2932376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8B2DFF-F191-94F4-31DE-84E13EBAC2AD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V="1">
            <a:off x="7586883" y="2730960"/>
            <a:ext cx="1332945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498387-AD72-3C81-3CB6-33DD54C374B3}"/>
              </a:ext>
            </a:extLst>
          </p:cNvPr>
          <p:cNvCxnSpPr>
            <a:cxnSpLocks/>
            <a:stCxn id="10" idx="0"/>
            <a:endCxn id="7" idx="4"/>
          </p:cNvCxnSpPr>
          <p:nvPr/>
        </p:nvCxnSpPr>
        <p:spPr>
          <a:xfrm flipV="1">
            <a:off x="6274719" y="2730960"/>
            <a:ext cx="418499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A1356B-6E65-0B5D-79A9-7B91460B1F22}"/>
              </a:ext>
            </a:extLst>
          </p:cNvPr>
          <p:cNvSpPr txBox="1"/>
          <p:nvPr/>
        </p:nvSpPr>
        <p:spPr>
          <a:xfrm>
            <a:off x="8480548" y="2983062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3B0744-C951-809C-CFBF-83A2E9ABD7F7}"/>
              </a:ext>
            </a:extLst>
          </p:cNvPr>
          <p:cNvSpPr txBox="1"/>
          <p:nvPr/>
        </p:nvSpPr>
        <p:spPr>
          <a:xfrm>
            <a:off x="5507224" y="2933315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CF761-D9FC-4564-E9A6-E8A0DB16656F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7004114" y="2429208"/>
            <a:ext cx="160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419101-D6F3-38FB-DC4C-88503E2CE49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9230724" y="2429208"/>
            <a:ext cx="94649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F5334C-C99E-7397-2A3F-9732CBE9D976}"/>
              </a:ext>
            </a:extLst>
          </p:cNvPr>
          <p:cNvSpPr txBox="1"/>
          <p:nvPr/>
        </p:nvSpPr>
        <p:spPr>
          <a:xfrm>
            <a:off x="7259985" y="1992439"/>
            <a:ext cx="76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9DB01C-11EF-EA09-7959-6BDB7BBD079E}"/>
              </a:ext>
            </a:extLst>
          </p:cNvPr>
          <p:cNvSpPr txBox="1"/>
          <p:nvPr/>
        </p:nvSpPr>
        <p:spPr>
          <a:xfrm>
            <a:off x="9320880" y="2010369"/>
            <a:ext cx="76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97797-ACCC-65F1-A138-20EDE7F0146D}"/>
              </a:ext>
            </a:extLst>
          </p:cNvPr>
          <p:cNvSpPr txBox="1"/>
          <p:nvPr/>
        </p:nvSpPr>
        <p:spPr>
          <a:xfrm>
            <a:off x="5778212" y="1711721"/>
            <a:ext cx="96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{a, b}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86294F-6401-8477-446B-84D0568A27CD}"/>
              </a:ext>
            </a:extLst>
          </p:cNvPr>
          <p:cNvSpPr txBox="1"/>
          <p:nvPr/>
        </p:nvSpPr>
        <p:spPr>
          <a:xfrm>
            <a:off x="8435588" y="1642625"/>
            <a:ext cx="96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{b}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3BA6E-1980-76B7-13C8-B3BE2A5C41E8}"/>
              </a:ext>
            </a:extLst>
          </p:cNvPr>
          <p:cNvSpPr txBox="1"/>
          <p:nvPr/>
        </p:nvSpPr>
        <p:spPr>
          <a:xfrm>
            <a:off x="10141219" y="1598282"/>
            <a:ext cx="96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{b}</a:t>
            </a:r>
          </a:p>
        </p:txBody>
      </p:sp>
    </p:spTree>
    <p:extLst>
      <p:ext uri="{BB962C8B-B14F-4D97-AF65-F5344CB8AC3E}">
        <p14:creationId xmlns:p14="http://schemas.microsoft.com/office/powerpoint/2010/main" val="1227138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32E3-1665-27D7-78C6-82FCF540C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Copy Edge in PAG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B0662-52BA-3D7A-057D-9E0B6E82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245298-843F-764D-DE28-1375D0C8DC7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899515"/>
            <a:ext cx="3447473" cy="36496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10, b = 20;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c;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...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if (c &gt; 0)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 else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q = 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15E553-CDEE-CC30-097B-79C0379FEB72}"/>
              </a:ext>
            </a:extLst>
          </p:cNvPr>
          <p:cNvSpPr/>
          <p:nvPr/>
        </p:nvSpPr>
        <p:spPr>
          <a:xfrm>
            <a:off x="6382322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A2EF9A-7F32-24CA-800A-34A227741689}"/>
              </a:ext>
            </a:extLst>
          </p:cNvPr>
          <p:cNvSpPr/>
          <p:nvPr/>
        </p:nvSpPr>
        <p:spPr>
          <a:xfrm>
            <a:off x="8608932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19CA31-8778-3BC0-2E4B-5D98EA1120ED}"/>
              </a:ext>
            </a:extLst>
          </p:cNvPr>
          <p:cNvSpPr/>
          <p:nvPr/>
        </p:nvSpPr>
        <p:spPr>
          <a:xfrm>
            <a:off x="10177214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05867A-3AF2-7A23-296F-7C72D0469EE9}"/>
              </a:ext>
            </a:extLst>
          </p:cNvPr>
          <p:cNvSpPr/>
          <p:nvPr/>
        </p:nvSpPr>
        <p:spPr>
          <a:xfrm>
            <a:off x="5963823" y="3771233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8B00EF-8890-0539-4830-A9B70A7A6C62}"/>
              </a:ext>
            </a:extLst>
          </p:cNvPr>
          <p:cNvSpPr/>
          <p:nvPr/>
        </p:nvSpPr>
        <p:spPr>
          <a:xfrm>
            <a:off x="7275987" y="3771233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16300A-B30C-4098-6633-A4608825A933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H="1" flipV="1">
            <a:off x="6693218" y="2730960"/>
            <a:ext cx="893665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9BB8BC-B2C0-296A-6B80-B77359CB12ED}"/>
              </a:ext>
            </a:extLst>
          </p:cNvPr>
          <p:cNvSpPr txBox="1"/>
          <p:nvPr/>
        </p:nvSpPr>
        <p:spPr>
          <a:xfrm>
            <a:off x="7275987" y="2932376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8B2DFF-F191-94F4-31DE-84E13EBAC2AD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V="1">
            <a:off x="7586883" y="2730960"/>
            <a:ext cx="1332945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498387-AD72-3C81-3CB6-33DD54C374B3}"/>
              </a:ext>
            </a:extLst>
          </p:cNvPr>
          <p:cNvCxnSpPr>
            <a:cxnSpLocks/>
            <a:stCxn id="10" idx="0"/>
            <a:endCxn id="7" idx="4"/>
          </p:cNvCxnSpPr>
          <p:nvPr/>
        </p:nvCxnSpPr>
        <p:spPr>
          <a:xfrm flipV="1">
            <a:off x="6274719" y="2730960"/>
            <a:ext cx="418499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A1356B-6E65-0B5D-79A9-7B91460B1F22}"/>
              </a:ext>
            </a:extLst>
          </p:cNvPr>
          <p:cNvSpPr txBox="1"/>
          <p:nvPr/>
        </p:nvSpPr>
        <p:spPr>
          <a:xfrm>
            <a:off x="8480548" y="2983062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3B0744-C951-809C-CFBF-83A2E9ABD7F7}"/>
              </a:ext>
            </a:extLst>
          </p:cNvPr>
          <p:cNvSpPr txBox="1"/>
          <p:nvPr/>
        </p:nvSpPr>
        <p:spPr>
          <a:xfrm>
            <a:off x="5507224" y="2933315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CF761-D9FC-4564-E9A6-E8A0DB16656F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7004114" y="2429208"/>
            <a:ext cx="16048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419101-D6F3-38FB-DC4C-88503E2CE49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9230724" y="2429208"/>
            <a:ext cx="9464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F5334C-C99E-7397-2A3F-9732CBE9D976}"/>
              </a:ext>
            </a:extLst>
          </p:cNvPr>
          <p:cNvSpPr txBox="1"/>
          <p:nvPr/>
        </p:nvSpPr>
        <p:spPr>
          <a:xfrm>
            <a:off x="7259985" y="1992439"/>
            <a:ext cx="76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9DB01C-11EF-EA09-7959-6BDB7BBD079E}"/>
              </a:ext>
            </a:extLst>
          </p:cNvPr>
          <p:cNvSpPr txBox="1"/>
          <p:nvPr/>
        </p:nvSpPr>
        <p:spPr>
          <a:xfrm>
            <a:off x="9320880" y="2010369"/>
            <a:ext cx="76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97797-ACCC-65F1-A138-20EDE7F0146D}"/>
              </a:ext>
            </a:extLst>
          </p:cNvPr>
          <p:cNvSpPr txBox="1"/>
          <p:nvPr/>
        </p:nvSpPr>
        <p:spPr>
          <a:xfrm>
            <a:off x="5778212" y="1711721"/>
            <a:ext cx="96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{a, b}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86294F-6401-8477-446B-84D0568A27CD}"/>
              </a:ext>
            </a:extLst>
          </p:cNvPr>
          <p:cNvSpPr txBox="1"/>
          <p:nvPr/>
        </p:nvSpPr>
        <p:spPr>
          <a:xfrm>
            <a:off x="8435588" y="1642625"/>
            <a:ext cx="96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</a:t>
            </a:r>
            <a:r>
              <a:rPr lang="en-US" sz="2400" dirty="0" err="1"/>
              <a:t>a,b</a:t>
            </a:r>
            <a:r>
              <a:rPr lang="en-US" sz="24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AB774-21BA-ABCF-A131-D894E17A47CD}"/>
              </a:ext>
            </a:extLst>
          </p:cNvPr>
          <p:cNvSpPr txBox="1"/>
          <p:nvPr/>
        </p:nvSpPr>
        <p:spPr>
          <a:xfrm>
            <a:off x="10242575" y="1564269"/>
            <a:ext cx="96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{b}</a:t>
            </a:r>
          </a:p>
        </p:txBody>
      </p:sp>
    </p:spTree>
    <p:extLst>
      <p:ext uri="{BB962C8B-B14F-4D97-AF65-F5344CB8AC3E}">
        <p14:creationId xmlns:p14="http://schemas.microsoft.com/office/powerpoint/2010/main" val="750149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32E3-1665-27D7-78C6-82FCF540C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Copy Edge in PAG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B0662-52BA-3D7A-057D-9E0B6E82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245298-843F-764D-DE28-1375D0C8DC7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899515"/>
            <a:ext cx="3447473" cy="36496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10, b = 20;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c;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...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if (c &gt; 0)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 else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q = 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15E553-CDEE-CC30-097B-79C0379FEB72}"/>
              </a:ext>
            </a:extLst>
          </p:cNvPr>
          <p:cNvSpPr/>
          <p:nvPr/>
        </p:nvSpPr>
        <p:spPr>
          <a:xfrm>
            <a:off x="6382322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A2EF9A-7F32-24CA-800A-34A227741689}"/>
              </a:ext>
            </a:extLst>
          </p:cNvPr>
          <p:cNvSpPr/>
          <p:nvPr/>
        </p:nvSpPr>
        <p:spPr>
          <a:xfrm>
            <a:off x="8608932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19CA31-8778-3BC0-2E4B-5D98EA1120ED}"/>
              </a:ext>
            </a:extLst>
          </p:cNvPr>
          <p:cNvSpPr/>
          <p:nvPr/>
        </p:nvSpPr>
        <p:spPr>
          <a:xfrm>
            <a:off x="10177214" y="2127456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05867A-3AF2-7A23-296F-7C72D0469EE9}"/>
              </a:ext>
            </a:extLst>
          </p:cNvPr>
          <p:cNvSpPr/>
          <p:nvPr/>
        </p:nvSpPr>
        <p:spPr>
          <a:xfrm>
            <a:off x="5963823" y="3771233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8B00EF-8890-0539-4830-A9B70A7A6C62}"/>
              </a:ext>
            </a:extLst>
          </p:cNvPr>
          <p:cNvSpPr/>
          <p:nvPr/>
        </p:nvSpPr>
        <p:spPr>
          <a:xfrm>
            <a:off x="7275987" y="3771233"/>
            <a:ext cx="621792" cy="6035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16300A-B30C-4098-6633-A4608825A933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H="1" flipV="1">
            <a:off x="6693218" y="2730960"/>
            <a:ext cx="893665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9BB8BC-B2C0-296A-6B80-B77359CB12ED}"/>
              </a:ext>
            </a:extLst>
          </p:cNvPr>
          <p:cNvSpPr txBox="1"/>
          <p:nvPr/>
        </p:nvSpPr>
        <p:spPr>
          <a:xfrm>
            <a:off x="7275987" y="2932376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8B2DFF-F191-94F4-31DE-84E13EBAC2AD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V="1">
            <a:off x="7586883" y="2730960"/>
            <a:ext cx="1332945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498387-AD72-3C81-3CB6-33DD54C374B3}"/>
              </a:ext>
            </a:extLst>
          </p:cNvPr>
          <p:cNvCxnSpPr>
            <a:cxnSpLocks/>
            <a:stCxn id="10" idx="0"/>
            <a:endCxn id="7" idx="4"/>
          </p:cNvCxnSpPr>
          <p:nvPr/>
        </p:nvCxnSpPr>
        <p:spPr>
          <a:xfrm flipV="1">
            <a:off x="6274719" y="2730960"/>
            <a:ext cx="418499" cy="10402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A1356B-6E65-0B5D-79A9-7B91460B1F22}"/>
              </a:ext>
            </a:extLst>
          </p:cNvPr>
          <p:cNvSpPr txBox="1"/>
          <p:nvPr/>
        </p:nvSpPr>
        <p:spPr>
          <a:xfrm>
            <a:off x="8480548" y="2983062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3B0744-C951-809C-CFBF-83A2E9ABD7F7}"/>
              </a:ext>
            </a:extLst>
          </p:cNvPr>
          <p:cNvSpPr txBox="1"/>
          <p:nvPr/>
        </p:nvSpPr>
        <p:spPr>
          <a:xfrm>
            <a:off x="5507224" y="2933315"/>
            <a:ext cx="127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-of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CF761-D9FC-4564-E9A6-E8A0DB16656F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7004114" y="2429208"/>
            <a:ext cx="160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419101-D6F3-38FB-DC4C-88503E2CE49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9230724" y="2429208"/>
            <a:ext cx="94649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F5334C-C99E-7397-2A3F-9732CBE9D976}"/>
              </a:ext>
            </a:extLst>
          </p:cNvPr>
          <p:cNvSpPr txBox="1"/>
          <p:nvPr/>
        </p:nvSpPr>
        <p:spPr>
          <a:xfrm>
            <a:off x="7259985" y="1992439"/>
            <a:ext cx="76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9DB01C-11EF-EA09-7959-6BDB7BBD079E}"/>
              </a:ext>
            </a:extLst>
          </p:cNvPr>
          <p:cNvSpPr txBox="1"/>
          <p:nvPr/>
        </p:nvSpPr>
        <p:spPr>
          <a:xfrm>
            <a:off x="9320880" y="2010369"/>
            <a:ext cx="76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97797-ACCC-65F1-A138-20EDE7F0146D}"/>
              </a:ext>
            </a:extLst>
          </p:cNvPr>
          <p:cNvSpPr txBox="1"/>
          <p:nvPr/>
        </p:nvSpPr>
        <p:spPr>
          <a:xfrm>
            <a:off x="5778212" y="1711721"/>
            <a:ext cx="96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{a, b}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86294F-6401-8477-446B-84D0568A27CD}"/>
              </a:ext>
            </a:extLst>
          </p:cNvPr>
          <p:cNvSpPr txBox="1"/>
          <p:nvPr/>
        </p:nvSpPr>
        <p:spPr>
          <a:xfrm>
            <a:off x="8435588" y="1642625"/>
            <a:ext cx="96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</a:t>
            </a:r>
            <a:r>
              <a:rPr lang="en-US" sz="2400" dirty="0" err="1"/>
              <a:t>a,b</a:t>
            </a:r>
            <a:r>
              <a:rPr lang="en-US" sz="24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AB774-21BA-ABCF-A131-D894E17A47CD}"/>
              </a:ext>
            </a:extLst>
          </p:cNvPr>
          <p:cNvSpPr txBox="1"/>
          <p:nvPr/>
        </p:nvSpPr>
        <p:spPr>
          <a:xfrm>
            <a:off x="10242575" y="1564269"/>
            <a:ext cx="96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{a, b}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5BF2A-BA49-FB23-092D-E483D7038C83}"/>
              </a:ext>
            </a:extLst>
          </p:cNvPr>
          <p:cNvSpPr txBox="1"/>
          <p:nvPr/>
        </p:nvSpPr>
        <p:spPr>
          <a:xfrm>
            <a:off x="4745030" y="4878232"/>
            <a:ext cx="6622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Question: Can r ever point to a during execution? </a:t>
            </a:r>
            <a:br>
              <a:rPr lang="en-US" sz="2400" b="1" i="1" dirty="0"/>
            </a:br>
            <a:r>
              <a:rPr lang="en-US" sz="2400" b="1" i="1" dirty="0"/>
              <a:t>What caused this imprecision?</a:t>
            </a:r>
          </a:p>
        </p:txBody>
      </p:sp>
    </p:spTree>
    <p:extLst>
      <p:ext uri="{BB962C8B-B14F-4D97-AF65-F5344CB8AC3E}">
        <p14:creationId xmlns:p14="http://schemas.microsoft.com/office/powerpoint/2010/main" val="3298851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A409-CE4E-5244-1DA7-D39E72C91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DCF8A-95C2-E1D2-2AE3-6E1AA1980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33032" cy="4351338"/>
          </a:xfrm>
        </p:spPr>
        <p:txBody>
          <a:bodyPr/>
          <a:lstStyle/>
          <a:p>
            <a:r>
              <a:rPr lang="en-US" dirty="0"/>
              <a:t>A path sensitive analysis models each branch of an </a:t>
            </a:r>
            <a:r>
              <a:rPr lang="en-US" dirty="0">
                <a:latin typeface="Consolas" panose="020B0609020204030204" pitchFamily="49" charset="0"/>
              </a:rPr>
              <a:t>if-else</a:t>
            </a:r>
            <a:r>
              <a:rPr lang="en-US" dirty="0"/>
              <a:t> statement distinctly</a:t>
            </a:r>
            <a:br>
              <a:rPr lang="en-US" dirty="0"/>
            </a:br>
            <a:endParaRPr lang="en-US" dirty="0"/>
          </a:p>
          <a:p>
            <a:r>
              <a:rPr lang="en-US" dirty="0"/>
              <a:t>If-then-else implies mutually exclusive paths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8D95F-EFBF-4FAE-CD5A-6A37D283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AB32E4-809B-120C-F071-09D889178DA7}"/>
              </a:ext>
            </a:extLst>
          </p:cNvPr>
          <p:cNvSpPr txBox="1">
            <a:spLocks noChangeArrowheads="1"/>
          </p:cNvSpPr>
          <p:nvPr/>
        </p:nvSpPr>
        <p:spPr>
          <a:xfrm>
            <a:off x="7833360" y="1825625"/>
            <a:ext cx="3447473" cy="36496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*p, *q, *r;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 = 10, b = 20;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c;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...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q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if (c &gt; 0)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 else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p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  q = p;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r = q;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190149E-2701-48CB-B4D0-195EE730FB2F}"/>
              </a:ext>
            </a:extLst>
          </p:cNvPr>
          <p:cNvSpPr/>
          <p:nvPr/>
        </p:nvSpPr>
        <p:spPr>
          <a:xfrm>
            <a:off x="10353964" y="3429000"/>
            <a:ext cx="240145" cy="422564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5AD1C3AC-5582-EFFB-A489-E8F598AF47BF}"/>
              </a:ext>
            </a:extLst>
          </p:cNvPr>
          <p:cNvSpPr/>
          <p:nvPr/>
        </p:nvSpPr>
        <p:spPr>
          <a:xfrm>
            <a:off x="10353964" y="4142705"/>
            <a:ext cx="240145" cy="422564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5E720-1AD9-41F1-0288-5C7523F70854}"/>
              </a:ext>
            </a:extLst>
          </p:cNvPr>
          <p:cNvSpPr txBox="1"/>
          <p:nvPr/>
        </p:nvSpPr>
        <p:spPr>
          <a:xfrm>
            <a:off x="10704945" y="3419763"/>
            <a:ext cx="90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Path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B8ACF-22EE-3265-FC86-D37B25F5F361}"/>
              </a:ext>
            </a:extLst>
          </p:cNvPr>
          <p:cNvSpPr txBox="1"/>
          <p:nvPr/>
        </p:nvSpPr>
        <p:spPr>
          <a:xfrm>
            <a:off x="10704945" y="4169321"/>
            <a:ext cx="90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Path 2</a:t>
            </a:r>
          </a:p>
        </p:txBody>
      </p:sp>
    </p:spTree>
    <p:extLst>
      <p:ext uri="{BB962C8B-B14F-4D97-AF65-F5344CB8AC3E}">
        <p14:creationId xmlns:p14="http://schemas.microsoft.com/office/powerpoint/2010/main" val="1560401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91C7-69AA-C5CC-A6A1-6F77E5AC4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92878-4DC2-80A3-36BC-2A8AD3BAC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Heap allocations performed by </a:t>
            </a:r>
            <a:r>
              <a:rPr lang="en-US" dirty="0">
                <a:latin typeface="Consolas" panose="020B0609020204030204" pitchFamily="49" charset="0"/>
              </a:rPr>
              <a:t>malloc()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calloc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mmap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, etc.</a:t>
            </a:r>
          </a:p>
          <a:p>
            <a:r>
              <a:rPr lang="en-US" dirty="0"/>
              <a:t>Heap merged</a:t>
            </a:r>
          </a:p>
          <a:p>
            <a:pPr lvl="1"/>
            <a:r>
              <a:rPr lang="en-US" dirty="0"/>
              <a:t>all heap locations represented by same node in PAG</a:t>
            </a:r>
          </a:p>
          <a:p>
            <a:r>
              <a:rPr lang="en-US" dirty="0"/>
              <a:t>• Allocation site (any call to malloc/</a:t>
            </a:r>
            <a:r>
              <a:rPr lang="en-US" dirty="0" err="1"/>
              <a:t>calloc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Consider each to be a unique location</a:t>
            </a:r>
          </a:p>
          <a:p>
            <a:pPr lvl="1"/>
            <a:r>
              <a:rPr lang="en-US" dirty="0"/>
              <a:t>Doesn’t differentiate between multiple objects allocated by the same allocation site</a:t>
            </a:r>
          </a:p>
          <a:p>
            <a:r>
              <a:rPr lang="en-US" dirty="0"/>
              <a:t>Shape analysis</a:t>
            </a:r>
          </a:p>
          <a:p>
            <a:pPr lvl="1"/>
            <a:r>
              <a:rPr lang="en-US" dirty="0"/>
              <a:t>Recognize linked lists, trees, DAGs, etc.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802F0-B256-AF22-B711-63E916658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62" y="4774979"/>
            <a:ext cx="4753638" cy="158137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924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969F-310E-28C3-A082-F63D01E92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Modeling Options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AB420-57C2-52F2-4D4F-04A847E6A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0018" cy="4351338"/>
          </a:xfrm>
        </p:spPr>
        <p:txBody>
          <a:bodyPr>
            <a:normAutofit/>
          </a:bodyPr>
          <a:lstStyle/>
          <a:p>
            <a:r>
              <a:rPr lang="en-US" dirty="0"/>
              <a:t>Arrays</a:t>
            </a:r>
          </a:p>
          <a:p>
            <a:pPr lvl="1"/>
            <a:r>
              <a:rPr lang="en-US" dirty="0"/>
              <a:t>Elements are treated as individual locations (sensitive)</a:t>
            </a:r>
          </a:p>
          <a:p>
            <a:pPr lvl="1"/>
            <a:r>
              <a:rPr lang="en-US" dirty="0"/>
              <a:t>Treat entire array as a single location (insensitive)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29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F583E15-5B73-E5E4-7D8E-9F2072CFE823}"/>
              </a:ext>
            </a:extLst>
          </p:cNvPr>
          <p:cNvSpPr txBox="1">
            <a:spLocks noChangeArrowheads="1"/>
          </p:cNvSpPr>
          <p:nvPr/>
        </p:nvSpPr>
        <p:spPr>
          <a:xfrm>
            <a:off x="1600755" y="3591467"/>
            <a:ext cx="3447473" cy="24138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void foo()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a, b,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c,d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int*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[4];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[0] = &amp;a;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[1] = &amp;b;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[2] = &amp;c;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[3] = &amp;d;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*q = </a:t>
            </a:r>
            <a:r>
              <a:rPr lang="en-US" sz="1800" dirty="0" err="1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arr</a:t>
            </a: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[3];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endParaRPr lang="en-US" sz="1800" dirty="0">
              <a:solidFill>
                <a:srgbClr val="000000"/>
              </a:solidFill>
              <a:latin typeface="Consolas" pitchFamily="49" charset="0"/>
              <a:ea typeface="ＭＳ Ｐゴシック" pitchFamily="34" charset="-128"/>
              <a:cs typeface="Consolas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E8BFF8-EBE9-3F55-B9E4-479C74F37C6F}"/>
              </a:ext>
            </a:extLst>
          </p:cNvPr>
          <p:cNvSpPr txBox="1"/>
          <p:nvPr/>
        </p:nvSpPr>
        <p:spPr>
          <a:xfrm>
            <a:off x="5486400" y="3722255"/>
            <a:ext cx="670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Array sensitive analysis: </a:t>
            </a:r>
          </a:p>
          <a:p>
            <a:r>
              <a:rPr lang="en-US" dirty="0"/>
              <a:t>  	Pts(</a:t>
            </a:r>
            <a:r>
              <a:rPr lang="en-US" dirty="0" err="1"/>
              <a:t>arr</a:t>
            </a:r>
            <a:r>
              <a:rPr lang="en-US" dirty="0"/>
              <a:t>[0]) = {a}</a:t>
            </a:r>
          </a:p>
          <a:p>
            <a:r>
              <a:rPr lang="en-US" dirty="0"/>
              <a:t>	Pts(</a:t>
            </a:r>
            <a:r>
              <a:rPr lang="en-US" dirty="0" err="1"/>
              <a:t>arr</a:t>
            </a:r>
            <a:r>
              <a:rPr lang="en-US" dirty="0"/>
              <a:t>[1]) = {b}</a:t>
            </a:r>
          </a:p>
          <a:p>
            <a:r>
              <a:rPr lang="en-US" dirty="0"/>
              <a:t>	Pts(</a:t>
            </a:r>
            <a:r>
              <a:rPr lang="en-US" dirty="0" err="1"/>
              <a:t>arr</a:t>
            </a:r>
            <a:r>
              <a:rPr lang="en-US" dirty="0"/>
              <a:t>[2]) = {c}</a:t>
            </a:r>
          </a:p>
          <a:p>
            <a:r>
              <a:rPr lang="en-US" dirty="0"/>
              <a:t>	Pts(</a:t>
            </a:r>
            <a:r>
              <a:rPr lang="en-US" dirty="0" err="1"/>
              <a:t>arr</a:t>
            </a:r>
            <a:r>
              <a:rPr lang="en-US" dirty="0"/>
              <a:t>[3]) = {d}</a:t>
            </a:r>
            <a:br>
              <a:rPr lang="en-US" dirty="0"/>
            </a:br>
            <a:endParaRPr lang="en-US" dirty="0"/>
          </a:p>
          <a:p>
            <a:r>
              <a:rPr lang="en-US" u="sng" dirty="0"/>
              <a:t>Array insensitive analysis:</a:t>
            </a:r>
          </a:p>
          <a:p>
            <a:r>
              <a:rPr lang="en-US" dirty="0"/>
              <a:t>  Pts(</a:t>
            </a:r>
            <a:r>
              <a:rPr lang="en-US" dirty="0" err="1"/>
              <a:t>arr</a:t>
            </a:r>
            <a:r>
              <a:rPr lang="en-US" dirty="0"/>
              <a:t>[0]) = Pts(</a:t>
            </a:r>
            <a:r>
              <a:rPr lang="en-US" dirty="0" err="1"/>
              <a:t>arr</a:t>
            </a:r>
            <a:r>
              <a:rPr lang="en-US" dirty="0"/>
              <a:t>[1]) = Pts(</a:t>
            </a:r>
            <a:r>
              <a:rPr lang="en-US" dirty="0" err="1"/>
              <a:t>arr</a:t>
            </a:r>
            <a:r>
              <a:rPr lang="en-US" dirty="0"/>
              <a:t>[2]) = Pts(</a:t>
            </a:r>
            <a:r>
              <a:rPr lang="en-US" dirty="0" err="1"/>
              <a:t>arr</a:t>
            </a:r>
            <a:r>
              <a:rPr lang="en-US" dirty="0"/>
              <a:t>[3]) = {</a:t>
            </a:r>
            <a:r>
              <a:rPr lang="en-US" dirty="0" err="1"/>
              <a:t>a,b,c,d</a:t>
            </a: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7689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17AD-6D9F-1C90-F6DF-3FD6EA24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Modeling Options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FC928-2553-BCCA-4BC8-71ECCB20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65800" cy="4351338"/>
          </a:xfrm>
        </p:spPr>
        <p:txBody>
          <a:bodyPr/>
          <a:lstStyle/>
          <a:p>
            <a:r>
              <a:rPr lang="en-US" dirty="0"/>
              <a:t>Structures</a:t>
            </a:r>
          </a:p>
          <a:p>
            <a:pPr lvl="1"/>
            <a:r>
              <a:rPr lang="en-US" dirty="0"/>
              <a:t>Elements are treated as individual locations (“field sensitive”)</a:t>
            </a:r>
          </a:p>
          <a:p>
            <a:pPr lvl="1"/>
            <a:r>
              <a:rPr lang="en-US" dirty="0"/>
              <a:t>Treat entire structure as a single location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AF517-5DF4-99F8-05A8-AA160029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89F997-F061-1C77-6CFF-CAC92EB1DBB3}"/>
              </a:ext>
            </a:extLst>
          </p:cNvPr>
          <p:cNvSpPr txBox="1">
            <a:spLocks noChangeArrowheads="1"/>
          </p:cNvSpPr>
          <p:nvPr/>
        </p:nvSpPr>
        <p:spPr>
          <a:xfrm>
            <a:off x="1997363" y="3942484"/>
            <a:ext cx="3447473" cy="24138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struct Object {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*p1;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*p2;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  int *p3;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};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struct Object o = {&amp;a, &amp;b, &amp;c};</a:t>
            </a:r>
          </a:p>
          <a:p>
            <a:pPr marL="533400" indent="-533400">
              <a:spcBef>
                <a:spcPct val="0"/>
              </a:spcBef>
              <a:buFontTx/>
              <a:buAutoNum type="arabicPeriod"/>
              <a:defRPr/>
            </a:pPr>
            <a:r>
              <a:rPr lang="en-US" sz="1800" dirty="0">
                <a:solidFill>
                  <a:srgbClr val="000000"/>
                </a:solidFill>
                <a:latin typeface="Consolas" pitchFamily="49" charset="0"/>
                <a:ea typeface="ＭＳ Ｐゴシック" pitchFamily="34" charset="-128"/>
                <a:cs typeface="Consolas" pitchFamily="49" charset="0"/>
              </a:rPr>
              <a:t>int* q = o.p2;</a:t>
            </a:r>
          </a:p>
        </p:txBody>
      </p:sp>
    </p:spTree>
    <p:extLst>
      <p:ext uri="{BB962C8B-B14F-4D97-AF65-F5344CB8AC3E}">
        <p14:creationId xmlns:p14="http://schemas.microsoft.com/office/powerpoint/2010/main" val="1646818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83C2-A2BE-7381-5132-56F112BF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Sensitivity Options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0CCEF-6836-AF1B-79EB-F1DE790F9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Flow insensitive</a:t>
            </a:r>
          </a:p>
          <a:p>
            <a:pPr lvl="1"/>
            <a:r>
              <a:rPr lang="en-US" dirty="0"/>
              <a:t>The order of statements doesn’t matter</a:t>
            </a:r>
          </a:p>
          <a:p>
            <a:pPr lvl="2"/>
            <a:r>
              <a:rPr lang="en-US" dirty="0"/>
              <a:t>Result of analysis is the same regardless of statement order</a:t>
            </a:r>
          </a:p>
          <a:p>
            <a:pPr lvl="1"/>
            <a:r>
              <a:rPr lang="en-US" dirty="0"/>
              <a:t>Uses a single global state to store results as they are computed</a:t>
            </a:r>
          </a:p>
          <a:p>
            <a:pPr lvl="1"/>
            <a:r>
              <a:rPr lang="en-US" dirty="0"/>
              <a:t>Fast, but not very accurate</a:t>
            </a:r>
          </a:p>
          <a:p>
            <a:r>
              <a:rPr lang="en-US" dirty="0"/>
              <a:t>Flow sensitive</a:t>
            </a:r>
          </a:p>
          <a:p>
            <a:pPr lvl="1"/>
            <a:r>
              <a:rPr lang="en-US" dirty="0"/>
              <a:t>The order of the statements matter</a:t>
            </a:r>
          </a:p>
          <a:p>
            <a:pPr lvl="1"/>
            <a:r>
              <a:rPr lang="en-US" dirty="0"/>
              <a:t>Need a control flow graph</a:t>
            </a:r>
          </a:p>
          <a:p>
            <a:pPr lvl="1"/>
            <a:r>
              <a:rPr lang="en-US" dirty="0"/>
              <a:t>Must store results for each program point</a:t>
            </a:r>
          </a:p>
          <a:p>
            <a:pPr lvl="1"/>
            <a:r>
              <a:rPr lang="en-US" dirty="0"/>
              <a:t>Improves accuracy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0975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5D87-4918-BF9E-8299-418992C4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Sensitivity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5898C-1537-505B-290D-F33F30C04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(assuming allocation-site heap modeling)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E620B-BBE9-A26D-2D58-0F895712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1371"/>
            <a:ext cx="2676899" cy="3019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9DAA7B-215E-4355-396A-337D35179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107" y="2518942"/>
            <a:ext cx="4267796" cy="383911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35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47FD-BFF5-A052-77E3-C6849584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Sensitivity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F771B-520D-0503-D8B2-39D5DAE6A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 insensitive/sensitive (</a:t>
            </a:r>
            <a:r>
              <a:rPr lang="en-US" dirty="0" err="1"/>
              <a:t>interprocedural</a:t>
            </a:r>
            <a:r>
              <a:rPr lang="en-US" dirty="0"/>
              <a:t> analysis)</a:t>
            </a:r>
          </a:p>
          <a:p>
            <a:pPr lvl="1"/>
            <a:r>
              <a:rPr lang="en-US" dirty="0"/>
              <a:t>whether to consider different calling contexts</a:t>
            </a:r>
          </a:p>
          <a:p>
            <a:pPr lvl="1"/>
            <a:r>
              <a:rPr lang="en-US" dirty="0"/>
              <a:t>e.g., what are the possibilities for p at S6?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0F869-A9E7-F09B-5EA6-00CE0E43A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3220792"/>
            <a:ext cx="4096322" cy="35152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FF1864-B996-66C3-1887-E16700E69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487" y="3220792"/>
            <a:ext cx="3048425" cy="295316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38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97FE-F39C-7831-199C-68C85C121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Pointer Analysis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DB379-29ED-7BF5-385E-42A38ED87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SVF:</a:t>
            </a:r>
          </a:p>
          <a:p>
            <a:pPr lvl="1"/>
            <a:r>
              <a:rPr lang="en-US" dirty="0"/>
              <a:t>LLVM based pointer analysis framework</a:t>
            </a:r>
          </a:p>
          <a:p>
            <a:pPr lvl="2"/>
            <a:r>
              <a:rPr lang="en-US" dirty="0"/>
              <a:t>Supports both flow/context/field insensitive and sensitive analysis</a:t>
            </a:r>
          </a:p>
          <a:p>
            <a:pPr lvl="2"/>
            <a:r>
              <a:rPr lang="en-US" dirty="0"/>
              <a:t>Supports </a:t>
            </a:r>
            <a:r>
              <a:rPr lang="en-US" dirty="0" err="1"/>
              <a:t>interprocedural</a:t>
            </a:r>
            <a:r>
              <a:rPr lang="en-US" dirty="0"/>
              <a:t> analysis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Used for detecting bugs [SHIN2019, LEE2020, KIM2020], and automatic software hardening [XUE2019]</a:t>
            </a:r>
            <a:br>
              <a:rPr lang="en-US" dirty="0"/>
            </a:br>
            <a:endParaRPr lang="en-US" dirty="0"/>
          </a:p>
          <a:p>
            <a:r>
              <a:rPr lang="en-US" dirty="0"/>
              <a:t>Also used within compilers such as LLVM/GCC</a:t>
            </a:r>
          </a:p>
          <a:p>
            <a:pPr lvl="1"/>
            <a:r>
              <a:rPr lang="en-US" dirty="0"/>
              <a:t>These analysis are mostly intraprocedural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F2537-6C0A-B920-7D5D-1658A19087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98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61FF-7403-5338-04DF-69428F2C9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9D485-25F6-03DA-66AC-BAA7A290B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Steensgaard’s</a:t>
            </a:r>
            <a:r>
              <a:rPr lang="en-US" dirty="0"/>
              <a:t> algorithm</a:t>
            </a:r>
          </a:p>
          <a:p>
            <a:pPr lvl="1"/>
            <a:r>
              <a:rPr lang="en-US" dirty="0">
                <a:hlinkClick r:id="rId2"/>
              </a:rPr>
              <a:t>https://www.cs.cornell.edu/courses/cs711/2005fa/papers/steensgaard-popl96.pdf</a:t>
            </a:r>
            <a:endParaRPr lang="en-US" dirty="0"/>
          </a:p>
          <a:p>
            <a:pPr lvl="1"/>
            <a:r>
              <a:rPr lang="en-US" dirty="0"/>
              <a:t>Linear complexity O(n)</a:t>
            </a:r>
          </a:p>
          <a:p>
            <a:pPr lvl="1"/>
            <a:r>
              <a:rPr lang="en-US" dirty="0"/>
              <a:t>Lower precision than </a:t>
            </a:r>
            <a:r>
              <a:rPr lang="en-US"/>
              <a:t>Andersen’s analysis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797F9-011D-7DA7-290A-86F36CF5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44DD-540E-4B9F-B578-7EE543162561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91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2749</Words>
  <Application>Microsoft Office PowerPoint</Application>
  <PresentationFormat>Widescreen</PresentationFormat>
  <Paragraphs>783</Paragraphs>
  <Slides>35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ＭＳ Ｐゴシック</vt:lpstr>
      <vt:lpstr>Arial</vt:lpstr>
      <vt:lpstr>Calibri</vt:lpstr>
      <vt:lpstr>Calibri Light</vt:lpstr>
      <vt:lpstr>Consolas</vt:lpstr>
      <vt:lpstr>Wingdings</vt:lpstr>
      <vt:lpstr>Office Theme</vt:lpstr>
      <vt:lpstr>Static Analysis (Recap)</vt:lpstr>
      <vt:lpstr>Key Ideas (Recap)</vt:lpstr>
      <vt:lpstr>Sign Analysis (Negative Array Index)</vt:lpstr>
      <vt:lpstr>Sign Analysis</vt:lpstr>
      <vt:lpstr>Sign Analysis: Control Flow Graph</vt:lpstr>
      <vt:lpstr>Sign Analysis: Apply Abstraction Rules</vt:lpstr>
      <vt:lpstr>Another Program</vt:lpstr>
      <vt:lpstr>Static Pointer Analysis</vt:lpstr>
      <vt:lpstr>What is Pointer Analysis?</vt:lpstr>
      <vt:lpstr>May and Must Points-to</vt:lpstr>
      <vt:lpstr>Pointer Analysis Steps</vt:lpstr>
      <vt:lpstr>Convert Program to Program Assignment Graph (PAG)</vt:lpstr>
      <vt:lpstr>PAG Example</vt:lpstr>
      <vt:lpstr>Classes of pointer analysis algorithms</vt:lpstr>
      <vt:lpstr>Andersen-Style Pointer Analysis [Andersen1994]</vt:lpstr>
      <vt:lpstr>Solving the PAG</vt:lpstr>
      <vt:lpstr>Solving the PAG</vt:lpstr>
      <vt:lpstr>Solving the PAG</vt:lpstr>
      <vt:lpstr>Solving the PAG</vt:lpstr>
      <vt:lpstr>Termination</vt:lpstr>
      <vt:lpstr>Sensitivity Considerations</vt:lpstr>
      <vt:lpstr>Solving the PAG</vt:lpstr>
      <vt:lpstr>Solving the Addr-Of Edges in PAG</vt:lpstr>
      <vt:lpstr>Solving the Copy Edge in PAG</vt:lpstr>
      <vt:lpstr>Solving the Copy Edge in PAG</vt:lpstr>
      <vt:lpstr>Solving the Copy Edge in PAG</vt:lpstr>
      <vt:lpstr>Path Sensitivity</vt:lpstr>
      <vt:lpstr>Heap Sensitivity</vt:lpstr>
      <vt:lpstr>Aggregate Modeling Options </vt:lpstr>
      <vt:lpstr>Aggregate Modeling Options </vt:lpstr>
      <vt:lpstr>Flow Sensitivity Options </vt:lpstr>
      <vt:lpstr>Flow Sensitivity Example</vt:lpstr>
      <vt:lpstr>Context Sensitivity Options</vt:lpstr>
      <vt:lpstr>Static Pointer Analysis Tools</vt:lpstr>
      <vt:lpstr>Other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 Analysis</dc:title>
  <dc:creator>Palit, Tapti</dc:creator>
  <cp:lastModifiedBy>Tapti Palit</cp:lastModifiedBy>
  <cp:revision>105</cp:revision>
  <dcterms:created xsi:type="dcterms:W3CDTF">2023-03-20T13:44:38Z</dcterms:created>
  <dcterms:modified xsi:type="dcterms:W3CDTF">2023-03-28T18:34:10Z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2023-03-20T13:46:23Z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eecc2ea0-8190-453d-9c8b-2a7adedaff1a</vt:lpwstr>
  </property>
  <property fmtid="{D5CDD505-2E9C-101B-9397-08002B2CF9AE}" pid="8" name="MSIP_Label_4044bd30-2ed7-4c9d-9d12-46200872a97b_ContentBits">
    <vt:lpwstr>0</vt:lpwstr>
  </property>
</Properties>
</file>