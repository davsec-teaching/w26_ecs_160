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6" r:id="rId3"/>
    <p:sldId id="259" r:id="rId4"/>
    <p:sldId id="260" r:id="rId5"/>
    <p:sldId id="262" r:id="rId6"/>
    <p:sldId id="263" r:id="rId7"/>
    <p:sldId id="258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61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5D5"/>
    <a:srgbClr val="DDDDFF"/>
    <a:srgbClr val="E6E0EC"/>
    <a:srgbClr val="1B2936"/>
    <a:srgbClr val="FFFFFF"/>
    <a:srgbClr val="0000FF"/>
    <a:srgbClr val="B9B9FF"/>
    <a:srgbClr val="003399"/>
    <a:srgbClr val="00823B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3" autoAdjust="0"/>
    <p:restoredTop sz="77426" autoAdjust="0"/>
  </p:normalViewPr>
  <p:slideViewPr>
    <p:cSldViewPr snapToGrid="0">
      <p:cViewPr varScale="1">
        <p:scale>
          <a:sx n="83" d="100"/>
          <a:sy n="83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build --no-cache -t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myimage:latest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615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Actual </a:t>
            </a:r>
          </a:p>
        </p:txBody>
      </p:sp>
    </p:spTree>
    <p:extLst>
      <p:ext uri="{BB962C8B-B14F-4D97-AF65-F5344CB8AC3E}">
        <p14:creationId xmlns:p14="http://schemas.microsoft.com/office/powerpoint/2010/main" val="3658832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3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March 4, 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March 4,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March 4,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March 4,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de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March 4,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de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Wednesday, March 4,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574AB0-E2E4-D353-5E8A-27776DD37E4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76381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471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Wednesday, March 4, 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  <p:sldLayoutId id="2147483691" r:id="rId6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Docker in more detail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328559-AA51-0E58-3212-B7E1CB8E2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container is a virtual, isolated environment</a:t>
            </a:r>
          </a:p>
          <a:p>
            <a:pPr lvl="1"/>
            <a:r>
              <a:rPr lang="en-US" dirty="0"/>
              <a:t>Uses Linux kernel isolation primitives such as namespace and </a:t>
            </a:r>
            <a:r>
              <a:rPr lang="en-US" dirty="0" err="1"/>
              <a:t>cgroups</a:t>
            </a:r>
            <a:endParaRPr lang="en-US" dirty="0"/>
          </a:p>
          <a:p>
            <a:r>
              <a:rPr lang="en-US" dirty="0"/>
              <a:t>Docker is the technology that provides abstractions that leverage namespace and </a:t>
            </a:r>
            <a:r>
              <a:rPr lang="en-US" dirty="0" err="1"/>
              <a:t>cgroups</a:t>
            </a:r>
            <a:r>
              <a:rPr lang="en-US" dirty="0"/>
              <a:t> to build, launch, and kill containers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536D74-9A3E-0972-8801-7AE34EFB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overview</a:t>
            </a:r>
          </a:p>
        </p:txBody>
      </p:sp>
    </p:spTree>
    <p:extLst>
      <p:ext uri="{BB962C8B-B14F-4D97-AF65-F5344CB8AC3E}">
        <p14:creationId xmlns:p14="http://schemas.microsoft.com/office/powerpoint/2010/main" val="87415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FCA712-F61E-AFFF-68EC-1275899B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docker image is a file consisting of all the software it encapsulates</a:t>
            </a:r>
          </a:p>
          <a:p>
            <a:r>
              <a:rPr lang="en-US" dirty="0"/>
              <a:t>The file uses a particular type of filesystem known as </a:t>
            </a:r>
            <a:r>
              <a:rPr lang="en-US" dirty="0" err="1"/>
              <a:t>OverlayFS</a:t>
            </a:r>
            <a:endParaRPr lang="en-US" dirty="0"/>
          </a:p>
          <a:p>
            <a:pPr lvl="1"/>
            <a:r>
              <a:rPr lang="en-US" dirty="0" err="1"/>
              <a:t>OverlayFS</a:t>
            </a:r>
            <a:r>
              <a:rPr lang="en-US" dirty="0"/>
              <a:t> is a </a:t>
            </a:r>
            <a:r>
              <a:rPr lang="en-US" b="1" dirty="0"/>
              <a:t>union filesystem</a:t>
            </a:r>
          </a:p>
          <a:p>
            <a:pPr lvl="1"/>
            <a:r>
              <a:rPr lang="en-US" dirty="0"/>
              <a:t>Can "stack” directories into a single 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EDDAE8-5AA4-F152-0C14-B7C0741D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</p:spTree>
    <p:extLst>
      <p:ext uri="{BB962C8B-B14F-4D97-AF65-F5344CB8AC3E}">
        <p14:creationId xmlns:p14="http://schemas.microsoft.com/office/powerpoint/2010/main" val="254213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75D48F6-D5E7-C4F1-6B6F-8651E3CB3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828262"/>
              </p:ext>
            </p:extLst>
          </p:nvPr>
        </p:nvGraphicFramePr>
        <p:xfrm>
          <a:off x="6786621" y="2290085"/>
          <a:ext cx="3868127" cy="17518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68127">
                  <a:extLst>
                    <a:ext uri="{9D8B030D-6E8A-4147-A177-3AD203B41FA5}">
                      <a16:colId xmlns:a16="http://schemas.microsoft.com/office/drawing/2014/main" val="565587101"/>
                    </a:ext>
                  </a:extLst>
                </a:gridCol>
              </a:tblGrid>
              <a:tr h="43795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[build artifacts of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junit_demo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38588"/>
                  </a:ext>
                </a:extLst>
              </a:tr>
              <a:tr h="437957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junit_demo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563029"/>
                  </a:ext>
                </a:extLst>
              </a:tr>
              <a:tr h="43795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openjd-21-jdk; maven; 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118182"/>
                  </a:ext>
                </a:extLst>
              </a:tr>
              <a:tr h="43795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ubuntu:25.04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71257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9512D0BE-D58D-83A5-6536-8BFCB4C8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r>
              <a:rPr lang="en-US" dirty="0"/>
              <a:t> and </a:t>
            </a:r>
            <a:r>
              <a:rPr lang="en-US" dirty="0" err="1"/>
              <a:t>OverlayFS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53368D4-F127-6840-3AC9-C74ECC0A1E6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85000" lnSpcReduction="20000"/>
          </a:bodyPr>
          <a:lstStyle/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Use the Ubuntu base image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FROM ubuntu:25.04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Set the working directory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WORKDIR /app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ENV DEBIAN_FRONTEND=noninteractive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Install required dependencies: OpenJDK, Maven, Git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apt-get update &amp;&amp; apt-get install -y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openjdk-21-jdk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maven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git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&amp;&amp; apt-get clean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&amp;&amp; rm -rf /var/lib/apt/lists/*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Set JAVA_HOME environment variable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ENV JAVA_HOME=/</a:t>
            </a:r>
            <a:r>
              <a:rPr lang="en-US" altLang="en-US" dirty="0" err="1">
                <a:solidFill>
                  <a:srgbClr val="242424"/>
                </a:solidFill>
              </a:rPr>
              <a:t>usr</a:t>
            </a:r>
            <a:r>
              <a:rPr lang="en-US" altLang="en-US" dirty="0">
                <a:solidFill>
                  <a:srgbClr val="242424"/>
                </a:solidFill>
              </a:rPr>
              <a:t>/lib/</a:t>
            </a:r>
            <a:r>
              <a:rPr lang="en-US" altLang="en-US" dirty="0" err="1">
                <a:solidFill>
                  <a:srgbClr val="242424"/>
                </a:solidFill>
              </a:rPr>
              <a:t>jvm</a:t>
            </a:r>
            <a:r>
              <a:rPr lang="en-US" altLang="en-US" dirty="0">
                <a:solidFill>
                  <a:srgbClr val="242424"/>
                </a:solidFill>
              </a:rPr>
              <a:t>/java-21-openjdk-amd64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ENV PATH="$JAVA_HOME/bin:$PATH"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Clone the Java application repository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git clone https://</a:t>
            </a:r>
            <a:r>
              <a:rPr lang="en-US" altLang="en-US" dirty="0" err="1">
                <a:solidFill>
                  <a:srgbClr val="242424"/>
                </a:solidFill>
              </a:rPr>
              <a:t>github.com</a:t>
            </a:r>
            <a:r>
              <a:rPr lang="en-US" altLang="en-US" dirty="0">
                <a:solidFill>
                  <a:srgbClr val="242424"/>
                </a:solidFill>
              </a:rPr>
              <a:t>/</a:t>
            </a:r>
            <a:r>
              <a:rPr lang="en-US" altLang="en-US" dirty="0" err="1">
                <a:solidFill>
                  <a:srgbClr val="242424"/>
                </a:solidFill>
              </a:rPr>
              <a:t>davsec</a:t>
            </a:r>
            <a:r>
              <a:rPr lang="en-US" altLang="en-US" dirty="0">
                <a:solidFill>
                  <a:srgbClr val="242424"/>
                </a:solidFill>
              </a:rPr>
              <a:t>-teaching/</a:t>
            </a:r>
            <a:r>
              <a:rPr lang="en-US" altLang="en-US" dirty="0" err="1">
                <a:solidFill>
                  <a:srgbClr val="242424"/>
                </a:solidFill>
              </a:rPr>
              <a:t>junit_demo.git</a:t>
            </a:r>
            <a:r>
              <a:rPr lang="en-US" altLang="en-US" dirty="0">
                <a:solidFill>
                  <a:srgbClr val="242424"/>
                </a:solidFill>
              </a:rPr>
              <a:t> .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Build the application using Maven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</a:t>
            </a:r>
            <a:r>
              <a:rPr lang="en-US" altLang="en-US" dirty="0" err="1">
                <a:solidFill>
                  <a:srgbClr val="242424"/>
                </a:solidFill>
              </a:rPr>
              <a:t>mvn</a:t>
            </a:r>
            <a:r>
              <a:rPr lang="en-US" altLang="en-US" dirty="0">
                <a:solidFill>
                  <a:srgbClr val="242424"/>
                </a:solidFill>
              </a:rPr>
              <a:t> clean package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</a:t>
            </a:r>
            <a:r>
              <a:rPr lang="en-US" altLang="en-US" dirty="0" err="1">
                <a:solidFill>
                  <a:srgbClr val="242424"/>
                </a:solidFill>
              </a:rPr>
              <a:t>mvn</a:t>
            </a:r>
            <a:r>
              <a:rPr lang="en-US" altLang="en-US" dirty="0">
                <a:solidFill>
                  <a:srgbClr val="242424"/>
                </a:solidFill>
              </a:rPr>
              <a:t> clean test </a:t>
            </a:r>
            <a:r>
              <a:rPr lang="en-US" altLang="en-US" dirty="0" err="1">
                <a:solidFill>
                  <a:srgbClr val="242424"/>
                </a:solidFill>
              </a:rPr>
              <a:t>surefire-report:report</a:t>
            </a: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Just run bash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CMD ["bash"]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3D7034-6238-8853-F1F6-BEEA8ECF2B13}"/>
              </a:ext>
            </a:extLst>
          </p:cNvPr>
          <p:cNvSpPr txBox="1"/>
          <p:nvPr/>
        </p:nvSpPr>
        <p:spPr>
          <a:xfrm>
            <a:off x="7457036" y="4174435"/>
            <a:ext cx="252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Sample </a:t>
            </a:r>
            <a:r>
              <a:rPr lang="en-US" b="1" i="1" dirty="0" err="1"/>
              <a:t>OverlayFS</a:t>
            </a:r>
            <a:r>
              <a:rPr lang="en-US" b="1" i="1" dirty="0"/>
              <a:t> layers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16BC80-4646-62BD-8276-ACE606CDA5E9}"/>
              </a:ext>
            </a:extLst>
          </p:cNvPr>
          <p:cNvSpPr/>
          <p:nvPr/>
        </p:nvSpPr>
        <p:spPr>
          <a:xfrm>
            <a:off x="238539" y="696277"/>
            <a:ext cx="3180522" cy="61568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A9242-DA8E-5022-23A8-EFB9501D3DA7}"/>
              </a:ext>
            </a:extLst>
          </p:cNvPr>
          <p:cNvSpPr txBox="1"/>
          <p:nvPr/>
        </p:nvSpPr>
        <p:spPr>
          <a:xfrm>
            <a:off x="3419061" y="785004"/>
            <a:ext cx="2887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Image in </a:t>
            </a:r>
            <a:r>
              <a:rPr lang="en-US" b="1" i="1" dirty="0" err="1"/>
              <a:t>Dockerhub</a:t>
            </a:r>
            <a:r>
              <a:rPr lang="en-US" b="1" i="1" dirty="0"/>
              <a:t> registry</a:t>
            </a:r>
          </a:p>
        </p:txBody>
      </p:sp>
    </p:spTree>
    <p:extLst>
      <p:ext uri="{BB962C8B-B14F-4D97-AF65-F5344CB8AC3E}">
        <p14:creationId xmlns:p14="http://schemas.microsoft.com/office/powerpoint/2010/main" val="171793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95B5-B03A-0EFF-2AE2-6112C3CC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805809-B7C5-033E-D755-D0CD6EA2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r>
              <a:rPr lang="en-US" dirty="0"/>
              <a:t> and </a:t>
            </a:r>
            <a:r>
              <a:rPr lang="en-US" dirty="0" err="1"/>
              <a:t>OverlayFS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F48886-1AA2-992A-058A-AEB685CBCD8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85000" lnSpcReduction="20000"/>
          </a:bodyPr>
          <a:lstStyle/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Use the Ubuntu base image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FROM ubuntu:25.04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Set the working directory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WORKDIR /app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ENV DEBIAN_FRONTEND=noninteractive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Install required dependencies: OpenJDK, Maven, Git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apt-get update &amp;&amp; apt-get install -y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openjdk-21-jdk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maven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git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&amp;&amp; apt-get clean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    &amp;&amp; rm -rf /var/lib/apt/lists/*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Set JAVA_HOME environment variable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ENV JAVA_HOME=/</a:t>
            </a:r>
            <a:r>
              <a:rPr lang="en-US" altLang="en-US" dirty="0" err="1">
                <a:solidFill>
                  <a:srgbClr val="242424"/>
                </a:solidFill>
              </a:rPr>
              <a:t>usr</a:t>
            </a:r>
            <a:r>
              <a:rPr lang="en-US" altLang="en-US" dirty="0">
                <a:solidFill>
                  <a:srgbClr val="242424"/>
                </a:solidFill>
              </a:rPr>
              <a:t>/lib/</a:t>
            </a:r>
            <a:r>
              <a:rPr lang="en-US" altLang="en-US" dirty="0" err="1">
                <a:solidFill>
                  <a:srgbClr val="242424"/>
                </a:solidFill>
              </a:rPr>
              <a:t>jvm</a:t>
            </a:r>
            <a:r>
              <a:rPr lang="en-US" altLang="en-US" dirty="0">
                <a:solidFill>
                  <a:srgbClr val="242424"/>
                </a:solidFill>
              </a:rPr>
              <a:t>/java-21-openjdk-amd64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ENV PATH="$JAVA_HOME/bin:$PATH"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Clone the Java application repository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git clone https://</a:t>
            </a:r>
            <a:r>
              <a:rPr lang="en-US" altLang="en-US" dirty="0" err="1">
                <a:solidFill>
                  <a:srgbClr val="242424"/>
                </a:solidFill>
              </a:rPr>
              <a:t>github.com</a:t>
            </a:r>
            <a:r>
              <a:rPr lang="en-US" altLang="en-US" dirty="0">
                <a:solidFill>
                  <a:srgbClr val="242424"/>
                </a:solidFill>
              </a:rPr>
              <a:t>/</a:t>
            </a:r>
            <a:r>
              <a:rPr lang="en-US" altLang="en-US" dirty="0" err="1">
                <a:solidFill>
                  <a:srgbClr val="242424"/>
                </a:solidFill>
              </a:rPr>
              <a:t>davsec</a:t>
            </a:r>
            <a:r>
              <a:rPr lang="en-US" altLang="en-US" dirty="0">
                <a:solidFill>
                  <a:srgbClr val="242424"/>
                </a:solidFill>
              </a:rPr>
              <a:t>-teaching/</a:t>
            </a:r>
            <a:r>
              <a:rPr lang="en-US" altLang="en-US" dirty="0" err="1">
                <a:solidFill>
                  <a:srgbClr val="242424"/>
                </a:solidFill>
              </a:rPr>
              <a:t>junit_demo.git</a:t>
            </a:r>
            <a:r>
              <a:rPr lang="en-US" altLang="en-US" dirty="0">
                <a:solidFill>
                  <a:srgbClr val="242424"/>
                </a:solidFill>
              </a:rPr>
              <a:t> .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Build the application using Maven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</a:t>
            </a:r>
            <a:r>
              <a:rPr lang="en-US" altLang="en-US" dirty="0" err="1">
                <a:solidFill>
                  <a:srgbClr val="242424"/>
                </a:solidFill>
              </a:rPr>
              <a:t>mvn</a:t>
            </a:r>
            <a:r>
              <a:rPr lang="en-US" altLang="en-US" dirty="0">
                <a:solidFill>
                  <a:srgbClr val="242424"/>
                </a:solidFill>
              </a:rPr>
              <a:t> clean package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RUN </a:t>
            </a:r>
            <a:r>
              <a:rPr lang="en-US" altLang="en-US" dirty="0" err="1">
                <a:solidFill>
                  <a:srgbClr val="242424"/>
                </a:solidFill>
              </a:rPr>
              <a:t>mvn</a:t>
            </a:r>
            <a:r>
              <a:rPr lang="en-US" altLang="en-US" dirty="0">
                <a:solidFill>
                  <a:srgbClr val="242424"/>
                </a:solidFill>
              </a:rPr>
              <a:t> clean test </a:t>
            </a:r>
            <a:r>
              <a:rPr lang="en-US" altLang="en-US" dirty="0" err="1">
                <a:solidFill>
                  <a:srgbClr val="242424"/>
                </a:solidFill>
              </a:rPr>
              <a:t>surefire-report:report</a:t>
            </a:r>
            <a:endParaRPr lang="en-US" altLang="en-US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# Just run bash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dirty="0">
                <a:solidFill>
                  <a:srgbClr val="242424"/>
                </a:solidFill>
              </a:rPr>
              <a:t>CMD ["bash"]</a:t>
            </a:r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4BE3ED-C8CE-D69F-4AF7-B18843161951}"/>
              </a:ext>
            </a:extLst>
          </p:cNvPr>
          <p:cNvSpPr/>
          <p:nvPr/>
        </p:nvSpPr>
        <p:spPr>
          <a:xfrm>
            <a:off x="238539" y="696277"/>
            <a:ext cx="3180522" cy="61568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86A68B-8E4A-8292-8DFF-E495040FADEE}"/>
              </a:ext>
            </a:extLst>
          </p:cNvPr>
          <p:cNvSpPr txBox="1"/>
          <p:nvPr/>
        </p:nvSpPr>
        <p:spPr>
          <a:xfrm>
            <a:off x="3419061" y="785004"/>
            <a:ext cx="2887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Image in </a:t>
            </a:r>
            <a:r>
              <a:rPr lang="en-US" b="1" i="1" dirty="0" err="1"/>
              <a:t>Dockerhub</a:t>
            </a:r>
            <a:r>
              <a:rPr lang="en-US" b="1" i="1" dirty="0"/>
              <a:t>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A1218-18CF-0CA2-2F9D-8825EEF80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Docker commands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docker build -t </a:t>
            </a:r>
            <a:r>
              <a:rPr lang="en-US" dirty="0" err="1"/>
              <a:t>myimage:latest</a:t>
            </a:r>
            <a:r>
              <a:rPr lang="en-US" dirty="0"/>
              <a:t> .</a:t>
            </a:r>
          </a:p>
          <a:p>
            <a:r>
              <a:rPr lang="en-US" dirty="0"/>
              <a:t>&gt; docker images # List all images</a:t>
            </a:r>
          </a:p>
          <a:p>
            <a:br>
              <a:rPr lang="en-US" dirty="0"/>
            </a:br>
            <a:r>
              <a:rPr lang="en-US" dirty="0"/>
              <a:t>&gt; docker run -it </a:t>
            </a:r>
            <a:r>
              <a:rPr lang="en-US" dirty="0" err="1"/>
              <a:t>myimage:latest</a:t>
            </a:r>
            <a:r>
              <a:rPr lang="en-US" dirty="0"/>
              <a:t>  bash # Run the container</a:t>
            </a:r>
          </a:p>
          <a:p>
            <a:endParaRPr lang="en-US" dirty="0"/>
          </a:p>
          <a:p>
            <a:r>
              <a:rPr lang="en-US" dirty="0"/>
              <a:t>&gt; docker </a:t>
            </a:r>
            <a:r>
              <a:rPr lang="en-US" dirty="0" err="1"/>
              <a:t>ps</a:t>
            </a:r>
            <a:r>
              <a:rPr lang="en-US" dirty="0"/>
              <a:t> # list running containers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docker </a:t>
            </a:r>
            <a:r>
              <a:rPr lang="en-US" dirty="0" err="1"/>
              <a:t>ps</a:t>
            </a:r>
            <a:r>
              <a:rPr lang="en-US" dirty="0"/>
              <a:t> –a # list all dockers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614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8CAB2-408C-9B70-A0DD-FE9A17FCF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networking (uses virtual bridge)</a:t>
            </a:r>
          </a:p>
          <a:p>
            <a:r>
              <a:rPr lang="en-US" dirty="0"/>
              <a:t>Overlay network (uses </a:t>
            </a:r>
            <a:r>
              <a:rPr lang="en-US" dirty="0" err="1"/>
              <a:t>VXLan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302E40-14ED-FC9C-0F65-05F204EC1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networking</a:t>
            </a:r>
          </a:p>
        </p:txBody>
      </p:sp>
    </p:spTree>
    <p:extLst>
      <p:ext uri="{BB962C8B-B14F-4D97-AF65-F5344CB8AC3E}">
        <p14:creationId xmlns:p14="http://schemas.microsoft.com/office/powerpoint/2010/main" val="273189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4D736-8E95-6370-04D4-B70CE6FD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E71EF-46F5-202F-AB32-342459616C1A}"/>
              </a:ext>
            </a:extLst>
          </p:cNvPr>
          <p:cNvSpPr/>
          <p:nvPr/>
        </p:nvSpPr>
        <p:spPr>
          <a:xfrm>
            <a:off x="6677877" y="1776248"/>
            <a:ext cx="4099036" cy="2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B04F09-7256-0555-3C32-0E43E79B9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bridge</a:t>
            </a:r>
          </a:p>
        </p:txBody>
      </p:sp>
      <p:sp>
        <p:nvSpPr>
          <p:cNvPr id="1032" name="Content Placeholder 1031">
            <a:extLst>
              <a:ext uri="{FF2B5EF4-FFF2-40B4-BE49-F238E27FC236}">
                <a16:creationId xmlns:a16="http://schemas.microsoft.com/office/drawing/2014/main" id="{F91AF0EF-AD4A-38F7-F6D9-25B8679EBD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Docker runtime creates virtual bridges between groups of containers and the host machine</a:t>
            </a:r>
          </a:p>
          <a:p>
            <a:r>
              <a:rPr lang="en-US" dirty="0"/>
              <a:t>Each container added to a bridge gets its own IP address endpoint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4C23EC-DB27-85F9-1C55-074F1CF09BAD}"/>
              </a:ext>
            </a:extLst>
          </p:cNvPr>
          <p:cNvSpPr/>
          <p:nvPr/>
        </p:nvSpPr>
        <p:spPr>
          <a:xfrm>
            <a:off x="7303630" y="3005705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2E590-C601-AF10-12FD-D7766E758C54}"/>
              </a:ext>
            </a:extLst>
          </p:cNvPr>
          <p:cNvSpPr/>
          <p:nvPr/>
        </p:nvSpPr>
        <p:spPr>
          <a:xfrm>
            <a:off x="8826821" y="3023584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18EAF-3399-4175-75EC-16A88CA5EE73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42007-C55D-198D-FBDE-51B407258A2C}"/>
              </a:ext>
            </a:extLst>
          </p:cNvPr>
          <p:cNvSpPr/>
          <p:nvPr/>
        </p:nvSpPr>
        <p:spPr>
          <a:xfrm>
            <a:off x="7814401" y="2101563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BD7EAF35-FF3B-2A3F-9361-B43669B33E9E}"/>
              </a:ext>
            </a:extLst>
          </p:cNvPr>
          <p:cNvSpPr txBox="1"/>
          <p:nvPr/>
        </p:nvSpPr>
        <p:spPr>
          <a:xfrm>
            <a:off x="7790320" y="3935435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AAE0ABA6-DD10-5DED-C33E-21C0E19EEFC0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7303629" y="2700933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3AD8825F-4EBF-A804-78FE-3E2937B72303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8752629" y="2700933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BD7CBF4D-BA0B-FD8C-F3C1-905451E4CD81}"/>
              </a:ext>
            </a:extLst>
          </p:cNvPr>
          <p:cNvSpPr txBox="1"/>
          <p:nvPr/>
        </p:nvSpPr>
        <p:spPr>
          <a:xfrm>
            <a:off x="6102559" y="3438290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6DAAB800-F78A-2380-E678-525D3CDF3396}"/>
              </a:ext>
            </a:extLst>
          </p:cNvPr>
          <p:cNvSpPr txBox="1"/>
          <p:nvPr/>
        </p:nvSpPr>
        <p:spPr>
          <a:xfrm>
            <a:off x="9863323" y="3451084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AE78DACA-D6C4-2FC5-8B8E-70C9F3A27A8F}"/>
              </a:ext>
            </a:extLst>
          </p:cNvPr>
          <p:cNvSpPr txBox="1"/>
          <p:nvPr/>
        </p:nvSpPr>
        <p:spPr>
          <a:xfrm>
            <a:off x="9586913" y="2418766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</p:spTree>
    <p:extLst>
      <p:ext uri="{BB962C8B-B14F-4D97-AF65-F5344CB8AC3E}">
        <p14:creationId xmlns:p14="http://schemas.microsoft.com/office/powerpoint/2010/main" val="350390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D0E70-62BF-6089-EDFD-16C82C3C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1D1784-D18A-4A8C-9BBF-EA1D29C4D19E}"/>
              </a:ext>
            </a:extLst>
          </p:cNvPr>
          <p:cNvSpPr/>
          <p:nvPr/>
        </p:nvSpPr>
        <p:spPr>
          <a:xfrm>
            <a:off x="6677876" y="785003"/>
            <a:ext cx="5132049" cy="4817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604E16-4432-2384-3C00-61429E8C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bridge</a:t>
            </a:r>
          </a:p>
        </p:txBody>
      </p:sp>
      <p:sp>
        <p:nvSpPr>
          <p:cNvPr id="1032" name="Content Placeholder 1031">
            <a:extLst>
              <a:ext uri="{FF2B5EF4-FFF2-40B4-BE49-F238E27FC236}">
                <a16:creationId xmlns:a16="http://schemas.microsoft.com/office/drawing/2014/main" id="{1CBA11B7-1E60-088D-1294-3C650145955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Docker runtime creates virtual bridges between groups of containers and the host machine</a:t>
            </a:r>
          </a:p>
          <a:p>
            <a:r>
              <a:rPr lang="en-US" dirty="0"/>
              <a:t>Each container added to a bridge gets its own IP address endpoint</a:t>
            </a:r>
          </a:p>
          <a:p>
            <a:r>
              <a:rPr lang="en-US" dirty="0"/>
              <a:t>Containers on the same bridge can communicate with each other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131DF7-7D02-4426-D2F6-5A3D7AA66274}"/>
              </a:ext>
            </a:extLst>
          </p:cNvPr>
          <p:cNvSpPr/>
          <p:nvPr/>
        </p:nvSpPr>
        <p:spPr>
          <a:xfrm>
            <a:off x="7917806" y="1860319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B6910-AA17-4B54-00A8-BD40620A9C8B}"/>
              </a:ext>
            </a:extLst>
          </p:cNvPr>
          <p:cNvSpPr/>
          <p:nvPr/>
        </p:nvSpPr>
        <p:spPr>
          <a:xfrm>
            <a:off x="9440997" y="1878198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119CB-2109-A1EC-76FC-239A56BC8A95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8B443-4E09-BDD3-F137-F2887BBC5D6B}"/>
              </a:ext>
            </a:extLst>
          </p:cNvPr>
          <p:cNvSpPr/>
          <p:nvPr/>
        </p:nvSpPr>
        <p:spPr>
          <a:xfrm>
            <a:off x="8428577" y="956177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66B11AA2-D6C8-B660-662A-541E8FFBE564}"/>
              </a:ext>
            </a:extLst>
          </p:cNvPr>
          <p:cNvSpPr txBox="1"/>
          <p:nvPr/>
        </p:nvSpPr>
        <p:spPr>
          <a:xfrm>
            <a:off x="8428577" y="5602139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0B4B372B-09CC-24A4-0FD9-99B242F96366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7917805" y="1555547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493A1DD3-6FC7-2D40-CD48-E9D6D78E5B70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9366805" y="1555547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CC6409A6-3B34-65D8-C81E-9683B7940FE9}"/>
              </a:ext>
            </a:extLst>
          </p:cNvPr>
          <p:cNvSpPr txBox="1"/>
          <p:nvPr/>
        </p:nvSpPr>
        <p:spPr>
          <a:xfrm>
            <a:off x="6716735" y="2292904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FBAF2D65-B5B9-EBD4-1BAB-C22573E4F10D}"/>
              </a:ext>
            </a:extLst>
          </p:cNvPr>
          <p:cNvSpPr txBox="1"/>
          <p:nvPr/>
        </p:nvSpPr>
        <p:spPr>
          <a:xfrm>
            <a:off x="10477499" y="2305698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CB5FAA58-D8B2-6C4A-5FEF-2A347802BAC7}"/>
              </a:ext>
            </a:extLst>
          </p:cNvPr>
          <p:cNvSpPr txBox="1"/>
          <p:nvPr/>
        </p:nvSpPr>
        <p:spPr>
          <a:xfrm>
            <a:off x="10201089" y="1273380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38E460-2E2F-24B0-A28F-709445960C42}"/>
              </a:ext>
            </a:extLst>
          </p:cNvPr>
          <p:cNvSpPr/>
          <p:nvPr/>
        </p:nvSpPr>
        <p:spPr>
          <a:xfrm>
            <a:off x="7956288" y="4075629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4470CE-7CC0-F20D-E1AC-8DB61E75ADC9}"/>
              </a:ext>
            </a:extLst>
          </p:cNvPr>
          <p:cNvSpPr/>
          <p:nvPr/>
        </p:nvSpPr>
        <p:spPr>
          <a:xfrm>
            <a:off x="9479479" y="4093508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69DA4-7D1C-0DE2-966B-2BEFB271BE02}"/>
              </a:ext>
            </a:extLst>
          </p:cNvPr>
          <p:cNvSpPr/>
          <p:nvPr/>
        </p:nvSpPr>
        <p:spPr>
          <a:xfrm>
            <a:off x="8467059" y="3171487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virbridge0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30C250A-BA11-2AE5-719D-FEC059E6A418}"/>
              </a:ext>
            </a:extLst>
          </p:cNvPr>
          <p:cNvCxnSpPr>
            <a:cxnSpLocks/>
            <a:stCxn id="2" idx="1"/>
            <a:endCxn id="8" idx="2"/>
          </p:cNvCxnSpPr>
          <p:nvPr/>
        </p:nvCxnSpPr>
        <p:spPr>
          <a:xfrm rot="10800000" flipH="1">
            <a:off x="7956287" y="3770857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4E1E4A4-73E8-E534-4E41-F2F1D268EE8C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 flipH="1" flipV="1">
            <a:off x="9405287" y="3770857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0793D0-1188-2F7E-2D36-8D0F09A03086}"/>
              </a:ext>
            </a:extLst>
          </p:cNvPr>
          <p:cNvSpPr txBox="1"/>
          <p:nvPr/>
        </p:nvSpPr>
        <p:spPr>
          <a:xfrm>
            <a:off x="6755217" y="4508214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D1D85A-8991-35AF-886E-F977298A58B1}"/>
              </a:ext>
            </a:extLst>
          </p:cNvPr>
          <p:cNvSpPr txBox="1"/>
          <p:nvPr/>
        </p:nvSpPr>
        <p:spPr>
          <a:xfrm>
            <a:off x="10515981" y="4521008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63076-5566-6DA9-4063-EA7ED071D8CD}"/>
              </a:ext>
            </a:extLst>
          </p:cNvPr>
          <p:cNvSpPr txBox="1"/>
          <p:nvPr/>
        </p:nvSpPr>
        <p:spPr>
          <a:xfrm>
            <a:off x="10239571" y="3488690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10.1.1.1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2FB99298-7B18-579C-0845-D562FC88EEAF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H="1">
            <a:off x="7956287" y="2477573"/>
            <a:ext cx="620153" cy="1897743"/>
          </a:xfrm>
          <a:prstGeom prst="bentConnector4">
            <a:avLst>
              <a:gd name="adj1" fmla="val -36862"/>
              <a:gd name="adj2" fmla="val 77280"/>
            </a:avLst>
          </a:prstGeom>
          <a:ln>
            <a:solidFill>
              <a:srgbClr val="FF000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21">
            <a:extLst>
              <a:ext uri="{FF2B5EF4-FFF2-40B4-BE49-F238E27FC236}">
                <a16:creationId xmlns:a16="http://schemas.microsoft.com/office/drawing/2014/main" id="{9CC4D544-90ED-C73F-74CD-8F3C2DFCB54A}"/>
              </a:ext>
            </a:extLst>
          </p:cNvPr>
          <p:cNvSpPr/>
          <p:nvPr/>
        </p:nvSpPr>
        <p:spPr>
          <a:xfrm>
            <a:off x="7474208" y="3181055"/>
            <a:ext cx="536028" cy="42305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4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D0F8-FD50-742D-43FC-70C2B5F0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32AA70-2423-98DB-377E-AA8983172E62}"/>
              </a:ext>
            </a:extLst>
          </p:cNvPr>
          <p:cNvSpPr/>
          <p:nvPr/>
        </p:nvSpPr>
        <p:spPr>
          <a:xfrm>
            <a:off x="529324" y="781732"/>
            <a:ext cx="5132049" cy="4817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CFEF1D9-7E92-7E8A-E241-CB64C733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docker run -it </a:t>
            </a:r>
            <a:r>
              <a:rPr lang="en-US" dirty="0" err="1"/>
              <a:t>ubuntu:latest</a:t>
            </a:r>
            <a:r>
              <a:rPr lang="en-US" dirty="0"/>
              <a:t> /bin/bash --name c-a # On the default bridge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docker run -it </a:t>
            </a:r>
            <a:r>
              <a:rPr lang="en-US" dirty="0" err="1"/>
              <a:t>ubuntu:latest</a:t>
            </a:r>
            <a:r>
              <a:rPr lang="en-US" dirty="0"/>
              <a:t> /bin/bash --name c-b # On the default bridge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err="1"/>
              <a:t>ifconfig</a:t>
            </a:r>
            <a:r>
              <a:rPr lang="en-US" dirty="0"/>
              <a:t> # show the bridge IP and other info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ping [</a:t>
            </a:r>
            <a:r>
              <a:rPr lang="en-US" dirty="0" err="1"/>
              <a:t>other_container_ip</a:t>
            </a:r>
            <a:r>
              <a:rPr lang="en-US" dirty="0"/>
              <a:t>]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3E7AD0-0DA1-67EB-B46A-CD1F7CD6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Virtual network bridge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9B0B487-1959-0887-58FF-3C02074BCB4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103977-6A41-7D66-4306-6A42F83F8DB4}"/>
              </a:ext>
            </a:extLst>
          </p:cNvPr>
          <p:cNvSpPr/>
          <p:nvPr/>
        </p:nvSpPr>
        <p:spPr>
          <a:xfrm>
            <a:off x="1769254" y="1857048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612D91-9A2A-16CF-27E3-9DE3A2AA30E9}"/>
              </a:ext>
            </a:extLst>
          </p:cNvPr>
          <p:cNvSpPr/>
          <p:nvPr/>
        </p:nvSpPr>
        <p:spPr>
          <a:xfrm>
            <a:off x="3292445" y="1874927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DC142-D916-05F5-E30C-0D03412C5F93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70D36-8047-A217-F30D-5C6E30DC4AE1}"/>
              </a:ext>
            </a:extLst>
          </p:cNvPr>
          <p:cNvSpPr/>
          <p:nvPr/>
        </p:nvSpPr>
        <p:spPr>
          <a:xfrm>
            <a:off x="2280025" y="952906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98A5C7E-2723-35DE-BE4B-3FEA3209E919}"/>
              </a:ext>
            </a:extLst>
          </p:cNvPr>
          <p:cNvSpPr txBox="1"/>
          <p:nvPr/>
        </p:nvSpPr>
        <p:spPr>
          <a:xfrm>
            <a:off x="2280025" y="5598868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5A2B02EA-ED55-F789-7998-848BB20FDF92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1769253" y="1552276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58457107-8B50-95E0-3ED9-32376867F10B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3218253" y="1552276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97BAB86E-6022-2A0F-38E1-A97CB5B4BB7E}"/>
              </a:ext>
            </a:extLst>
          </p:cNvPr>
          <p:cNvSpPr txBox="1"/>
          <p:nvPr/>
        </p:nvSpPr>
        <p:spPr>
          <a:xfrm>
            <a:off x="568183" y="2289633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53109814-F245-2122-FEF0-DF904901478F}"/>
              </a:ext>
            </a:extLst>
          </p:cNvPr>
          <p:cNvSpPr txBox="1"/>
          <p:nvPr/>
        </p:nvSpPr>
        <p:spPr>
          <a:xfrm>
            <a:off x="4328947" y="2302427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10FD7019-B7FA-A79F-BF3C-852EC175B536}"/>
              </a:ext>
            </a:extLst>
          </p:cNvPr>
          <p:cNvSpPr txBox="1"/>
          <p:nvPr/>
        </p:nvSpPr>
        <p:spPr>
          <a:xfrm>
            <a:off x="4052537" y="1270109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5F7E91-4428-C08B-4F16-8B77A0D448FC}"/>
              </a:ext>
            </a:extLst>
          </p:cNvPr>
          <p:cNvSpPr/>
          <p:nvPr/>
        </p:nvSpPr>
        <p:spPr>
          <a:xfrm>
            <a:off x="1807736" y="4072358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C7CEF1-99A3-58BD-1216-D413596C1B4A}"/>
              </a:ext>
            </a:extLst>
          </p:cNvPr>
          <p:cNvSpPr/>
          <p:nvPr/>
        </p:nvSpPr>
        <p:spPr>
          <a:xfrm>
            <a:off x="3330927" y="4090237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A1AEC-5905-DADA-3095-790CF159AB9E}"/>
              </a:ext>
            </a:extLst>
          </p:cNvPr>
          <p:cNvSpPr/>
          <p:nvPr/>
        </p:nvSpPr>
        <p:spPr>
          <a:xfrm>
            <a:off x="2318507" y="3168216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virbridge0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47572CB-4187-0FC1-8850-B86B8B12E893}"/>
              </a:ext>
            </a:extLst>
          </p:cNvPr>
          <p:cNvCxnSpPr>
            <a:cxnSpLocks/>
            <a:stCxn id="2" idx="1"/>
            <a:endCxn id="8" idx="2"/>
          </p:cNvCxnSpPr>
          <p:nvPr/>
        </p:nvCxnSpPr>
        <p:spPr>
          <a:xfrm rot="10800000" flipH="1">
            <a:off x="1807735" y="3767586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4450FD2-898B-0EB3-7AEE-1EC79DEF8750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 flipH="1" flipV="1">
            <a:off x="3256735" y="3767586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5DBBCD-5A6B-9147-8216-1884A080323E}"/>
              </a:ext>
            </a:extLst>
          </p:cNvPr>
          <p:cNvSpPr txBox="1"/>
          <p:nvPr/>
        </p:nvSpPr>
        <p:spPr>
          <a:xfrm>
            <a:off x="606665" y="4504943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1643F-768E-2E9F-4E0D-3DF642D44326}"/>
              </a:ext>
            </a:extLst>
          </p:cNvPr>
          <p:cNvSpPr txBox="1"/>
          <p:nvPr/>
        </p:nvSpPr>
        <p:spPr>
          <a:xfrm>
            <a:off x="4367429" y="4517737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4141DA-3B05-C1F7-DB74-6E00F6636E2B}"/>
              </a:ext>
            </a:extLst>
          </p:cNvPr>
          <p:cNvSpPr txBox="1"/>
          <p:nvPr/>
        </p:nvSpPr>
        <p:spPr>
          <a:xfrm>
            <a:off x="4091019" y="3485419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10.1.1.1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D7515F3F-1263-CBEC-4DF1-4E93E2BD4B05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H="1">
            <a:off x="1807735" y="2474302"/>
            <a:ext cx="620153" cy="1897743"/>
          </a:xfrm>
          <a:prstGeom prst="bentConnector4">
            <a:avLst>
              <a:gd name="adj1" fmla="val -36862"/>
              <a:gd name="adj2" fmla="val 77280"/>
            </a:avLst>
          </a:prstGeom>
          <a:ln>
            <a:solidFill>
              <a:srgbClr val="FF000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21">
            <a:extLst>
              <a:ext uri="{FF2B5EF4-FFF2-40B4-BE49-F238E27FC236}">
                <a16:creationId xmlns:a16="http://schemas.microsoft.com/office/drawing/2014/main" id="{65EBF697-BDA0-582F-AA65-DAB146092937}"/>
              </a:ext>
            </a:extLst>
          </p:cNvPr>
          <p:cNvSpPr/>
          <p:nvPr/>
        </p:nvSpPr>
        <p:spPr>
          <a:xfrm>
            <a:off x="1325656" y="3177784"/>
            <a:ext cx="536028" cy="42305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2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2DE3F-C686-99D0-1061-D963832D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080305-669D-5633-F489-A8F8AC793B1F}"/>
              </a:ext>
            </a:extLst>
          </p:cNvPr>
          <p:cNvSpPr/>
          <p:nvPr/>
        </p:nvSpPr>
        <p:spPr>
          <a:xfrm>
            <a:off x="529324" y="781732"/>
            <a:ext cx="5132049" cy="4817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CAAC85C-2590-312E-CC6A-606A137D4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docker run -it </a:t>
            </a:r>
            <a:r>
              <a:rPr lang="en-US" dirty="0" err="1"/>
              <a:t>ubuntu:latest</a:t>
            </a:r>
            <a:r>
              <a:rPr lang="en-US" dirty="0"/>
              <a:t> /bin/bash --name c-c --network virbridge0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docker run -it </a:t>
            </a:r>
            <a:r>
              <a:rPr lang="en-US" dirty="0" err="1"/>
              <a:t>ubuntu:latest</a:t>
            </a:r>
            <a:r>
              <a:rPr lang="en-US" dirty="0"/>
              <a:t> /bin/bash --name c-d --network virbridge0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err="1"/>
              <a:t>ifconfig</a:t>
            </a:r>
            <a:r>
              <a:rPr lang="en-US" dirty="0"/>
              <a:t> # show the bridge IP and other info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ping [</a:t>
            </a:r>
            <a:r>
              <a:rPr lang="en-US" dirty="0" err="1"/>
              <a:t>other_container_ip</a:t>
            </a:r>
            <a:r>
              <a:rPr lang="en-US" dirty="0"/>
              <a:t>]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ping [c-a from c-c]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4AE875-3C8D-A0C5-5D83-97528C61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Virtual network bridge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BF505937-C5B1-AE33-D8D6-9DEF5C1806F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44C99-22FB-6AB2-B319-51F8B2B4B36A}"/>
              </a:ext>
            </a:extLst>
          </p:cNvPr>
          <p:cNvSpPr/>
          <p:nvPr/>
        </p:nvSpPr>
        <p:spPr>
          <a:xfrm>
            <a:off x="1769254" y="1857048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6C51DE-98B2-592A-0A83-3AAC0E8A5237}"/>
              </a:ext>
            </a:extLst>
          </p:cNvPr>
          <p:cNvSpPr/>
          <p:nvPr/>
        </p:nvSpPr>
        <p:spPr>
          <a:xfrm>
            <a:off x="3292445" y="1874927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160F8-34FA-5404-2F06-2FD0E12E5CE4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35D61B-C4D5-19CF-5440-229DB782A51F}"/>
              </a:ext>
            </a:extLst>
          </p:cNvPr>
          <p:cNvSpPr/>
          <p:nvPr/>
        </p:nvSpPr>
        <p:spPr>
          <a:xfrm>
            <a:off x="2280025" y="952906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F8960391-420C-154E-FB3F-2E9D98F0F584}"/>
              </a:ext>
            </a:extLst>
          </p:cNvPr>
          <p:cNvSpPr txBox="1"/>
          <p:nvPr/>
        </p:nvSpPr>
        <p:spPr>
          <a:xfrm>
            <a:off x="2280025" y="5598868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BBE73684-C15B-9EBF-013D-CB40C0BC5212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1769253" y="1552276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9FF3BA89-8ECF-157C-67A0-650C22A95528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3218253" y="1552276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9241DEE1-6428-311D-E76C-797545B2E46E}"/>
              </a:ext>
            </a:extLst>
          </p:cNvPr>
          <p:cNvSpPr txBox="1"/>
          <p:nvPr/>
        </p:nvSpPr>
        <p:spPr>
          <a:xfrm>
            <a:off x="568183" y="2289633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B5C52D4-14B1-D3B8-D18F-705F872985DD}"/>
              </a:ext>
            </a:extLst>
          </p:cNvPr>
          <p:cNvSpPr txBox="1"/>
          <p:nvPr/>
        </p:nvSpPr>
        <p:spPr>
          <a:xfrm>
            <a:off x="4328947" y="2302427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1A2F4D19-E2D0-814F-D132-701D78C3ED19}"/>
              </a:ext>
            </a:extLst>
          </p:cNvPr>
          <p:cNvSpPr txBox="1"/>
          <p:nvPr/>
        </p:nvSpPr>
        <p:spPr>
          <a:xfrm>
            <a:off x="4052537" y="1270109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394262-CA21-F118-5CBF-F71555F7D433}"/>
              </a:ext>
            </a:extLst>
          </p:cNvPr>
          <p:cNvSpPr/>
          <p:nvPr/>
        </p:nvSpPr>
        <p:spPr>
          <a:xfrm>
            <a:off x="1807736" y="4072358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04A08-CE71-6DAD-4C11-E5920319F9A6}"/>
              </a:ext>
            </a:extLst>
          </p:cNvPr>
          <p:cNvSpPr/>
          <p:nvPr/>
        </p:nvSpPr>
        <p:spPr>
          <a:xfrm>
            <a:off x="3330927" y="4090237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8E938E-8C65-B1D9-C692-278254E2BFDE}"/>
              </a:ext>
            </a:extLst>
          </p:cNvPr>
          <p:cNvSpPr/>
          <p:nvPr/>
        </p:nvSpPr>
        <p:spPr>
          <a:xfrm>
            <a:off x="2318507" y="3168216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virbridge0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7B30D70-AD7C-9A1A-399C-FA3E7A7F3966}"/>
              </a:ext>
            </a:extLst>
          </p:cNvPr>
          <p:cNvCxnSpPr>
            <a:cxnSpLocks/>
            <a:stCxn id="2" idx="1"/>
            <a:endCxn id="8" idx="2"/>
          </p:cNvCxnSpPr>
          <p:nvPr/>
        </p:nvCxnSpPr>
        <p:spPr>
          <a:xfrm rot="10800000" flipH="1">
            <a:off x="1807735" y="3767586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93A29E8-B39E-DBA7-9F34-06FDBB583969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 flipH="1" flipV="1">
            <a:off x="3256735" y="3767586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5D7CC2-5E66-BC14-5D4D-C342A3943BB9}"/>
              </a:ext>
            </a:extLst>
          </p:cNvPr>
          <p:cNvSpPr txBox="1"/>
          <p:nvPr/>
        </p:nvSpPr>
        <p:spPr>
          <a:xfrm>
            <a:off x="606665" y="4504943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9805C-D969-408E-9324-B49C42C01D1D}"/>
              </a:ext>
            </a:extLst>
          </p:cNvPr>
          <p:cNvSpPr txBox="1"/>
          <p:nvPr/>
        </p:nvSpPr>
        <p:spPr>
          <a:xfrm>
            <a:off x="4367429" y="4517737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924BCC-366A-0E2F-88EA-A0AD913C4FF0}"/>
              </a:ext>
            </a:extLst>
          </p:cNvPr>
          <p:cNvSpPr txBox="1"/>
          <p:nvPr/>
        </p:nvSpPr>
        <p:spPr>
          <a:xfrm>
            <a:off x="4091019" y="3485419"/>
            <a:ext cx="942887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10.1.1.1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239ABA4-67EF-97EB-FE15-F4470F5D40D2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H="1">
            <a:off x="1807735" y="2474302"/>
            <a:ext cx="620153" cy="1897743"/>
          </a:xfrm>
          <a:prstGeom prst="bentConnector4">
            <a:avLst>
              <a:gd name="adj1" fmla="val -36862"/>
              <a:gd name="adj2" fmla="val 77280"/>
            </a:avLst>
          </a:prstGeom>
          <a:ln>
            <a:solidFill>
              <a:srgbClr val="FF0000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21">
            <a:extLst>
              <a:ext uri="{FF2B5EF4-FFF2-40B4-BE49-F238E27FC236}">
                <a16:creationId xmlns:a16="http://schemas.microsoft.com/office/drawing/2014/main" id="{CA77706D-50D2-628E-575E-F4C82CDCB9B4}"/>
              </a:ext>
            </a:extLst>
          </p:cNvPr>
          <p:cNvSpPr/>
          <p:nvPr/>
        </p:nvSpPr>
        <p:spPr>
          <a:xfrm>
            <a:off x="1325656" y="3177784"/>
            <a:ext cx="536028" cy="42305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4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1C46-E019-597D-FA0F-DFE9FCB4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49EB66-038C-8DB6-3C4B-A3D4BC85F6DA}"/>
              </a:ext>
            </a:extLst>
          </p:cNvPr>
          <p:cNvSpPr/>
          <p:nvPr/>
        </p:nvSpPr>
        <p:spPr>
          <a:xfrm>
            <a:off x="6677877" y="1776248"/>
            <a:ext cx="4099036" cy="2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9796C3-CC9A-8EA1-729B-0561946C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address translation (NAT)</a:t>
            </a:r>
          </a:p>
        </p:txBody>
      </p:sp>
      <p:sp>
        <p:nvSpPr>
          <p:cNvPr id="1032" name="Content Placeholder 1031">
            <a:extLst>
              <a:ext uri="{FF2B5EF4-FFF2-40B4-BE49-F238E27FC236}">
                <a16:creationId xmlns:a16="http://schemas.microsoft.com/office/drawing/2014/main" id="{4A01AB74-0940-DC50-C823-C859E4B47BA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Allows outbound connections from inside an internal network</a:t>
            </a:r>
          </a:p>
          <a:p>
            <a:pPr lvl="1"/>
            <a:r>
              <a:rPr lang="en-US" dirty="0"/>
              <a:t>Without each internal node having an unique IP</a:t>
            </a:r>
          </a:p>
          <a:p>
            <a:r>
              <a:rPr lang="en-US" dirty="0"/>
              <a:t>Also called IP masquerading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AA9713-D83D-91C7-1946-8CDFE63D247C}"/>
              </a:ext>
            </a:extLst>
          </p:cNvPr>
          <p:cNvSpPr/>
          <p:nvPr/>
        </p:nvSpPr>
        <p:spPr>
          <a:xfrm>
            <a:off x="7303630" y="3005705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0FE32-0DD2-EDC8-488A-C628EF06832D}"/>
              </a:ext>
            </a:extLst>
          </p:cNvPr>
          <p:cNvSpPr/>
          <p:nvPr/>
        </p:nvSpPr>
        <p:spPr>
          <a:xfrm>
            <a:off x="8826821" y="3023584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87040-BCA9-D72E-C57D-97EC811021EC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C44AD-55BE-C573-A9F0-AF902952537C}"/>
              </a:ext>
            </a:extLst>
          </p:cNvPr>
          <p:cNvSpPr/>
          <p:nvPr/>
        </p:nvSpPr>
        <p:spPr>
          <a:xfrm>
            <a:off x="7814401" y="2101563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8608D32C-12B3-C252-DA72-D842EDB82F50}"/>
              </a:ext>
            </a:extLst>
          </p:cNvPr>
          <p:cNvSpPr txBox="1"/>
          <p:nvPr/>
        </p:nvSpPr>
        <p:spPr>
          <a:xfrm>
            <a:off x="7790320" y="3935435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7DBA43F2-3F69-E500-76E1-6E6A2F7FAD4A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7303629" y="2700933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74DBA519-CA01-3159-C1A4-C6FB997DF53B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8752629" y="2700933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460FBCED-5EFC-8184-C787-BA012EF58ACF}"/>
              </a:ext>
            </a:extLst>
          </p:cNvPr>
          <p:cNvSpPr txBox="1"/>
          <p:nvPr/>
        </p:nvSpPr>
        <p:spPr>
          <a:xfrm>
            <a:off x="6102559" y="3438290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3BA7800-978A-8212-7486-B95D54C102F8}"/>
              </a:ext>
            </a:extLst>
          </p:cNvPr>
          <p:cNvSpPr txBox="1"/>
          <p:nvPr/>
        </p:nvSpPr>
        <p:spPr>
          <a:xfrm>
            <a:off x="9863323" y="3451084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D8731C4C-730E-9EA1-425E-7661C3CB773B}"/>
              </a:ext>
            </a:extLst>
          </p:cNvPr>
          <p:cNvSpPr txBox="1"/>
          <p:nvPr/>
        </p:nvSpPr>
        <p:spPr>
          <a:xfrm>
            <a:off x="9586913" y="2418766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7FB4FF9F-DD12-C81A-5C78-A8C5D977A7FA}"/>
              </a:ext>
            </a:extLst>
          </p:cNvPr>
          <p:cNvSpPr/>
          <p:nvPr/>
        </p:nvSpPr>
        <p:spPr>
          <a:xfrm>
            <a:off x="7941927" y="843440"/>
            <a:ext cx="1621402" cy="692459"/>
          </a:xfrm>
          <a:prstGeom prst="cloud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network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7A4817-965B-06ED-AF90-731572CEC55C}"/>
              </a:ext>
            </a:extLst>
          </p:cNvPr>
          <p:cNvCxnSpPr>
            <a:cxnSpLocks/>
            <a:stCxn id="5" idx="0"/>
            <a:endCxn id="2" idx="1"/>
          </p:cNvCxnSpPr>
          <p:nvPr/>
        </p:nvCxnSpPr>
        <p:spPr>
          <a:xfrm flipH="1" flipV="1">
            <a:off x="8752628" y="1535162"/>
            <a:ext cx="1" cy="56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CE02F4-B446-20DD-D387-E29238463A7B}"/>
              </a:ext>
            </a:extLst>
          </p:cNvPr>
          <p:cNvSpPr txBox="1"/>
          <p:nvPr/>
        </p:nvSpPr>
        <p:spPr>
          <a:xfrm>
            <a:off x="9241347" y="1668324"/>
            <a:ext cx="1410964" cy="369332"/>
          </a:xfrm>
          <a:prstGeom prst="rect">
            <a:avLst/>
          </a:prstGeom>
          <a:solidFill>
            <a:srgbClr val="FFD5D5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167.23.44.18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906E2B-6121-544E-5E91-ECFAC8F6BE78}"/>
              </a:ext>
            </a:extLst>
          </p:cNvPr>
          <p:cNvSpPr txBox="1"/>
          <p:nvPr/>
        </p:nvSpPr>
        <p:spPr>
          <a:xfrm>
            <a:off x="9690856" y="1199361"/>
            <a:ext cx="1695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External Interface</a:t>
            </a:r>
          </a:p>
        </p:txBody>
      </p:sp>
    </p:spTree>
    <p:extLst>
      <p:ext uri="{BB962C8B-B14F-4D97-AF65-F5344CB8AC3E}">
        <p14:creationId xmlns:p14="http://schemas.microsoft.com/office/powerpoint/2010/main" val="2110440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1668-CBD2-0878-8469-399993764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3BA267-ED35-EE9B-AA4D-C31179FB7D24}"/>
              </a:ext>
            </a:extLst>
          </p:cNvPr>
          <p:cNvSpPr/>
          <p:nvPr/>
        </p:nvSpPr>
        <p:spPr>
          <a:xfrm>
            <a:off x="4021249" y="2375337"/>
            <a:ext cx="4099036" cy="2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3A6619-F151-86FC-789F-8D4E7E86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- packet send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2C45D-112B-99C1-EF03-0A6907EFD7DC}"/>
              </a:ext>
            </a:extLst>
          </p:cNvPr>
          <p:cNvSpPr/>
          <p:nvPr/>
        </p:nvSpPr>
        <p:spPr>
          <a:xfrm>
            <a:off x="4647002" y="3604794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46E687-943C-67E4-F35F-B32B3EA5EE4D}"/>
              </a:ext>
            </a:extLst>
          </p:cNvPr>
          <p:cNvSpPr/>
          <p:nvPr/>
        </p:nvSpPr>
        <p:spPr>
          <a:xfrm>
            <a:off x="6170193" y="3622673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2EAFF-11F7-0837-0B8E-C15AF8D1D13B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B8A53-51B4-AEFC-DE0D-D2F5EA5E52A8}"/>
              </a:ext>
            </a:extLst>
          </p:cNvPr>
          <p:cNvSpPr/>
          <p:nvPr/>
        </p:nvSpPr>
        <p:spPr>
          <a:xfrm>
            <a:off x="5157773" y="2700652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D27A73A3-06F7-D05C-E083-F713099A00E2}"/>
              </a:ext>
            </a:extLst>
          </p:cNvPr>
          <p:cNvSpPr txBox="1"/>
          <p:nvPr/>
        </p:nvSpPr>
        <p:spPr>
          <a:xfrm>
            <a:off x="5133692" y="4534524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43C8ED64-FE76-7048-C2D6-814BBB873EDD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4647001" y="3300022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01C611C0-0DAF-CB36-E0D2-F2AB59E6BB42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6096001" y="3300022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735C6598-DBD1-8F83-4A20-CA37DFD718A4}"/>
              </a:ext>
            </a:extLst>
          </p:cNvPr>
          <p:cNvSpPr txBox="1"/>
          <p:nvPr/>
        </p:nvSpPr>
        <p:spPr>
          <a:xfrm>
            <a:off x="3445931" y="4037379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0FD86C6-85F5-6D48-70A6-9BAC4D1719E2}"/>
              </a:ext>
            </a:extLst>
          </p:cNvPr>
          <p:cNvSpPr txBox="1"/>
          <p:nvPr/>
        </p:nvSpPr>
        <p:spPr>
          <a:xfrm>
            <a:off x="7206695" y="4050173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235B0729-27A6-4A37-BAD9-6254784C75E5}"/>
              </a:ext>
            </a:extLst>
          </p:cNvPr>
          <p:cNvSpPr txBox="1"/>
          <p:nvPr/>
        </p:nvSpPr>
        <p:spPr>
          <a:xfrm>
            <a:off x="6930285" y="3017855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978D970F-37E0-864B-3422-B2E191FCA9A9}"/>
              </a:ext>
            </a:extLst>
          </p:cNvPr>
          <p:cNvSpPr/>
          <p:nvPr/>
        </p:nvSpPr>
        <p:spPr>
          <a:xfrm>
            <a:off x="5285299" y="1442529"/>
            <a:ext cx="1621402" cy="692459"/>
          </a:xfrm>
          <a:prstGeom prst="cloud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network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6750B7-A9D4-5F25-52F4-1B81814857E9}"/>
              </a:ext>
            </a:extLst>
          </p:cNvPr>
          <p:cNvCxnSpPr>
            <a:cxnSpLocks/>
            <a:stCxn id="5" idx="0"/>
            <a:endCxn id="2" idx="1"/>
          </p:cNvCxnSpPr>
          <p:nvPr/>
        </p:nvCxnSpPr>
        <p:spPr>
          <a:xfrm flipH="1" flipV="1">
            <a:off x="6096000" y="2134251"/>
            <a:ext cx="1" cy="56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7A884F-C816-4412-664F-5CBF4CF6A5E0}"/>
              </a:ext>
            </a:extLst>
          </p:cNvPr>
          <p:cNvSpPr txBox="1"/>
          <p:nvPr/>
        </p:nvSpPr>
        <p:spPr>
          <a:xfrm>
            <a:off x="482674" y="3696230"/>
            <a:ext cx="2776217" cy="107721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142.250.115.113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80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192.168.1.2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1192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D3A208-F01F-4A77-4212-8988E80C68C5}"/>
              </a:ext>
            </a:extLst>
          </p:cNvPr>
          <p:cNvSpPr txBox="1"/>
          <p:nvPr/>
        </p:nvSpPr>
        <p:spPr>
          <a:xfrm>
            <a:off x="6650069" y="2383581"/>
            <a:ext cx="1410964" cy="369332"/>
          </a:xfrm>
          <a:prstGeom prst="rect">
            <a:avLst/>
          </a:prstGeom>
          <a:solidFill>
            <a:srgbClr val="FFD5D5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167.23.44.18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E2F9E-2023-C65B-F672-869F9A35A39E}"/>
              </a:ext>
            </a:extLst>
          </p:cNvPr>
          <p:cNvSpPr txBox="1"/>
          <p:nvPr/>
        </p:nvSpPr>
        <p:spPr>
          <a:xfrm>
            <a:off x="7099578" y="1914618"/>
            <a:ext cx="1695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External Interface</a:t>
            </a:r>
          </a:p>
        </p:txBody>
      </p:sp>
    </p:spTree>
    <p:extLst>
      <p:ext uri="{BB962C8B-B14F-4D97-AF65-F5344CB8AC3E}">
        <p14:creationId xmlns:p14="http://schemas.microsoft.com/office/powerpoint/2010/main" val="361032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48C34-7966-6452-5914-6C5791F1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BCB958-FFD5-4A39-AE02-294132851C45}"/>
              </a:ext>
            </a:extLst>
          </p:cNvPr>
          <p:cNvSpPr/>
          <p:nvPr/>
        </p:nvSpPr>
        <p:spPr>
          <a:xfrm>
            <a:off x="4021249" y="2375337"/>
            <a:ext cx="4099036" cy="2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1C21C4-42C7-1FDA-A432-38068554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– packet rewrite for send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AD32FB-F9F7-54B6-7BE2-EB6C5B6AD905}"/>
              </a:ext>
            </a:extLst>
          </p:cNvPr>
          <p:cNvSpPr/>
          <p:nvPr/>
        </p:nvSpPr>
        <p:spPr>
          <a:xfrm>
            <a:off x="4647002" y="3604794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E19E51-E07F-920E-A097-A389BC3DB939}"/>
              </a:ext>
            </a:extLst>
          </p:cNvPr>
          <p:cNvSpPr/>
          <p:nvPr/>
        </p:nvSpPr>
        <p:spPr>
          <a:xfrm>
            <a:off x="6170193" y="3622673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0C565-AB68-4F6E-FACD-9C5404578B8B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7D01D-47AE-78D0-C75C-329ACAD9F6F0}"/>
              </a:ext>
            </a:extLst>
          </p:cNvPr>
          <p:cNvSpPr/>
          <p:nvPr/>
        </p:nvSpPr>
        <p:spPr>
          <a:xfrm>
            <a:off x="5157773" y="2700652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728E06D5-4175-99E4-D029-E370CD090C56}"/>
              </a:ext>
            </a:extLst>
          </p:cNvPr>
          <p:cNvSpPr txBox="1"/>
          <p:nvPr/>
        </p:nvSpPr>
        <p:spPr>
          <a:xfrm>
            <a:off x="5133692" y="4534524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364168D3-DB77-62D9-0224-C1DFCE39ED94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4647001" y="3300022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8D955CC2-EEAB-7376-56CE-D452850D4BA7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6096001" y="3300022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2528CA5B-EC8F-4DD0-85BC-8FE3E528FFF5}"/>
              </a:ext>
            </a:extLst>
          </p:cNvPr>
          <p:cNvSpPr txBox="1"/>
          <p:nvPr/>
        </p:nvSpPr>
        <p:spPr>
          <a:xfrm>
            <a:off x="3445931" y="4037379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66F3040B-61A7-CC4E-B0DF-7F84BA02772B}"/>
              </a:ext>
            </a:extLst>
          </p:cNvPr>
          <p:cNvSpPr txBox="1"/>
          <p:nvPr/>
        </p:nvSpPr>
        <p:spPr>
          <a:xfrm>
            <a:off x="7206695" y="4050173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BA552930-5637-D5E5-7B4C-65CE3F93C331}"/>
              </a:ext>
            </a:extLst>
          </p:cNvPr>
          <p:cNvSpPr txBox="1"/>
          <p:nvPr/>
        </p:nvSpPr>
        <p:spPr>
          <a:xfrm>
            <a:off x="6930285" y="3017855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87DC69CA-ACFA-D327-5A50-39DD352A7FD9}"/>
              </a:ext>
            </a:extLst>
          </p:cNvPr>
          <p:cNvSpPr/>
          <p:nvPr/>
        </p:nvSpPr>
        <p:spPr>
          <a:xfrm>
            <a:off x="5285299" y="1442529"/>
            <a:ext cx="1621402" cy="692459"/>
          </a:xfrm>
          <a:prstGeom prst="cloud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network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B59660-4394-4A3C-625E-01681353C152}"/>
              </a:ext>
            </a:extLst>
          </p:cNvPr>
          <p:cNvCxnSpPr>
            <a:cxnSpLocks/>
            <a:stCxn id="5" idx="0"/>
            <a:endCxn id="2" idx="1"/>
          </p:cNvCxnSpPr>
          <p:nvPr/>
        </p:nvCxnSpPr>
        <p:spPr>
          <a:xfrm flipH="1" flipV="1">
            <a:off x="6096000" y="2134251"/>
            <a:ext cx="1" cy="56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FB174B-5543-6A5F-77F6-6F28EA59A68E}"/>
              </a:ext>
            </a:extLst>
          </p:cNvPr>
          <p:cNvSpPr txBox="1"/>
          <p:nvPr/>
        </p:nvSpPr>
        <p:spPr>
          <a:xfrm>
            <a:off x="2221423" y="1739992"/>
            <a:ext cx="2776217" cy="107721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142.250.115.113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80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167.23.44.18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7788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9F77E6-0B59-157F-7D97-C51AE7A629B3}"/>
              </a:ext>
            </a:extLst>
          </p:cNvPr>
          <p:cNvSpPr txBox="1"/>
          <p:nvPr/>
        </p:nvSpPr>
        <p:spPr>
          <a:xfrm>
            <a:off x="6650069" y="2383581"/>
            <a:ext cx="1410964" cy="369332"/>
          </a:xfrm>
          <a:prstGeom prst="rect">
            <a:avLst/>
          </a:prstGeom>
          <a:solidFill>
            <a:srgbClr val="FFD5D5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167.23.44.18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17CB6-9022-91F3-2795-CCB9EBF62028}"/>
              </a:ext>
            </a:extLst>
          </p:cNvPr>
          <p:cNvSpPr txBox="1"/>
          <p:nvPr/>
        </p:nvSpPr>
        <p:spPr>
          <a:xfrm>
            <a:off x="7099578" y="1914618"/>
            <a:ext cx="1695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External Interface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ED3397-8B6B-3B10-BCBB-3705D7A85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658937"/>
              </p:ext>
            </p:extLst>
          </p:nvPr>
        </p:nvGraphicFramePr>
        <p:xfrm>
          <a:off x="348760" y="2916519"/>
          <a:ext cx="3411984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7328">
                  <a:extLst>
                    <a:ext uri="{9D8B030D-6E8A-4147-A177-3AD203B41FA5}">
                      <a16:colId xmlns:a16="http://schemas.microsoft.com/office/drawing/2014/main" val="1854142538"/>
                    </a:ext>
                  </a:extLst>
                </a:gridCol>
                <a:gridCol w="1281461">
                  <a:extLst>
                    <a:ext uri="{9D8B030D-6E8A-4147-A177-3AD203B41FA5}">
                      <a16:colId xmlns:a16="http://schemas.microsoft.com/office/drawing/2014/main" val="3186443225"/>
                    </a:ext>
                  </a:extLst>
                </a:gridCol>
                <a:gridCol w="993195">
                  <a:extLst>
                    <a:ext uri="{9D8B030D-6E8A-4147-A177-3AD203B41FA5}">
                      <a16:colId xmlns:a16="http://schemas.microsoft.com/office/drawing/2014/main" val="2535101119"/>
                    </a:ext>
                  </a:extLst>
                </a:gridCol>
              </a:tblGrid>
              <a:tr h="3189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Bridge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683583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r>
                        <a:rPr lang="en-US" sz="1600" dirty="0"/>
                        <a:t>7788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192.168.1.2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979762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8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FD2D-A0FB-555E-4E21-F603DD55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B5DC8D-E082-2E26-9DA8-4A978D5320F6}"/>
              </a:ext>
            </a:extLst>
          </p:cNvPr>
          <p:cNvSpPr/>
          <p:nvPr/>
        </p:nvSpPr>
        <p:spPr>
          <a:xfrm>
            <a:off x="4021249" y="2375337"/>
            <a:ext cx="4099036" cy="2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936C31-50F9-FE43-182C-1952DEDA4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– packet receive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397DF1-5B90-CD11-8AB0-5FD75DB481AA}"/>
              </a:ext>
            </a:extLst>
          </p:cNvPr>
          <p:cNvSpPr/>
          <p:nvPr/>
        </p:nvSpPr>
        <p:spPr>
          <a:xfrm>
            <a:off x="4647002" y="3604794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652836-CAA7-73AD-99CB-7F403285AC14}"/>
              </a:ext>
            </a:extLst>
          </p:cNvPr>
          <p:cNvSpPr/>
          <p:nvPr/>
        </p:nvSpPr>
        <p:spPr>
          <a:xfrm>
            <a:off x="6170193" y="3622673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9B90D-A09D-63AE-5EDB-B7F7EBF5EA28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0B231B-E1D6-BA42-5B11-09E8BE927455}"/>
              </a:ext>
            </a:extLst>
          </p:cNvPr>
          <p:cNvSpPr/>
          <p:nvPr/>
        </p:nvSpPr>
        <p:spPr>
          <a:xfrm>
            <a:off x="5157773" y="2700652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A4B05873-F047-4EC3-EA55-A5FA25E2238D}"/>
              </a:ext>
            </a:extLst>
          </p:cNvPr>
          <p:cNvSpPr txBox="1"/>
          <p:nvPr/>
        </p:nvSpPr>
        <p:spPr>
          <a:xfrm>
            <a:off x="5133692" y="4534524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2B402A3C-4F37-2888-804A-400940EFADC7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4647001" y="3300022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09974EEA-C815-5728-C6A8-0FD927A750EA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6096001" y="3300022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601752DA-BB87-2EEC-C951-FEF60F8DB31E}"/>
              </a:ext>
            </a:extLst>
          </p:cNvPr>
          <p:cNvSpPr txBox="1"/>
          <p:nvPr/>
        </p:nvSpPr>
        <p:spPr>
          <a:xfrm>
            <a:off x="3445931" y="4037379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D82E2AC3-BD50-9885-1218-FBB07209EFF3}"/>
              </a:ext>
            </a:extLst>
          </p:cNvPr>
          <p:cNvSpPr txBox="1"/>
          <p:nvPr/>
        </p:nvSpPr>
        <p:spPr>
          <a:xfrm>
            <a:off x="7206695" y="4050173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739126CF-38F9-D5C5-ED65-269BE3CB4188}"/>
              </a:ext>
            </a:extLst>
          </p:cNvPr>
          <p:cNvSpPr txBox="1"/>
          <p:nvPr/>
        </p:nvSpPr>
        <p:spPr>
          <a:xfrm>
            <a:off x="6930285" y="3017855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FC59E8B6-AD65-676B-2DB7-F0AA69D40219}"/>
              </a:ext>
            </a:extLst>
          </p:cNvPr>
          <p:cNvSpPr/>
          <p:nvPr/>
        </p:nvSpPr>
        <p:spPr>
          <a:xfrm>
            <a:off x="5285299" y="1442529"/>
            <a:ext cx="1621402" cy="692459"/>
          </a:xfrm>
          <a:prstGeom prst="cloud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network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E9EFE9-1E6F-981B-9B71-0A7DC6EAF369}"/>
              </a:ext>
            </a:extLst>
          </p:cNvPr>
          <p:cNvCxnSpPr>
            <a:cxnSpLocks/>
            <a:stCxn id="5" idx="0"/>
            <a:endCxn id="2" idx="1"/>
          </p:cNvCxnSpPr>
          <p:nvPr/>
        </p:nvCxnSpPr>
        <p:spPr>
          <a:xfrm flipH="1" flipV="1">
            <a:off x="6096000" y="2134251"/>
            <a:ext cx="1" cy="56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D4B9B7-D651-A23D-3253-F87B4AA494CC}"/>
              </a:ext>
            </a:extLst>
          </p:cNvPr>
          <p:cNvSpPr txBox="1"/>
          <p:nvPr/>
        </p:nvSpPr>
        <p:spPr>
          <a:xfrm>
            <a:off x="2221423" y="1739992"/>
            <a:ext cx="2776217" cy="107721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167.23.44.18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7788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142.250.115.113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1192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B6BFE-486C-D463-94BD-68D73174F29F}"/>
              </a:ext>
            </a:extLst>
          </p:cNvPr>
          <p:cNvSpPr txBox="1"/>
          <p:nvPr/>
        </p:nvSpPr>
        <p:spPr>
          <a:xfrm>
            <a:off x="6650069" y="2383581"/>
            <a:ext cx="1410964" cy="369332"/>
          </a:xfrm>
          <a:prstGeom prst="rect">
            <a:avLst/>
          </a:prstGeom>
          <a:solidFill>
            <a:srgbClr val="FFD5D5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167.23.44.18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E02615-F8FF-B401-DEF6-6505DA7F5C47}"/>
              </a:ext>
            </a:extLst>
          </p:cNvPr>
          <p:cNvSpPr txBox="1"/>
          <p:nvPr/>
        </p:nvSpPr>
        <p:spPr>
          <a:xfrm>
            <a:off x="7099578" y="1914618"/>
            <a:ext cx="1695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External Interface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AA42D0-24ED-E146-EBF5-42A1B0750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70583"/>
              </p:ext>
            </p:extLst>
          </p:nvPr>
        </p:nvGraphicFramePr>
        <p:xfrm>
          <a:off x="348760" y="2916519"/>
          <a:ext cx="3411984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7328">
                  <a:extLst>
                    <a:ext uri="{9D8B030D-6E8A-4147-A177-3AD203B41FA5}">
                      <a16:colId xmlns:a16="http://schemas.microsoft.com/office/drawing/2014/main" val="1854142538"/>
                    </a:ext>
                  </a:extLst>
                </a:gridCol>
                <a:gridCol w="1281461">
                  <a:extLst>
                    <a:ext uri="{9D8B030D-6E8A-4147-A177-3AD203B41FA5}">
                      <a16:colId xmlns:a16="http://schemas.microsoft.com/office/drawing/2014/main" val="3186443225"/>
                    </a:ext>
                  </a:extLst>
                </a:gridCol>
                <a:gridCol w="993195">
                  <a:extLst>
                    <a:ext uri="{9D8B030D-6E8A-4147-A177-3AD203B41FA5}">
                      <a16:colId xmlns:a16="http://schemas.microsoft.com/office/drawing/2014/main" val="2535101119"/>
                    </a:ext>
                  </a:extLst>
                </a:gridCol>
              </a:tblGrid>
              <a:tr h="3189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Bridge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683583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r>
                        <a:rPr lang="en-US" sz="1600" dirty="0"/>
                        <a:t>7788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192.168.1.2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979762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060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54E9126-0D97-391A-4516-00F12D54A54B}"/>
              </a:ext>
            </a:extLst>
          </p:cNvPr>
          <p:cNvSpPr txBox="1"/>
          <p:nvPr/>
        </p:nvSpPr>
        <p:spPr>
          <a:xfrm>
            <a:off x="2749552" y="1419426"/>
            <a:ext cx="1719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Received packet</a:t>
            </a:r>
          </a:p>
        </p:txBody>
      </p:sp>
    </p:spTree>
    <p:extLst>
      <p:ext uri="{BB962C8B-B14F-4D97-AF65-F5344CB8AC3E}">
        <p14:creationId xmlns:p14="http://schemas.microsoft.com/office/powerpoint/2010/main" val="426719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56778-E75E-1A68-D144-CDB743A6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4D1A11-70E6-3B76-9622-38BACEBB95A4}"/>
              </a:ext>
            </a:extLst>
          </p:cNvPr>
          <p:cNvSpPr/>
          <p:nvPr/>
        </p:nvSpPr>
        <p:spPr>
          <a:xfrm>
            <a:off x="4021249" y="2375337"/>
            <a:ext cx="4099036" cy="2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4BC466-BF78-8F13-D956-1AEAC02C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– packet rewrite for receive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A55F6F-7621-8904-FB05-1B6FBA4A8B14}"/>
              </a:ext>
            </a:extLst>
          </p:cNvPr>
          <p:cNvSpPr/>
          <p:nvPr/>
        </p:nvSpPr>
        <p:spPr>
          <a:xfrm>
            <a:off x="4647002" y="3604794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A086F6-EB57-9483-01CD-6B2B2BAE7F4A}"/>
              </a:ext>
            </a:extLst>
          </p:cNvPr>
          <p:cNvSpPr/>
          <p:nvPr/>
        </p:nvSpPr>
        <p:spPr>
          <a:xfrm>
            <a:off x="6170193" y="3622673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44D4B9-6D0B-0E04-6999-FB3E4905D171}"/>
              </a:ext>
            </a:extLst>
          </p:cNvPr>
          <p:cNvSpPr txBox="1"/>
          <p:nvPr/>
        </p:nvSpPr>
        <p:spPr>
          <a:xfrm>
            <a:off x="8428577" y="611065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Container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6B6819-6EA2-2BA7-C485-89E284AC3E79}"/>
              </a:ext>
            </a:extLst>
          </p:cNvPr>
          <p:cNvSpPr/>
          <p:nvPr/>
        </p:nvSpPr>
        <p:spPr>
          <a:xfrm>
            <a:off x="5157773" y="2700652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48AE8A9A-2969-DBC5-0F07-BFF679621C7C}"/>
              </a:ext>
            </a:extLst>
          </p:cNvPr>
          <p:cNvSpPr txBox="1"/>
          <p:nvPr/>
        </p:nvSpPr>
        <p:spPr>
          <a:xfrm>
            <a:off x="5133692" y="4534524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2B2DB35C-9A96-CF2D-C178-5D1D958C00E7}"/>
              </a:ext>
            </a:extLst>
          </p:cNvPr>
          <p:cNvCxnSpPr>
            <a:cxnSpLocks/>
            <a:stCxn id="11" idx="1"/>
            <a:endCxn id="5" idx="2"/>
          </p:cNvCxnSpPr>
          <p:nvPr/>
        </p:nvCxnSpPr>
        <p:spPr>
          <a:xfrm rot="10800000" flipH="1">
            <a:off x="4647001" y="3300022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6" name="Elbow Connector 1035">
            <a:extLst>
              <a:ext uri="{FF2B5EF4-FFF2-40B4-BE49-F238E27FC236}">
                <a16:creationId xmlns:a16="http://schemas.microsoft.com/office/drawing/2014/main" id="{1281A1E9-C4B8-1FA0-84B6-DA0A2E4D2ABB}"/>
              </a:ext>
            </a:extLst>
          </p:cNvPr>
          <p:cNvCxnSpPr>
            <a:cxnSpLocks/>
            <a:stCxn id="17" idx="3"/>
            <a:endCxn id="5" idx="2"/>
          </p:cNvCxnSpPr>
          <p:nvPr/>
        </p:nvCxnSpPr>
        <p:spPr>
          <a:xfrm flipH="1" flipV="1">
            <a:off x="6096001" y="3300022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0CCE377-DCE9-1539-B8F4-EDE1C4337FC8}"/>
              </a:ext>
            </a:extLst>
          </p:cNvPr>
          <p:cNvSpPr txBox="1"/>
          <p:nvPr/>
        </p:nvSpPr>
        <p:spPr>
          <a:xfrm>
            <a:off x="3445931" y="4037379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67C9A5A-43DA-7E75-D876-8D1229A88DEB}"/>
              </a:ext>
            </a:extLst>
          </p:cNvPr>
          <p:cNvSpPr txBox="1"/>
          <p:nvPr/>
        </p:nvSpPr>
        <p:spPr>
          <a:xfrm>
            <a:off x="7206695" y="4050173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8DD74BD5-B064-6AA6-D461-BC204D638729}"/>
              </a:ext>
            </a:extLst>
          </p:cNvPr>
          <p:cNvSpPr txBox="1"/>
          <p:nvPr/>
        </p:nvSpPr>
        <p:spPr>
          <a:xfrm>
            <a:off x="6930285" y="3017855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0275D518-FEAE-C81E-84F8-F85FBBCCA5DB}"/>
              </a:ext>
            </a:extLst>
          </p:cNvPr>
          <p:cNvSpPr/>
          <p:nvPr/>
        </p:nvSpPr>
        <p:spPr>
          <a:xfrm>
            <a:off x="5285299" y="1442529"/>
            <a:ext cx="1621402" cy="692459"/>
          </a:xfrm>
          <a:prstGeom prst="cloud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network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94AF03-B54D-0079-75DB-712FBA6C77C3}"/>
              </a:ext>
            </a:extLst>
          </p:cNvPr>
          <p:cNvCxnSpPr>
            <a:cxnSpLocks/>
            <a:stCxn id="5" idx="0"/>
            <a:endCxn id="2" idx="1"/>
          </p:cNvCxnSpPr>
          <p:nvPr/>
        </p:nvCxnSpPr>
        <p:spPr>
          <a:xfrm flipH="1" flipV="1">
            <a:off x="6096000" y="2134251"/>
            <a:ext cx="1" cy="56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EA37AC5-A9AB-9646-0052-9F453DCC1757}"/>
              </a:ext>
            </a:extLst>
          </p:cNvPr>
          <p:cNvSpPr txBox="1"/>
          <p:nvPr/>
        </p:nvSpPr>
        <p:spPr>
          <a:xfrm>
            <a:off x="2221423" y="1739992"/>
            <a:ext cx="2776217" cy="107721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>
                <a:highlight>
                  <a:srgbClr val="00FF00"/>
                </a:highlight>
              </a:rPr>
              <a:t>192.168.1.2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DestPort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>
                <a:highlight>
                  <a:srgbClr val="00FF00"/>
                </a:highlight>
              </a:rPr>
              <a:t>1192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SrcIP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142.250.115.113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SrcPort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1192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F57DA-C0C4-8C46-8124-BC1071AF5A8D}"/>
              </a:ext>
            </a:extLst>
          </p:cNvPr>
          <p:cNvSpPr txBox="1"/>
          <p:nvPr/>
        </p:nvSpPr>
        <p:spPr>
          <a:xfrm>
            <a:off x="6650069" y="2383581"/>
            <a:ext cx="1410964" cy="369332"/>
          </a:xfrm>
          <a:prstGeom prst="rect">
            <a:avLst/>
          </a:prstGeom>
          <a:solidFill>
            <a:srgbClr val="FFD5D5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167.23.44.18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62C6E9-128E-9823-20E7-75D807B08709}"/>
              </a:ext>
            </a:extLst>
          </p:cNvPr>
          <p:cNvSpPr txBox="1"/>
          <p:nvPr/>
        </p:nvSpPr>
        <p:spPr>
          <a:xfrm>
            <a:off x="7099578" y="1914618"/>
            <a:ext cx="1695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External Interface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EE2989-D675-47FD-E4E7-886AF7C29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225056"/>
              </p:ext>
            </p:extLst>
          </p:nvPr>
        </p:nvGraphicFramePr>
        <p:xfrm>
          <a:off x="348760" y="2916519"/>
          <a:ext cx="3411984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7328">
                  <a:extLst>
                    <a:ext uri="{9D8B030D-6E8A-4147-A177-3AD203B41FA5}">
                      <a16:colId xmlns:a16="http://schemas.microsoft.com/office/drawing/2014/main" val="1854142538"/>
                    </a:ext>
                  </a:extLst>
                </a:gridCol>
                <a:gridCol w="1281461">
                  <a:extLst>
                    <a:ext uri="{9D8B030D-6E8A-4147-A177-3AD203B41FA5}">
                      <a16:colId xmlns:a16="http://schemas.microsoft.com/office/drawing/2014/main" val="3186443225"/>
                    </a:ext>
                  </a:extLst>
                </a:gridCol>
                <a:gridCol w="993195">
                  <a:extLst>
                    <a:ext uri="{9D8B030D-6E8A-4147-A177-3AD203B41FA5}">
                      <a16:colId xmlns:a16="http://schemas.microsoft.com/office/drawing/2014/main" val="2535101119"/>
                    </a:ext>
                  </a:extLst>
                </a:gridCol>
              </a:tblGrid>
              <a:tr h="3189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Bridge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683583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r>
                        <a:rPr lang="en-US" sz="1600" dirty="0"/>
                        <a:t>7788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192.168.1.2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979762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060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B306CB-2102-6ADF-BED7-947D783912D1}"/>
              </a:ext>
            </a:extLst>
          </p:cNvPr>
          <p:cNvSpPr txBox="1"/>
          <p:nvPr/>
        </p:nvSpPr>
        <p:spPr>
          <a:xfrm>
            <a:off x="2749552" y="1419426"/>
            <a:ext cx="1719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Received packet</a:t>
            </a:r>
          </a:p>
        </p:txBody>
      </p:sp>
    </p:spTree>
    <p:extLst>
      <p:ext uri="{BB962C8B-B14F-4D97-AF65-F5344CB8AC3E}">
        <p14:creationId xmlns:p14="http://schemas.microsoft.com/office/powerpoint/2010/main" val="408707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A776FB-9772-66C0-F6CA-64940E0F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default networking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C93494-A4D9-56E0-55B9-F2E8EED91F6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Every virtual bridge by default uses NAT</a:t>
            </a:r>
          </a:p>
          <a:p>
            <a:r>
              <a:rPr lang="en-US" dirty="0"/>
              <a:t>Containers can make outbound connections</a:t>
            </a:r>
          </a:p>
          <a:p>
            <a:r>
              <a:rPr lang="en-US" dirty="0"/>
              <a:t>External nodes cannot connect to internal containers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DFFC39-172F-5FE1-C413-7F789ACBBB58}"/>
              </a:ext>
            </a:extLst>
          </p:cNvPr>
          <p:cNvSpPr/>
          <p:nvPr/>
        </p:nvSpPr>
        <p:spPr>
          <a:xfrm>
            <a:off x="7521194" y="2743199"/>
            <a:ext cx="4099036" cy="2133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404C4F-6574-8A00-0005-8B55FB3643B4}"/>
              </a:ext>
            </a:extLst>
          </p:cNvPr>
          <p:cNvSpPr/>
          <p:nvPr/>
        </p:nvSpPr>
        <p:spPr>
          <a:xfrm>
            <a:off x="8146947" y="3972656"/>
            <a:ext cx="1395993" cy="5993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EB7375-1BA2-A95E-DEE6-F99CE1DBA179}"/>
              </a:ext>
            </a:extLst>
          </p:cNvPr>
          <p:cNvSpPr/>
          <p:nvPr/>
        </p:nvSpPr>
        <p:spPr>
          <a:xfrm>
            <a:off x="9670138" y="3990535"/>
            <a:ext cx="1395993" cy="599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Container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CECC1A-5834-1A7F-4EC2-7272C608E1E0}"/>
              </a:ext>
            </a:extLst>
          </p:cNvPr>
          <p:cNvSpPr/>
          <p:nvPr/>
        </p:nvSpPr>
        <p:spPr>
          <a:xfrm>
            <a:off x="8657718" y="3068514"/>
            <a:ext cx="1876456" cy="599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 Virtual Bridge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3B776-E09E-4A34-E103-330983438F83}"/>
              </a:ext>
            </a:extLst>
          </p:cNvPr>
          <p:cNvSpPr txBox="1"/>
          <p:nvPr/>
        </p:nvSpPr>
        <p:spPr>
          <a:xfrm>
            <a:off x="8633637" y="4902386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(Virtual) Machine M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3422E5A-109C-6453-6B70-967CD2B0971E}"/>
              </a:ext>
            </a:extLst>
          </p:cNvPr>
          <p:cNvCxnSpPr>
            <a:cxnSpLocks/>
            <a:stCxn id="8" idx="1"/>
            <a:endCxn id="10" idx="2"/>
          </p:cNvCxnSpPr>
          <p:nvPr/>
        </p:nvCxnSpPr>
        <p:spPr>
          <a:xfrm rot="10800000" flipH="1">
            <a:off x="8146946" y="3667884"/>
            <a:ext cx="1448999" cy="604458"/>
          </a:xfrm>
          <a:prstGeom prst="bentConnector4">
            <a:avLst>
              <a:gd name="adj1" fmla="val -15776"/>
              <a:gd name="adj2" fmla="val 7479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740AE82D-A0A4-C2ED-4933-E41C513FD6DF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H="1" flipV="1">
            <a:off x="9595946" y="3667884"/>
            <a:ext cx="1470185" cy="622337"/>
          </a:xfrm>
          <a:prstGeom prst="bentConnector4">
            <a:avLst>
              <a:gd name="adj1" fmla="val -15549"/>
              <a:gd name="adj2" fmla="val 7576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77F4F7-F3F1-F702-3917-7B7C5FF08BF6}"/>
              </a:ext>
            </a:extLst>
          </p:cNvPr>
          <p:cNvSpPr txBox="1"/>
          <p:nvPr/>
        </p:nvSpPr>
        <p:spPr>
          <a:xfrm>
            <a:off x="6945876" y="4405241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8FAD18-C71C-AC21-55B7-CF2368901755}"/>
              </a:ext>
            </a:extLst>
          </p:cNvPr>
          <p:cNvSpPr txBox="1"/>
          <p:nvPr/>
        </p:nvSpPr>
        <p:spPr>
          <a:xfrm>
            <a:off x="10706640" y="4418035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ED1B32-91B4-AF13-EE4D-E2F080FB6EDF}"/>
              </a:ext>
            </a:extLst>
          </p:cNvPr>
          <p:cNvSpPr txBox="1"/>
          <p:nvPr/>
        </p:nvSpPr>
        <p:spPr>
          <a:xfrm>
            <a:off x="10430230" y="3385717"/>
            <a:ext cx="1293944" cy="36933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192.168.1.1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D124416D-B9E6-137E-5C22-659EE0D00FDA}"/>
              </a:ext>
            </a:extLst>
          </p:cNvPr>
          <p:cNvSpPr/>
          <p:nvPr/>
        </p:nvSpPr>
        <p:spPr>
          <a:xfrm>
            <a:off x="8785244" y="1810391"/>
            <a:ext cx="1621402" cy="692459"/>
          </a:xfrm>
          <a:prstGeom prst="cloud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External network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7FB4F4-F59F-F76D-19E8-B7050A2F072E}"/>
              </a:ext>
            </a:extLst>
          </p:cNvPr>
          <p:cNvCxnSpPr>
            <a:cxnSpLocks/>
            <a:stCxn id="10" idx="0"/>
            <a:endCxn id="17" idx="1"/>
          </p:cNvCxnSpPr>
          <p:nvPr/>
        </p:nvCxnSpPr>
        <p:spPr>
          <a:xfrm flipH="1" flipV="1">
            <a:off x="9595945" y="2502113"/>
            <a:ext cx="1" cy="56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073EF87-6024-D591-7DBA-338427E2538F}"/>
              </a:ext>
            </a:extLst>
          </p:cNvPr>
          <p:cNvSpPr txBox="1"/>
          <p:nvPr/>
        </p:nvSpPr>
        <p:spPr>
          <a:xfrm>
            <a:off x="10150014" y="2751443"/>
            <a:ext cx="1410964" cy="369332"/>
          </a:xfrm>
          <a:prstGeom prst="rect">
            <a:avLst/>
          </a:prstGeom>
          <a:solidFill>
            <a:srgbClr val="FFD5D5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167.23.44.18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45AB09-5F00-3257-E11D-6FBBF3189522}"/>
              </a:ext>
            </a:extLst>
          </p:cNvPr>
          <p:cNvSpPr txBox="1"/>
          <p:nvPr/>
        </p:nvSpPr>
        <p:spPr>
          <a:xfrm>
            <a:off x="10150014" y="2377156"/>
            <a:ext cx="1695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External Interface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340E6B6-A5E4-EA85-5624-9645878DC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873417"/>
              </p:ext>
            </p:extLst>
          </p:nvPr>
        </p:nvGraphicFramePr>
        <p:xfrm>
          <a:off x="6114633" y="2212023"/>
          <a:ext cx="2531247" cy="1249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43749">
                  <a:extLst>
                    <a:ext uri="{9D8B030D-6E8A-4147-A177-3AD203B41FA5}">
                      <a16:colId xmlns:a16="http://schemas.microsoft.com/office/drawing/2014/main" val="1854142538"/>
                    </a:ext>
                  </a:extLst>
                </a:gridCol>
                <a:gridCol w="950677">
                  <a:extLst>
                    <a:ext uri="{9D8B030D-6E8A-4147-A177-3AD203B41FA5}">
                      <a16:colId xmlns:a16="http://schemas.microsoft.com/office/drawing/2014/main" val="3186443225"/>
                    </a:ext>
                  </a:extLst>
                </a:gridCol>
                <a:gridCol w="736821">
                  <a:extLst>
                    <a:ext uri="{9D8B030D-6E8A-4147-A177-3AD203B41FA5}">
                      <a16:colId xmlns:a16="http://schemas.microsoft.com/office/drawing/2014/main" val="2535101119"/>
                    </a:ext>
                  </a:extLst>
                </a:gridCol>
              </a:tblGrid>
              <a:tr h="3189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Bridge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683583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979762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8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8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23322-28C2-2DD3-AB50-64F23515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48305-82DA-5016-DD4E-A707E5A15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Allowing incoming packets requires </a:t>
            </a:r>
            <a:r>
              <a:rPr lang="en-US" dirty="0" err="1"/>
              <a:t>VXLan</a:t>
            </a:r>
            <a:r>
              <a:rPr lang="en-US" dirty="0"/>
              <a:t> or IP-in-IP </a:t>
            </a:r>
          </a:p>
          <a:p>
            <a:r>
              <a:rPr lang="en-US" dirty="0"/>
              <a:t>Core idea - wrap the actual packet (L2/L3) sent by a container in another packet for routing</a:t>
            </a:r>
          </a:p>
          <a:p>
            <a:r>
              <a:rPr lang="en-US" dirty="0" err="1"/>
              <a:t>VXLan</a:t>
            </a:r>
            <a:r>
              <a:rPr lang="en-US" dirty="0"/>
              <a:t> tutorial: 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YNqKDI_bnPM&amp;list</a:t>
            </a:r>
            <a:r>
              <a:rPr lang="en-US" dirty="0"/>
              <a:t>=PLDQaRcbiSnqFe6pyaSy-Hwj8XRFPgZ5h8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3C4F1E-286E-3984-56A3-4DF56D8A6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VXLan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861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8841D1-DF5B-DACD-1CBF-2E615A40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containers are ephemeral</a:t>
            </a:r>
          </a:p>
          <a:p>
            <a:pPr lvl="1"/>
            <a:r>
              <a:rPr lang="en-US" dirty="0"/>
              <a:t>Only the specifications in the </a:t>
            </a:r>
            <a:r>
              <a:rPr lang="en-US" dirty="0" err="1"/>
              <a:t>Dockerfile</a:t>
            </a:r>
            <a:r>
              <a:rPr lang="en-US" dirty="0"/>
              <a:t> persist across respawns</a:t>
            </a:r>
          </a:p>
          <a:p>
            <a:r>
              <a:rPr lang="en-US" dirty="0"/>
              <a:t>Can mount volumes to docker containers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docker run -v /host/path:/container/path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image_name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D699BC-FCBB-8717-1D5D-1D754D91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volumes</a:t>
            </a:r>
          </a:p>
        </p:txBody>
      </p:sp>
    </p:spTree>
    <p:extLst>
      <p:ext uri="{BB962C8B-B14F-4D97-AF65-F5344CB8AC3E}">
        <p14:creationId xmlns:p14="http://schemas.microsoft.com/office/powerpoint/2010/main" val="3772315868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16065</TotalTime>
  <Words>1163</Words>
  <Application>Microsoft Macintosh PowerPoint</Application>
  <PresentationFormat>Widescreen</PresentationFormat>
  <Paragraphs>272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Helvetica</vt:lpstr>
      <vt:lpstr>Wingdings</vt:lpstr>
      <vt:lpstr>Preso 2022 Watertower Stats</vt:lpstr>
      <vt:lpstr>PowerPoint Presentation</vt:lpstr>
      <vt:lpstr>Docker overview</vt:lpstr>
      <vt:lpstr>Docker images</vt:lpstr>
      <vt:lpstr>Dockerfile and OverlayFS</vt:lpstr>
      <vt:lpstr>Dockerfile and OverlayFS</vt:lpstr>
      <vt:lpstr>Docker networking</vt:lpstr>
      <vt:lpstr>Virtual network bridge</vt:lpstr>
      <vt:lpstr>Virtual network bridge</vt:lpstr>
      <vt:lpstr>Virtual network bridge</vt:lpstr>
      <vt:lpstr>Virtual network bridge</vt:lpstr>
      <vt:lpstr>Network address translation (NAT)</vt:lpstr>
      <vt:lpstr>NAT - packet send</vt:lpstr>
      <vt:lpstr>NAT – packet rewrite for send</vt:lpstr>
      <vt:lpstr>NAT – packet receive</vt:lpstr>
      <vt:lpstr>NAT – packet rewrite for receive</vt:lpstr>
      <vt:lpstr>Docker default networking</vt:lpstr>
      <vt:lpstr>VXLan</vt:lpstr>
      <vt:lpstr>Docker volumes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1408</cp:revision>
  <dcterms:created xsi:type="dcterms:W3CDTF">2019-06-30T03:25:06Z</dcterms:created>
  <dcterms:modified xsi:type="dcterms:W3CDTF">2026-03-04T19:11:02Z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