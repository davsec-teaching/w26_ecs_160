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70" r:id="rId2"/>
    <p:sldId id="271" r:id="rId3"/>
    <p:sldId id="272" r:id="rId4"/>
    <p:sldId id="287" r:id="rId5"/>
    <p:sldId id="288" r:id="rId6"/>
    <p:sldId id="273" r:id="rId7"/>
    <p:sldId id="274" r:id="rId8"/>
    <p:sldId id="275" r:id="rId9"/>
    <p:sldId id="278" r:id="rId10"/>
    <p:sldId id="279" r:id="rId11"/>
    <p:sldId id="280" r:id="rId12"/>
    <p:sldId id="281" r:id="rId13"/>
    <p:sldId id="282" r:id="rId14"/>
    <p:sldId id="284" r:id="rId15"/>
    <p:sldId id="286" r:id="rId16"/>
    <p:sldId id="304" r:id="rId17"/>
    <p:sldId id="305" r:id="rId18"/>
    <p:sldId id="306" r:id="rId19"/>
    <p:sldId id="307" r:id="rId20"/>
    <p:sldId id="309" r:id="rId21"/>
    <p:sldId id="289" r:id="rId22"/>
    <p:sldId id="291" r:id="rId23"/>
    <p:sldId id="292" r:id="rId24"/>
    <p:sldId id="290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gR9WW29j55/nXWALZAp1WSWezXd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edro Fonseca" initials="" lastIdx="9" clrIdx="0"/>
  <p:cmAuthor id="1" name="Palit, Tapti" initials="PT" lastIdx="1" clrIdx="1">
    <p:extLst>
      <p:ext uri="{19B8F6BF-5375-455C-9EA6-DF929625EA0E}">
        <p15:presenceInfo xmlns:p15="http://schemas.microsoft.com/office/powerpoint/2012/main" userId="S::tpalit@purdue.edu::dec6fbcd-7598-406a-8cbf-504d4a3bac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09" autoAdjust="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outlineViewPr>
    <p:cViewPr>
      <p:scale>
        <a:sx n="33" d="100"/>
        <a:sy n="33" d="100"/>
      </p:scale>
      <p:origin x="0" y="-294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3-21T20:49:15.603" idx="8">
    <p:pos x="6000" y="0"/>
    <p:text>add slide number and at least  a bit of color?</p:text>
    <p:extLst>
      <p:ext uri="{C676402C-5697-4E1C-873F-D02D1690AC5C}">
        <p15:threadingInfo xmlns:p15="http://schemas.microsoft.com/office/powerpoint/2012/main" timeZoneBias="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>
              <a:buFontTx/>
              <a:buChar char="-"/>
            </a:pPr>
            <a:r>
              <a:rPr lang="en-US" dirty="0"/>
              <a:t>How would you determine if this piece of code has a bug?</a:t>
            </a:r>
          </a:p>
          <a:p>
            <a:pPr marL="457200" indent="-298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603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Can’t detect hardware issues or external failures</a:t>
            </a:r>
          </a:p>
        </p:txBody>
      </p:sp>
    </p:spTree>
    <p:extLst>
      <p:ext uri="{BB962C8B-B14F-4D97-AF65-F5344CB8AC3E}">
        <p14:creationId xmlns:p14="http://schemas.microsoft.com/office/powerpoint/2010/main" val="2517787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a suitable representation of the program to work with</a:t>
            </a:r>
          </a:p>
          <a:p>
            <a:r>
              <a:rPr lang="en-US" dirty="0"/>
              <a:t>Cumbersome to operate on individual statements, so first we turn it into a control flow graph</a:t>
            </a:r>
          </a:p>
        </p:txBody>
      </p:sp>
    </p:spTree>
    <p:extLst>
      <p:ext uri="{BB962C8B-B14F-4D97-AF65-F5344CB8AC3E}">
        <p14:creationId xmlns:p14="http://schemas.microsoft.com/office/powerpoint/2010/main" val="3306154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abstraction is related to the semantic property that we want to prove</a:t>
            </a:r>
          </a:p>
          <a:p>
            <a:r>
              <a:rPr lang="en-US" dirty="0"/>
              <a:t>Then, we look at all the operations that can be performed on these abstract values</a:t>
            </a:r>
          </a:p>
          <a:p>
            <a:r>
              <a:rPr lang="en-US" dirty="0"/>
              <a:t>So in this case, we only care about the semantic property of zero/non-zero</a:t>
            </a:r>
          </a:p>
          <a:p>
            <a:r>
              <a:rPr lang="en-US" dirty="0"/>
              <a:t>I’ve listed the rules for addition and subtraction</a:t>
            </a:r>
          </a:p>
          <a:p>
            <a:pPr lvl="1"/>
            <a:r>
              <a:rPr lang="en-US" dirty="0"/>
              <a:t>Most are straightforward</a:t>
            </a:r>
          </a:p>
          <a:p>
            <a:pPr lvl="1"/>
            <a:r>
              <a:rPr lang="en-US" dirty="0"/>
              <a:t>+ Z </a:t>
            </a:r>
            <a:r>
              <a:rPr lang="en-US" dirty="0" err="1"/>
              <a:t>Z</a:t>
            </a:r>
            <a:r>
              <a:rPr lang="en-US" dirty="0"/>
              <a:t> = Z</a:t>
            </a:r>
          </a:p>
          <a:p>
            <a:pPr lvl="1"/>
            <a:r>
              <a:rPr lang="en-US" dirty="0"/>
              <a:t>- NZ </a:t>
            </a:r>
            <a:r>
              <a:rPr lang="en-US" dirty="0" err="1"/>
              <a:t>NZ</a:t>
            </a:r>
            <a:r>
              <a:rPr lang="en-US" dirty="0"/>
              <a:t> = MZ (depending on the actual value)</a:t>
            </a:r>
          </a:p>
          <a:p>
            <a:pPr lvl="1"/>
            <a:r>
              <a:rPr lang="en-US" dirty="0"/>
              <a:t>Also if a node has two or more incoming edges with both Z and NZ values for an operand, then the result is MZ</a:t>
            </a:r>
          </a:p>
          <a:p>
            <a:pPr lvl="1"/>
            <a:r>
              <a:rPr lang="en-US" dirty="0"/>
              <a:t>In some cases static analysis might not be able to prove the property in question and simply say that the property may or may not hold</a:t>
            </a:r>
          </a:p>
          <a:p>
            <a:pPr lvl="0"/>
            <a:r>
              <a:rPr lang="en-US" dirty="0"/>
              <a:t>By abstracting the actual values, we have simplified the analysis but lost precision: or the ability to say for sure if the property holds or doesn’t hold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827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keep applying these abstractions for each </a:t>
            </a:r>
            <a:r>
              <a:rPr lang="en-US" dirty="0" err="1"/>
              <a:t>each</a:t>
            </a:r>
            <a:r>
              <a:rPr lang="en-US" dirty="0"/>
              <a:t> node in the control flow graph and continue to derive facts</a:t>
            </a:r>
          </a:p>
          <a:p>
            <a:r>
              <a:rPr lang="en-US" dirty="0"/>
              <a:t>If a node is reachable via two or more paths, the unification of the two abstract values are taken</a:t>
            </a:r>
          </a:p>
          <a:p>
            <a:r>
              <a:rPr lang="en-US" dirty="0"/>
              <a:t>The new facts at each iteration are denoted in red</a:t>
            </a:r>
          </a:p>
          <a:p>
            <a:r>
              <a:rPr lang="en-US" dirty="0"/>
              <a:t>For the first iteration</a:t>
            </a:r>
          </a:p>
          <a:p>
            <a:r>
              <a:rPr lang="en-US" dirty="0"/>
              <a:t>The second iteration</a:t>
            </a:r>
          </a:p>
          <a:p>
            <a:r>
              <a:rPr lang="en-US" dirty="0"/>
              <a:t>Third iteration we observe that none of the abstract values change. This is when we know that the analysis has terminated</a:t>
            </a:r>
          </a:p>
        </p:txBody>
      </p:sp>
    </p:spTree>
    <p:extLst>
      <p:ext uri="{BB962C8B-B14F-4D97-AF65-F5344CB8AC3E}">
        <p14:creationId xmlns:p14="http://schemas.microsoft.com/office/powerpoint/2010/main" val="3078419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379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comparison with symbolic execution</a:t>
            </a:r>
          </a:p>
        </p:txBody>
      </p:sp>
    </p:spTree>
    <p:extLst>
      <p:ext uri="{BB962C8B-B14F-4D97-AF65-F5344CB8AC3E}">
        <p14:creationId xmlns:p14="http://schemas.microsoft.com/office/powerpoint/2010/main" val="4004786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767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5808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072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cs.wisc.edu/~horwitz/CS704-NOTES/10.ABSTRACT-INTERPRETATION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Static Analysis</a:t>
            </a: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Slides adapted from Claire Le </a:t>
            </a:r>
            <a:r>
              <a:rPr lang="en-US" dirty="0" err="1"/>
              <a:t>Goues</a:t>
            </a:r>
            <a:r>
              <a:rPr lang="en-US" dirty="0"/>
              <a:t>, Jonathan Aldrich, Phillip Gibbons </a:t>
            </a:r>
          </a:p>
          <a:p>
            <a:pPr lvl="0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86AE40-8C0C-5708-BD62-767C871CBE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11E40-0E91-4093-CE0B-5DCE8ED0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approaches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B0FCA6-4259-CBCE-CCEC-3717762C1F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BDAE51-0C42-4A31-703C-9B2DD8249824}"/>
              </a:ext>
            </a:extLst>
          </p:cNvPr>
          <p:cNvSpPr txBox="1"/>
          <p:nvPr/>
        </p:nvSpPr>
        <p:spPr>
          <a:xfrm>
            <a:off x="1463039" y="1965960"/>
            <a:ext cx="5277729" cy="3416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</a:rPr>
              <a:t>void function(uint8_t*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, int x) {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int n = x + 50;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...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for (int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 = 0;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 &lt; n;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++) {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*(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+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 =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} 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... 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}</a:t>
            </a:r>
            <a:br>
              <a:rPr lang="en-US" sz="1800" dirty="0">
                <a:latin typeface="Consolas" panose="020B0609020204030204" pitchFamily="49" charset="0"/>
              </a:rPr>
            </a:b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uint8_t </a:t>
            </a:r>
            <a:r>
              <a:rPr lang="en-US" sz="1800" dirty="0" err="1">
                <a:latin typeface="Consolas" panose="020B0609020204030204" pitchFamily="49" charset="0"/>
              </a:rPr>
              <a:t>arr</a:t>
            </a:r>
            <a:r>
              <a:rPr lang="en-US" sz="1800" dirty="0">
                <a:latin typeface="Consolas" panose="020B0609020204030204" pitchFamily="49" charset="0"/>
              </a:rPr>
              <a:t>[128];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function(str, 128);</a:t>
            </a:r>
          </a:p>
          <a:p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8E75D-F566-8B79-ABCC-2529FB05AE84}"/>
              </a:ext>
            </a:extLst>
          </p:cNvPr>
          <p:cNvSpPr txBox="1"/>
          <p:nvPr/>
        </p:nvSpPr>
        <p:spPr>
          <a:xfrm>
            <a:off x="5198638" y="3765677"/>
            <a:ext cx="6263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How to determine if this piece of code has a bug?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F6D278-1CEA-9146-E8A5-DE60EAADC6F4}"/>
              </a:ext>
            </a:extLst>
          </p:cNvPr>
          <p:cNvSpPr txBox="1"/>
          <p:nvPr/>
        </p:nvSpPr>
        <p:spPr>
          <a:xfrm>
            <a:off x="5851221" y="4412920"/>
            <a:ext cx="4699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Dynamic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Symbolic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756944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59DD2-5362-2AF9-7989-DEEA3AA87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static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01207-EE4B-0583-17CB-76AB26D4B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program analysis aims at discovering semantic properties or runtime behavior of programs without running them</a:t>
            </a:r>
            <a:br>
              <a:rPr lang="en-US" dirty="0"/>
            </a:br>
            <a:endParaRPr lang="en-US" dirty="0"/>
          </a:p>
          <a:p>
            <a:r>
              <a:rPr lang="en-US" dirty="0"/>
              <a:t>Key ideas</a:t>
            </a:r>
          </a:p>
          <a:p>
            <a:pPr lvl="1"/>
            <a:r>
              <a:rPr lang="en-US" dirty="0"/>
              <a:t>Abstraction</a:t>
            </a:r>
          </a:p>
          <a:p>
            <a:pPr lvl="2"/>
            <a:r>
              <a:rPr lang="en-US" dirty="0"/>
              <a:t>Capture semantically relevant details and elide non-relevant details</a:t>
            </a:r>
          </a:p>
          <a:p>
            <a:pPr lvl="1"/>
            <a:r>
              <a:rPr lang="en-US" dirty="0"/>
              <a:t>Treat programs as data: </a:t>
            </a:r>
          </a:p>
          <a:p>
            <a:pPr lvl="2"/>
            <a:r>
              <a:rPr lang="en-US" dirty="0"/>
              <a:t>Programs are just graphs (CFG, </a:t>
            </a:r>
            <a:r>
              <a:rPr lang="en-US" dirty="0" err="1"/>
              <a:t>callgraph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A7FA1-7A6A-5A96-8B07-3C2A623884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42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84FFF-B17E-A6BF-223A-9A10CFB23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Defects Static Analysis can Catch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ED2C1-05EC-B800-FF9D-8D3E06BBB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Defects that result from inconsistently following simple, mechanical design rules.</a:t>
            </a:r>
          </a:p>
          <a:p>
            <a:pPr lvl="1"/>
            <a:r>
              <a:rPr lang="en-US" dirty="0"/>
              <a:t>Security:  Buffer overruns, improperly validated input.</a:t>
            </a:r>
          </a:p>
          <a:p>
            <a:pPr lvl="1"/>
            <a:r>
              <a:rPr lang="en-US" dirty="0"/>
              <a:t>Memory safety:  Null dereference, uninitialized data.</a:t>
            </a:r>
          </a:p>
          <a:p>
            <a:pPr lvl="1"/>
            <a:r>
              <a:rPr lang="en-US" dirty="0"/>
              <a:t>Resource leaks:  Memory, OS resources.</a:t>
            </a:r>
          </a:p>
          <a:p>
            <a:pPr lvl="1"/>
            <a:r>
              <a:rPr lang="en-US" dirty="0"/>
              <a:t>API Protocols:  Device drivers; real time libraries; GUI frameworks.</a:t>
            </a:r>
          </a:p>
          <a:p>
            <a:pPr lvl="1"/>
            <a:r>
              <a:rPr lang="en-US" dirty="0"/>
              <a:t>Exceptions:  Arithmetic/library/user-defined</a:t>
            </a:r>
          </a:p>
          <a:p>
            <a:pPr lvl="1"/>
            <a:r>
              <a:rPr lang="en-US" dirty="0"/>
              <a:t>Encapsulation: Accessing internal data, calling private functions.</a:t>
            </a:r>
          </a:p>
          <a:p>
            <a:pPr lvl="1"/>
            <a:r>
              <a:rPr lang="en-US" dirty="0"/>
              <a:t>Data races: Two threads access the same data without synchronization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3AB42-786A-3658-5273-CC7EBDD1E1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5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01639-5C3A-6A57-A6A8-067E728C9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Analysis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265F1-00ED-5F0B-25DA-955493DBB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Consider the following program: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1430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 static analysis to determine if x is ever 0, without running the program</a:t>
            </a:r>
          </a:p>
          <a:p>
            <a:pPr lvl="1"/>
            <a:r>
              <a:rPr lang="en-US" dirty="0"/>
              <a:t>Semantic property of interest: Zero / Non-Zero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2C598-8CC6-1A21-2D20-D7E298A14B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80165-42E4-86FD-C299-75180102795D}"/>
              </a:ext>
            </a:extLst>
          </p:cNvPr>
          <p:cNvSpPr txBox="1"/>
          <p:nvPr/>
        </p:nvSpPr>
        <p:spPr>
          <a:xfrm>
            <a:off x="2214494" y="2388672"/>
            <a:ext cx="2774852" cy="25853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 b="0" dirty="0">
                <a:ln>
                  <a:noFill/>
                </a:ln>
                <a:latin typeface="Consolas" panose="020B0609020204030204" pitchFamily="49" charset="0"/>
                <a:cs typeface="Courier New"/>
              </a:rPr>
              <a:t>x = 10;</a:t>
            </a:r>
          </a:p>
          <a:p>
            <a:r>
              <a:rPr lang="en-US" sz="1800" b="0" dirty="0">
                <a:ln>
                  <a:noFill/>
                </a:ln>
                <a:latin typeface="Consolas" panose="020B0609020204030204" pitchFamily="49" charset="0"/>
                <a:cs typeface="Courier New"/>
              </a:rPr>
              <a:t>y = x;</a:t>
            </a:r>
          </a:p>
          <a:p>
            <a:r>
              <a:rPr lang="en-US" sz="1800" b="0" dirty="0">
                <a:ln>
                  <a:noFill/>
                </a:ln>
                <a:latin typeface="Consolas" panose="020B0609020204030204" pitchFamily="49" charset="0"/>
                <a:cs typeface="Courier New"/>
              </a:rPr>
              <a:t>z = 0;</a:t>
            </a:r>
          </a:p>
          <a:p>
            <a:r>
              <a:rPr lang="en-US" sz="1800" b="0" dirty="0">
                <a:ln>
                  <a:noFill/>
                </a:ln>
                <a:latin typeface="Consolas" panose="020B0609020204030204" pitchFamily="49" charset="0"/>
                <a:cs typeface="Courier New"/>
              </a:rPr>
              <a:t>while (y</a:t>
            </a:r>
            <a:r>
              <a:rPr lang="en-US" sz="1800" b="0" baseline="0" dirty="0">
                <a:ln>
                  <a:noFill/>
                </a:ln>
                <a:latin typeface="Consolas" panose="020B0609020204030204" pitchFamily="49" charset="0"/>
                <a:cs typeface="Courier New"/>
              </a:rPr>
              <a:t> &gt; -1) {</a:t>
            </a:r>
          </a:p>
          <a:p>
            <a:r>
              <a:rPr lang="en-US" sz="1800" b="0" baseline="0" dirty="0">
                <a:ln>
                  <a:noFill/>
                </a:ln>
                <a:latin typeface="Consolas" panose="020B0609020204030204" pitchFamily="49" charset="0"/>
                <a:cs typeface="Courier New"/>
              </a:rPr>
              <a:t>  x = x / y;</a:t>
            </a:r>
          </a:p>
          <a:p>
            <a:r>
              <a:rPr lang="en-US" sz="1800" b="0" baseline="0" dirty="0">
                <a:ln>
                  <a:noFill/>
                </a:ln>
                <a:latin typeface="Consolas" panose="020B0609020204030204" pitchFamily="49" charset="0"/>
                <a:cs typeface="Courier New"/>
              </a:rPr>
              <a:t>  y = y - 1;</a:t>
            </a:r>
          </a:p>
          <a:p>
            <a:r>
              <a:rPr lang="en-US" sz="1800" b="0" baseline="0" dirty="0">
                <a:ln>
                  <a:noFill/>
                </a:ln>
                <a:latin typeface="Consolas" panose="020B0609020204030204" pitchFamily="49" charset="0"/>
                <a:cs typeface="Courier New"/>
              </a:rPr>
              <a:t>  z = 5;</a:t>
            </a:r>
          </a:p>
          <a:p>
            <a:r>
              <a:rPr lang="en-US" sz="1800" b="0" baseline="0" dirty="0">
                <a:ln>
                  <a:noFill/>
                </a:ln>
                <a:latin typeface="Consolas" panose="020B0609020204030204" pitchFamily="49" charset="0"/>
                <a:cs typeface="Courier New"/>
              </a:rPr>
              <a:t>}</a:t>
            </a:r>
          </a:p>
          <a:p>
            <a:r>
              <a:rPr lang="en-US" sz="1800" b="0" baseline="0" dirty="0">
                <a:ln>
                  <a:noFill/>
                </a:ln>
                <a:latin typeface="Consolas" panose="020B0609020204030204" pitchFamily="49" charset="0"/>
                <a:cs typeface="Courier New"/>
              </a:rPr>
              <a:t>p = 100/x;</a:t>
            </a:r>
            <a:endParaRPr lang="en-US" sz="1800" b="0" dirty="0">
              <a:ln>
                <a:noFill/>
              </a:ln>
              <a:latin typeface="Consolas" panose="020B0609020204030204" pitchFamily="49" charset="0"/>
              <a:cs typeface="Courier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94CA5-2433-EAFF-8FDC-C9202D213A9B}"/>
              </a:ext>
            </a:extLst>
          </p:cNvPr>
          <p:cNvSpPr txBox="1"/>
          <p:nvPr/>
        </p:nvSpPr>
        <p:spPr>
          <a:xfrm>
            <a:off x="3601920" y="4309108"/>
            <a:ext cx="7313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Can </a:t>
            </a:r>
            <a:r>
              <a:rPr lang="en-US" sz="2000" b="1" i="1" dirty="0">
                <a:latin typeface="Consolas" panose="020B0609020204030204" pitchFamily="49" charset="0"/>
              </a:rPr>
              <a:t>x</a:t>
            </a:r>
            <a:r>
              <a:rPr lang="en-US" sz="2000" b="1" i="1" dirty="0"/>
              <a:t> ever be zero, leading to DIV by zero error? </a:t>
            </a:r>
          </a:p>
        </p:txBody>
      </p:sp>
    </p:spTree>
    <p:extLst>
      <p:ext uri="{BB962C8B-B14F-4D97-AF65-F5344CB8AC3E}">
        <p14:creationId xmlns:p14="http://schemas.microsoft.com/office/powerpoint/2010/main" val="60843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09081-F3B6-F80F-88D0-D9D3BE0C0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Zero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AF526F-1579-BA0C-4937-25B48B2A5D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6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85DFD6-062A-FDE1-D40E-998AD434928C}"/>
              </a:ext>
            </a:extLst>
          </p:cNvPr>
          <p:cNvSpPr/>
          <p:nvPr/>
        </p:nvSpPr>
        <p:spPr bwMode="auto">
          <a:xfrm>
            <a:off x="7520353" y="3525053"/>
            <a:ext cx="1600202" cy="50753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y &gt; -1?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8B0FED-290F-B4EB-ED96-D489D4EE8952}"/>
              </a:ext>
            </a:extLst>
          </p:cNvPr>
          <p:cNvSpPr/>
          <p:nvPr/>
        </p:nvSpPr>
        <p:spPr bwMode="auto">
          <a:xfrm>
            <a:off x="7520352" y="1406891"/>
            <a:ext cx="1600202" cy="50753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x = 10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935832-75A4-2697-4809-3902709AB6DF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 bwMode="auto">
          <a:xfrm flipH="1">
            <a:off x="8320453" y="2639108"/>
            <a:ext cx="2" cy="16333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A6DC27-931C-AC0F-29BC-DAEE4410FEF2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 bwMode="auto">
          <a:xfrm>
            <a:off x="8320453" y="1914426"/>
            <a:ext cx="2" cy="21714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0871E5-3A8E-28C8-EEE1-DB311A0EFFCC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 bwMode="auto">
          <a:xfrm>
            <a:off x="8320454" y="4032588"/>
            <a:ext cx="1" cy="17939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7DE75F-2054-CACE-65CC-F06AE96B3B45}"/>
              </a:ext>
            </a:extLst>
          </p:cNvPr>
          <p:cNvSpPr/>
          <p:nvPr/>
        </p:nvSpPr>
        <p:spPr bwMode="auto">
          <a:xfrm>
            <a:off x="7520354" y="4211980"/>
            <a:ext cx="1600202" cy="50753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x = x / 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E67DB2-674C-788D-FFBC-77D0FD1D8041}"/>
              </a:ext>
            </a:extLst>
          </p:cNvPr>
          <p:cNvSpPr/>
          <p:nvPr/>
        </p:nvSpPr>
        <p:spPr bwMode="auto">
          <a:xfrm>
            <a:off x="7520352" y="6253794"/>
            <a:ext cx="1600202" cy="50753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alibri"/>
                <a:cs typeface="Calibri"/>
              </a:rPr>
              <a:t>p = 100/x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CE1D48-E7A5-6907-391C-E008DF4FF9A8}"/>
              </a:ext>
            </a:extLst>
          </p:cNvPr>
          <p:cNvSpPr/>
          <p:nvPr/>
        </p:nvSpPr>
        <p:spPr bwMode="auto">
          <a:xfrm>
            <a:off x="7520354" y="4898908"/>
            <a:ext cx="1600202" cy="50753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y = y - 1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24284-F459-9E46-00B2-B5D20F26F52C}"/>
              </a:ext>
            </a:extLst>
          </p:cNvPr>
          <p:cNvSpPr/>
          <p:nvPr/>
        </p:nvSpPr>
        <p:spPr bwMode="auto">
          <a:xfrm>
            <a:off x="7520354" y="2131573"/>
            <a:ext cx="1600202" cy="50753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y = 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06C082-B0C6-F629-0C64-F657ACC9F58D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 bwMode="auto">
          <a:xfrm>
            <a:off x="8320455" y="4719515"/>
            <a:ext cx="0" cy="17939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4" name="Curved Connector 16">
            <a:extLst>
              <a:ext uri="{FF2B5EF4-FFF2-40B4-BE49-F238E27FC236}">
                <a16:creationId xmlns:a16="http://schemas.microsoft.com/office/drawing/2014/main" id="{2EE62AD2-14BA-3BE0-DDD1-0EDEB19BE613}"/>
              </a:ext>
            </a:extLst>
          </p:cNvPr>
          <p:cNvCxnSpPr>
            <a:cxnSpLocks/>
            <a:stCxn id="17" idx="1"/>
            <a:endCxn id="4" idx="1"/>
          </p:cNvCxnSpPr>
          <p:nvPr/>
        </p:nvCxnSpPr>
        <p:spPr>
          <a:xfrm rot="10800000" flipH="1">
            <a:off x="7520351" y="3778822"/>
            <a:ext cx="1" cy="2131693"/>
          </a:xfrm>
          <a:prstGeom prst="bentConnector3">
            <a:avLst>
              <a:gd name="adj1" fmla="val -2286000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A5E73F8-80D2-BCD9-3B07-BC2D07A84F27}"/>
              </a:ext>
            </a:extLst>
          </p:cNvPr>
          <p:cNvSpPr/>
          <p:nvPr/>
        </p:nvSpPr>
        <p:spPr bwMode="auto">
          <a:xfrm>
            <a:off x="7520352" y="2802442"/>
            <a:ext cx="1600202" cy="50753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z = 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FA499BB-4B1B-A405-8D3D-AFA1CB0E65A6}"/>
              </a:ext>
            </a:extLst>
          </p:cNvPr>
          <p:cNvCxnSpPr>
            <a:cxnSpLocks/>
            <a:stCxn id="15" idx="2"/>
            <a:endCxn id="4" idx="0"/>
          </p:cNvCxnSpPr>
          <p:nvPr/>
        </p:nvCxnSpPr>
        <p:spPr bwMode="auto">
          <a:xfrm>
            <a:off x="8320453" y="3309977"/>
            <a:ext cx="1" cy="21507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709C333-3A69-7C31-3E8A-9F76F9919C16}"/>
              </a:ext>
            </a:extLst>
          </p:cNvPr>
          <p:cNvSpPr/>
          <p:nvPr/>
        </p:nvSpPr>
        <p:spPr bwMode="auto">
          <a:xfrm>
            <a:off x="7520352" y="5656746"/>
            <a:ext cx="1600202" cy="50753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z = 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76D7DE2-5058-6AE3-764E-D431D03B3AAB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 bwMode="auto">
          <a:xfrm flipH="1">
            <a:off x="8320453" y="5406443"/>
            <a:ext cx="2" cy="25030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9" name="Curved Connector 50">
            <a:extLst>
              <a:ext uri="{FF2B5EF4-FFF2-40B4-BE49-F238E27FC236}">
                <a16:creationId xmlns:a16="http://schemas.microsoft.com/office/drawing/2014/main" id="{AD6D7FD5-F1AB-BCAF-8FAB-69D64D98789D}"/>
              </a:ext>
            </a:extLst>
          </p:cNvPr>
          <p:cNvCxnSpPr>
            <a:cxnSpLocks/>
            <a:stCxn id="4" idx="3"/>
            <a:endCxn id="10" idx="3"/>
          </p:cNvCxnSpPr>
          <p:nvPr/>
        </p:nvCxnSpPr>
        <p:spPr>
          <a:xfrm flipH="1">
            <a:off x="9120554" y="3778821"/>
            <a:ext cx="1" cy="2728741"/>
          </a:xfrm>
          <a:prstGeom prst="bentConnector3">
            <a:avLst>
              <a:gd name="adj1" fmla="val -2286000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D73CD6B-6260-7859-58F7-A2902456A152}"/>
              </a:ext>
            </a:extLst>
          </p:cNvPr>
          <p:cNvGraphicFramePr>
            <a:graphicFrameLocks noGrp="1"/>
          </p:cNvGraphicFramePr>
          <p:nvPr/>
        </p:nvGraphicFramePr>
        <p:xfrm>
          <a:off x="2337053" y="2385341"/>
          <a:ext cx="3250311" cy="27785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0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8529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Consolas" panose="020B0609020204030204" pitchFamily="49" charset="0"/>
                          <a:cs typeface="Courier New"/>
                        </a:rPr>
                        <a:t>x = 10;</a:t>
                      </a:r>
                    </a:p>
                    <a:p>
                      <a:r>
                        <a:rPr lang="en-US" sz="1800" b="0" dirty="0">
                          <a:latin typeface="Consolas" panose="020B0609020204030204" pitchFamily="49" charset="0"/>
                          <a:cs typeface="Courier New"/>
                        </a:rPr>
                        <a:t>y = x;</a:t>
                      </a:r>
                    </a:p>
                    <a:p>
                      <a:r>
                        <a:rPr lang="en-US" sz="1800" b="0" dirty="0">
                          <a:latin typeface="Consolas" panose="020B0609020204030204" pitchFamily="49" charset="0"/>
                          <a:cs typeface="Courier New"/>
                        </a:rPr>
                        <a:t>z = 0;</a:t>
                      </a:r>
                    </a:p>
                    <a:p>
                      <a:r>
                        <a:rPr lang="en-US" sz="1800" b="0" dirty="0">
                          <a:latin typeface="Consolas" panose="020B0609020204030204" pitchFamily="49" charset="0"/>
                          <a:cs typeface="Courier New"/>
                        </a:rPr>
                        <a:t>while (y</a:t>
                      </a:r>
                      <a:r>
                        <a:rPr lang="en-US" sz="1800" b="0" baseline="0" dirty="0">
                          <a:latin typeface="Consolas" panose="020B0609020204030204" pitchFamily="49" charset="0"/>
                          <a:cs typeface="Courier New"/>
                        </a:rPr>
                        <a:t> &gt; -1) {</a:t>
                      </a:r>
                    </a:p>
                    <a:p>
                      <a:r>
                        <a:rPr lang="en-US" sz="1800" b="0" baseline="0" dirty="0">
                          <a:latin typeface="Consolas" panose="020B0609020204030204" pitchFamily="49" charset="0"/>
                          <a:cs typeface="Courier New"/>
                        </a:rPr>
                        <a:t>  x = x / y;</a:t>
                      </a:r>
                    </a:p>
                    <a:p>
                      <a:r>
                        <a:rPr lang="en-US" sz="1800" b="0" baseline="0" dirty="0">
                          <a:latin typeface="Consolas" panose="020B0609020204030204" pitchFamily="49" charset="0"/>
                          <a:cs typeface="Courier New"/>
                        </a:rPr>
                        <a:t>  y = y - 1;</a:t>
                      </a:r>
                    </a:p>
                    <a:p>
                      <a:r>
                        <a:rPr lang="en-US" sz="1800" b="0" baseline="0" dirty="0">
                          <a:latin typeface="Consolas" panose="020B0609020204030204" pitchFamily="49" charset="0"/>
                          <a:cs typeface="Courier New"/>
                        </a:rPr>
                        <a:t>  z = 5;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baseline="0" dirty="0">
                          <a:latin typeface="Consolas" panose="020B0609020204030204" pitchFamily="49" charset="0"/>
                          <a:cs typeface="Courier New"/>
                        </a:rPr>
                        <a:t>}</a:t>
                      </a:r>
                      <a:br>
                        <a:rPr lang="en-US" sz="1800" b="0" baseline="0" dirty="0">
                          <a:latin typeface="Consolas" panose="020B0609020204030204" pitchFamily="49" charset="0"/>
                          <a:cs typeface="Courier New"/>
                        </a:rPr>
                      </a:br>
                      <a:r>
                        <a:rPr lang="en-US" sz="1800" b="0" baseline="0" dirty="0">
                          <a:latin typeface="Consolas" panose="020B0609020204030204" pitchFamily="49" charset="0"/>
                          <a:cs typeface="Courier New"/>
                        </a:rPr>
                        <a:t>p = 100/x;</a:t>
                      </a:r>
                      <a:endParaRPr lang="en-US" sz="1800" b="0" dirty="0">
                        <a:latin typeface="Consolas" panose="020B0609020204030204" pitchFamily="49" charset="0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Right Arrow 63">
            <a:extLst>
              <a:ext uri="{FF2B5EF4-FFF2-40B4-BE49-F238E27FC236}">
                <a16:creationId xmlns:a16="http://schemas.microsoft.com/office/drawing/2014/main" id="{E81726BB-3D9D-A164-28DA-E596C21862F1}"/>
              </a:ext>
            </a:extLst>
          </p:cNvPr>
          <p:cNvSpPr/>
          <p:nvPr/>
        </p:nvSpPr>
        <p:spPr>
          <a:xfrm>
            <a:off x="5937907" y="3796964"/>
            <a:ext cx="996796" cy="4086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6B8278-EBD1-86BC-E59B-D2EFCCD58B32}"/>
              </a:ext>
            </a:extLst>
          </p:cNvPr>
          <p:cNvSpPr txBox="1"/>
          <p:nvPr/>
        </p:nvSpPr>
        <p:spPr>
          <a:xfrm>
            <a:off x="838200" y="1624038"/>
            <a:ext cx="7313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Step 1: Convert program to a control flow graph</a:t>
            </a:r>
          </a:p>
        </p:txBody>
      </p:sp>
    </p:spTree>
    <p:extLst>
      <p:ext uri="{BB962C8B-B14F-4D97-AF65-F5344CB8AC3E}">
        <p14:creationId xmlns:p14="http://schemas.microsoft.com/office/powerpoint/2010/main" val="3998313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E91D6-94A6-B8B8-C75F-E9936A17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Zero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BFB168-23A8-6845-36D0-2D371862E5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7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BF9B6-C4AD-40F0-92BC-DFB96B806C2D}"/>
              </a:ext>
            </a:extLst>
          </p:cNvPr>
          <p:cNvSpPr/>
          <p:nvPr/>
        </p:nvSpPr>
        <p:spPr bwMode="auto">
          <a:xfrm>
            <a:off x="1266098" y="3554138"/>
            <a:ext cx="1704800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y &gt; -1?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6F8E51-48BD-EDE1-CA1A-2E0A20009702}"/>
              </a:ext>
            </a:extLst>
          </p:cNvPr>
          <p:cNvSpPr/>
          <p:nvPr/>
        </p:nvSpPr>
        <p:spPr bwMode="auto">
          <a:xfrm>
            <a:off x="1266099" y="1846724"/>
            <a:ext cx="1704800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x = 10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D2C4FD-651C-E929-EFBC-50EB3E9DB24C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 bwMode="auto">
          <a:xfrm>
            <a:off x="2118499" y="2779828"/>
            <a:ext cx="0" cy="19444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BF99C5-BF6B-E8F7-09E4-3037BDB52833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 bwMode="auto">
          <a:xfrm>
            <a:off x="2118499" y="2216056"/>
            <a:ext cx="0" cy="19444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5B3BAD-DB32-B1A5-41E5-438FEBFC8F23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 bwMode="auto">
          <a:xfrm>
            <a:off x="2118498" y="3923470"/>
            <a:ext cx="0" cy="22158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15C6143-2B65-1EEA-1564-D98B60655783}"/>
              </a:ext>
            </a:extLst>
          </p:cNvPr>
          <p:cNvSpPr/>
          <p:nvPr/>
        </p:nvSpPr>
        <p:spPr bwMode="auto">
          <a:xfrm>
            <a:off x="1266098" y="4145052"/>
            <a:ext cx="1704800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x = x / 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38A561-9952-E33C-074D-FE74137E2733}"/>
              </a:ext>
            </a:extLst>
          </p:cNvPr>
          <p:cNvSpPr/>
          <p:nvPr/>
        </p:nvSpPr>
        <p:spPr bwMode="auto">
          <a:xfrm>
            <a:off x="1266097" y="5954961"/>
            <a:ext cx="1704800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alibri"/>
                <a:cs typeface="Calibri"/>
              </a:rPr>
              <a:t>p = 100/x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D0D589-22FF-5404-1944-EA2EF33490ED}"/>
              </a:ext>
            </a:extLst>
          </p:cNvPr>
          <p:cNvSpPr/>
          <p:nvPr/>
        </p:nvSpPr>
        <p:spPr bwMode="auto">
          <a:xfrm>
            <a:off x="1266099" y="4780506"/>
            <a:ext cx="1704800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y = y - 1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86435C-13FF-3D01-20B3-486CE9320C87}"/>
              </a:ext>
            </a:extLst>
          </p:cNvPr>
          <p:cNvSpPr/>
          <p:nvPr/>
        </p:nvSpPr>
        <p:spPr bwMode="auto">
          <a:xfrm>
            <a:off x="1266099" y="2410496"/>
            <a:ext cx="1704800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y = 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0D552A-2B63-CED4-B49A-310C37A5F642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 bwMode="auto">
          <a:xfrm>
            <a:off x="2118498" y="4514384"/>
            <a:ext cx="1" cy="26612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4" name="Curved Connector 16">
            <a:extLst>
              <a:ext uri="{FF2B5EF4-FFF2-40B4-BE49-F238E27FC236}">
                <a16:creationId xmlns:a16="http://schemas.microsoft.com/office/drawing/2014/main" id="{424A6BE9-C64C-609C-1C82-1BB9E15147D6}"/>
              </a:ext>
            </a:extLst>
          </p:cNvPr>
          <p:cNvCxnSpPr>
            <a:cxnSpLocks/>
            <a:stCxn id="17" idx="1"/>
            <a:endCxn id="4" idx="1"/>
          </p:cNvCxnSpPr>
          <p:nvPr/>
        </p:nvCxnSpPr>
        <p:spPr>
          <a:xfrm rot="10800000">
            <a:off x="1266098" y="3738805"/>
            <a:ext cx="12700" cy="1845745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F3DCF62-4830-7194-B949-A7FF76D3DB0F}"/>
              </a:ext>
            </a:extLst>
          </p:cNvPr>
          <p:cNvSpPr/>
          <p:nvPr/>
        </p:nvSpPr>
        <p:spPr bwMode="auto">
          <a:xfrm>
            <a:off x="1266099" y="2974268"/>
            <a:ext cx="1704800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z = 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0597B0-69CE-AF9C-7864-E95F318298F0}"/>
              </a:ext>
            </a:extLst>
          </p:cNvPr>
          <p:cNvCxnSpPr>
            <a:cxnSpLocks/>
            <a:stCxn id="15" idx="2"/>
            <a:endCxn id="4" idx="0"/>
          </p:cNvCxnSpPr>
          <p:nvPr/>
        </p:nvCxnSpPr>
        <p:spPr bwMode="auto">
          <a:xfrm flipH="1">
            <a:off x="2118498" y="3343600"/>
            <a:ext cx="1" cy="21053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9853FF2-522E-F44B-62BC-FA7FC4E0F34A}"/>
              </a:ext>
            </a:extLst>
          </p:cNvPr>
          <p:cNvSpPr/>
          <p:nvPr/>
        </p:nvSpPr>
        <p:spPr bwMode="auto">
          <a:xfrm>
            <a:off x="1266098" y="5399883"/>
            <a:ext cx="1704800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z = 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6A7C68-D8E4-116E-6232-9F3850C5D4D0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 bwMode="auto">
          <a:xfrm flipH="1">
            <a:off x="2118498" y="5149838"/>
            <a:ext cx="1" cy="25004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9" name="Curved Connector 50">
            <a:extLst>
              <a:ext uri="{FF2B5EF4-FFF2-40B4-BE49-F238E27FC236}">
                <a16:creationId xmlns:a16="http://schemas.microsoft.com/office/drawing/2014/main" id="{A18F79E8-6890-EC1E-AA68-7E3A90E643C3}"/>
              </a:ext>
            </a:extLst>
          </p:cNvPr>
          <p:cNvCxnSpPr>
            <a:cxnSpLocks/>
            <a:stCxn id="4" idx="3"/>
            <a:endCxn id="10" idx="3"/>
          </p:cNvCxnSpPr>
          <p:nvPr/>
        </p:nvCxnSpPr>
        <p:spPr>
          <a:xfrm flipH="1">
            <a:off x="2970897" y="3738804"/>
            <a:ext cx="1" cy="2400823"/>
          </a:xfrm>
          <a:prstGeom prst="bentConnector3">
            <a:avLst>
              <a:gd name="adj1" fmla="val -2286000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481938E-6ECB-1A45-DA81-72B3DFBFC18A}"/>
              </a:ext>
            </a:extLst>
          </p:cNvPr>
          <p:cNvSpPr txBox="1"/>
          <p:nvPr/>
        </p:nvSpPr>
        <p:spPr>
          <a:xfrm>
            <a:off x="5161631" y="1490382"/>
            <a:ext cx="69214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Step 1: Apply abstraction: Zero/Non-Zero/</a:t>
            </a:r>
            <a:r>
              <a:rPr lang="en-US" sz="2000" b="1" i="1" u="sng" dirty="0"/>
              <a:t>Maybe-Zero</a:t>
            </a:r>
          </a:p>
          <a:p>
            <a:endParaRPr lang="en-US" sz="2000" b="1" i="1" dirty="0"/>
          </a:p>
          <a:p>
            <a:r>
              <a:rPr lang="en-US" sz="2000" b="1" i="1" dirty="0"/>
              <a:t>We don’t care about the actual values (real or symbolic) of x, y, and z</a:t>
            </a:r>
          </a:p>
        </p:txBody>
      </p:sp>
      <p:graphicFrame>
        <p:nvGraphicFramePr>
          <p:cNvPr id="57" name="Table 57">
            <a:extLst>
              <a:ext uri="{FF2B5EF4-FFF2-40B4-BE49-F238E27FC236}">
                <a16:creationId xmlns:a16="http://schemas.microsoft.com/office/drawing/2014/main" id="{A7F0611F-8CCD-B3D9-0A72-D2DC9D8CBE19}"/>
              </a:ext>
            </a:extLst>
          </p:cNvPr>
          <p:cNvGraphicFramePr>
            <a:graphicFrameLocks noGrp="1"/>
          </p:cNvGraphicFramePr>
          <p:nvPr/>
        </p:nvGraphicFramePr>
        <p:xfrm>
          <a:off x="5772115" y="2877048"/>
          <a:ext cx="4931052" cy="3337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2763">
                  <a:extLst>
                    <a:ext uri="{9D8B030D-6E8A-4147-A177-3AD203B41FA5}">
                      <a16:colId xmlns:a16="http://schemas.microsoft.com/office/drawing/2014/main" val="2909566383"/>
                    </a:ext>
                  </a:extLst>
                </a:gridCol>
                <a:gridCol w="1232763">
                  <a:extLst>
                    <a:ext uri="{9D8B030D-6E8A-4147-A177-3AD203B41FA5}">
                      <a16:colId xmlns:a16="http://schemas.microsoft.com/office/drawing/2014/main" val="505269219"/>
                    </a:ext>
                  </a:extLst>
                </a:gridCol>
                <a:gridCol w="1232763">
                  <a:extLst>
                    <a:ext uri="{9D8B030D-6E8A-4147-A177-3AD203B41FA5}">
                      <a16:colId xmlns:a16="http://schemas.microsoft.com/office/drawing/2014/main" val="2726991713"/>
                    </a:ext>
                  </a:extLst>
                </a:gridCol>
                <a:gridCol w="1232763">
                  <a:extLst>
                    <a:ext uri="{9D8B030D-6E8A-4147-A177-3AD203B41FA5}">
                      <a16:colId xmlns:a16="http://schemas.microsoft.com/office/drawing/2014/main" val="4292164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Operand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Operand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37009"/>
                  </a:ext>
                </a:extLst>
              </a:tr>
              <a:tr h="3712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774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425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366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993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531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752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7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04644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DC30EB9A-F7A1-CCEA-FF98-63AB539C6030}"/>
              </a:ext>
            </a:extLst>
          </p:cNvPr>
          <p:cNvSpPr txBox="1"/>
          <p:nvPr/>
        </p:nvSpPr>
        <p:spPr>
          <a:xfrm>
            <a:off x="949572" y="6385760"/>
            <a:ext cx="1094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By abstracting the actual values, we have simplified the analysis but lost precision</a:t>
            </a:r>
          </a:p>
        </p:txBody>
      </p:sp>
    </p:spTree>
    <p:extLst>
      <p:ext uri="{BB962C8B-B14F-4D97-AF65-F5344CB8AC3E}">
        <p14:creationId xmlns:p14="http://schemas.microsoft.com/office/powerpoint/2010/main" val="224655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E91D6-94A6-B8B8-C75F-E9936A17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Zero Analysis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0BDDF15C-997D-ABA9-F559-9DFFC80A96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8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BF9B6-C4AD-40F0-92BC-DFB96B806C2D}"/>
              </a:ext>
            </a:extLst>
          </p:cNvPr>
          <p:cNvSpPr/>
          <p:nvPr/>
        </p:nvSpPr>
        <p:spPr bwMode="auto">
          <a:xfrm>
            <a:off x="1266098" y="3554138"/>
            <a:ext cx="1704800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y &gt; -1?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6F8E51-48BD-EDE1-CA1A-2E0A20009702}"/>
              </a:ext>
            </a:extLst>
          </p:cNvPr>
          <p:cNvSpPr/>
          <p:nvPr/>
        </p:nvSpPr>
        <p:spPr bwMode="auto">
          <a:xfrm>
            <a:off x="1266099" y="1846724"/>
            <a:ext cx="1704800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x = 10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D2C4FD-651C-E929-EFBC-50EB3E9DB24C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 bwMode="auto">
          <a:xfrm>
            <a:off x="2118499" y="2779828"/>
            <a:ext cx="0" cy="19444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BF99C5-BF6B-E8F7-09E4-3037BDB52833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 bwMode="auto">
          <a:xfrm>
            <a:off x="2118499" y="2216056"/>
            <a:ext cx="0" cy="19444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5B3BAD-DB32-B1A5-41E5-438FEBFC8F23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 bwMode="auto">
          <a:xfrm>
            <a:off x="2118498" y="3923470"/>
            <a:ext cx="0" cy="22158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15C6143-2B65-1EEA-1564-D98B60655783}"/>
              </a:ext>
            </a:extLst>
          </p:cNvPr>
          <p:cNvSpPr/>
          <p:nvPr/>
        </p:nvSpPr>
        <p:spPr bwMode="auto">
          <a:xfrm>
            <a:off x="1266098" y="4145052"/>
            <a:ext cx="1704800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x = x / 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38A561-9952-E33C-074D-FE74137E2733}"/>
              </a:ext>
            </a:extLst>
          </p:cNvPr>
          <p:cNvSpPr/>
          <p:nvPr/>
        </p:nvSpPr>
        <p:spPr bwMode="auto">
          <a:xfrm>
            <a:off x="1266097" y="5954961"/>
            <a:ext cx="1704800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alibri"/>
                <a:cs typeface="Calibri"/>
              </a:rPr>
              <a:t>p = 100/x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D0D589-22FF-5404-1944-EA2EF33490ED}"/>
              </a:ext>
            </a:extLst>
          </p:cNvPr>
          <p:cNvSpPr/>
          <p:nvPr/>
        </p:nvSpPr>
        <p:spPr bwMode="auto">
          <a:xfrm>
            <a:off x="1266099" y="4780506"/>
            <a:ext cx="1704800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y = y - 1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86435C-13FF-3D01-20B3-486CE9320C87}"/>
              </a:ext>
            </a:extLst>
          </p:cNvPr>
          <p:cNvSpPr/>
          <p:nvPr/>
        </p:nvSpPr>
        <p:spPr bwMode="auto">
          <a:xfrm>
            <a:off x="1266099" y="2410496"/>
            <a:ext cx="1704800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y = 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0D552A-2B63-CED4-B49A-310C37A5F642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 bwMode="auto">
          <a:xfrm>
            <a:off x="2118498" y="4514384"/>
            <a:ext cx="1" cy="26612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4" name="Curved Connector 16">
            <a:extLst>
              <a:ext uri="{FF2B5EF4-FFF2-40B4-BE49-F238E27FC236}">
                <a16:creationId xmlns:a16="http://schemas.microsoft.com/office/drawing/2014/main" id="{424A6BE9-C64C-609C-1C82-1BB9E15147D6}"/>
              </a:ext>
            </a:extLst>
          </p:cNvPr>
          <p:cNvCxnSpPr>
            <a:cxnSpLocks/>
            <a:stCxn id="17" idx="1"/>
            <a:endCxn id="4" idx="1"/>
          </p:cNvCxnSpPr>
          <p:nvPr/>
        </p:nvCxnSpPr>
        <p:spPr>
          <a:xfrm rot="10800000">
            <a:off x="1266098" y="3738805"/>
            <a:ext cx="12700" cy="1845745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F3DCF62-4830-7194-B949-A7FF76D3DB0F}"/>
              </a:ext>
            </a:extLst>
          </p:cNvPr>
          <p:cNvSpPr/>
          <p:nvPr/>
        </p:nvSpPr>
        <p:spPr bwMode="auto">
          <a:xfrm>
            <a:off x="1266099" y="2974268"/>
            <a:ext cx="1704800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z = 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0597B0-69CE-AF9C-7864-E95F318298F0}"/>
              </a:ext>
            </a:extLst>
          </p:cNvPr>
          <p:cNvCxnSpPr>
            <a:cxnSpLocks/>
            <a:stCxn id="15" idx="2"/>
            <a:endCxn id="4" idx="0"/>
          </p:cNvCxnSpPr>
          <p:nvPr/>
        </p:nvCxnSpPr>
        <p:spPr bwMode="auto">
          <a:xfrm flipH="1">
            <a:off x="2118498" y="3343600"/>
            <a:ext cx="1" cy="21053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9853FF2-522E-F44B-62BC-FA7FC4E0F34A}"/>
              </a:ext>
            </a:extLst>
          </p:cNvPr>
          <p:cNvSpPr/>
          <p:nvPr/>
        </p:nvSpPr>
        <p:spPr bwMode="auto">
          <a:xfrm>
            <a:off x="1266098" y="5399883"/>
            <a:ext cx="1704800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z = 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6A7C68-D8E4-116E-6232-9F3850C5D4D0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 bwMode="auto">
          <a:xfrm flipH="1">
            <a:off x="2118498" y="5149838"/>
            <a:ext cx="1" cy="25004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9" name="Curved Connector 50">
            <a:extLst>
              <a:ext uri="{FF2B5EF4-FFF2-40B4-BE49-F238E27FC236}">
                <a16:creationId xmlns:a16="http://schemas.microsoft.com/office/drawing/2014/main" id="{A18F79E8-6890-EC1E-AA68-7E3A90E643C3}"/>
              </a:ext>
            </a:extLst>
          </p:cNvPr>
          <p:cNvCxnSpPr>
            <a:cxnSpLocks/>
            <a:stCxn id="4" idx="3"/>
            <a:endCxn id="10" idx="3"/>
          </p:cNvCxnSpPr>
          <p:nvPr/>
        </p:nvCxnSpPr>
        <p:spPr>
          <a:xfrm flipH="1">
            <a:off x="2970897" y="3738804"/>
            <a:ext cx="1" cy="2400823"/>
          </a:xfrm>
          <a:prstGeom prst="bentConnector3">
            <a:avLst>
              <a:gd name="adj1" fmla="val -2286000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A21155B-0BBB-3931-EC91-C552DEE43479}"/>
              </a:ext>
            </a:extLst>
          </p:cNvPr>
          <p:cNvSpPr txBox="1"/>
          <p:nvPr/>
        </p:nvSpPr>
        <p:spPr>
          <a:xfrm>
            <a:off x="3700138" y="1856286"/>
            <a:ext cx="60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25C345-DC9F-5A30-1F0C-F9C94B1D52D2}"/>
              </a:ext>
            </a:extLst>
          </p:cNvPr>
          <p:cNvSpPr txBox="1"/>
          <p:nvPr/>
        </p:nvSpPr>
        <p:spPr>
          <a:xfrm>
            <a:off x="3669288" y="2410496"/>
            <a:ext cx="1136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/>
              <a:t>y:NZ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D0DA35-45A5-4121-A0D3-BAF8BDDAFFC3}"/>
              </a:ext>
            </a:extLst>
          </p:cNvPr>
          <p:cNvSpPr txBox="1"/>
          <p:nvPr/>
        </p:nvSpPr>
        <p:spPr>
          <a:xfrm>
            <a:off x="3669288" y="2960049"/>
            <a:ext cx="150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/>
              <a:t>y:NZ</a:t>
            </a:r>
            <a:r>
              <a:rPr lang="en-US" dirty="0"/>
              <a:t>, </a:t>
            </a:r>
            <a:r>
              <a:rPr lang="en-US" dirty="0" err="1"/>
              <a:t>z:Z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792173-BD72-A1D3-A2C8-5902860F470C}"/>
              </a:ext>
            </a:extLst>
          </p:cNvPr>
          <p:cNvSpPr txBox="1"/>
          <p:nvPr/>
        </p:nvSpPr>
        <p:spPr>
          <a:xfrm>
            <a:off x="3681011" y="3575665"/>
            <a:ext cx="150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/>
              <a:t>y:NZ</a:t>
            </a:r>
            <a:r>
              <a:rPr lang="en-US" dirty="0"/>
              <a:t>, </a:t>
            </a:r>
            <a:r>
              <a:rPr lang="en-US" dirty="0" err="1"/>
              <a:t>z:Z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A38283-771C-5309-90F8-63C84724FCC6}"/>
              </a:ext>
            </a:extLst>
          </p:cNvPr>
          <p:cNvSpPr txBox="1"/>
          <p:nvPr/>
        </p:nvSpPr>
        <p:spPr>
          <a:xfrm>
            <a:off x="3676692" y="4145052"/>
            <a:ext cx="150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/>
              <a:t>y:NZ</a:t>
            </a:r>
            <a:r>
              <a:rPr lang="en-US" dirty="0"/>
              <a:t>, </a:t>
            </a:r>
            <a:r>
              <a:rPr lang="en-US" dirty="0" err="1"/>
              <a:t>z:Z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E0B1F7-0180-B766-6F2E-8297A1E95420}"/>
              </a:ext>
            </a:extLst>
          </p:cNvPr>
          <p:cNvSpPr txBox="1"/>
          <p:nvPr/>
        </p:nvSpPr>
        <p:spPr>
          <a:xfrm>
            <a:off x="3685330" y="4754549"/>
            <a:ext cx="1555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y:MZ</a:t>
            </a:r>
            <a:r>
              <a:rPr lang="en-US" dirty="0"/>
              <a:t>, </a:t>
            </a:r>
            <a:r>
              <a:rPr lang="en-US" dirty="0" err="1"/>
              <a:t>z:Z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55DD98-A877-FFE9-CAD1-5CCD3CA6C5B4}"/>
              </a:ext>
            </a:extLst>
          </p:cNvPr>
          <p:cNvSpPr txBox="1"/>
          <p:nvPr/>
        </p:nvSpPr>
        <p:spPr>
          <a:xfrm>
            <a:off x="3663415" y="5388160"/>
            <a:ext cx="1704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/>
              <a:t>y:MZ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z:NZ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C53C20-5BB3-6490-F0E8-C8D70F089D90}"/>
              </a:ext>
            </a:extLst>
          </p:cNvPr>
          <p:cNvSpPr txBox="1"/>
          <p:nvPr/>
        </p:nvSpPr>
        <p:spPr>
          <a:xfrm>
            <a:off x="5941637" y="3547975"/>
            <a:ext cx="17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y:MZ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z:MZ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53CB90-79EC-3D43-57F3-2419E2E7C2BD}"/>
              </a:ext>
            </a:extLst>
          </p:cNvPr>
          <p:cNvSpPr txBox="1"/>
          <p:nvPr/>
        </p:nvSpPr>
        <p:spPr>
          <a:xfrm>
            <a:off x="5941637" y="4073358"/>
            <a:ext cx="17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y:MZ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z:MZ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733D87-B2DF-07C0-FABC-2BD7B53D0C5B}"/>
              </a:ext>
            </a:extLst>
          </p:cNvPr>
          <p:cNvSpPr txBox="1"/>
          <p:nvPr/>
        </p:nvSpPr>
        <p:spPr>
          <a:xfrm>
            <a:off x="5955558" y="4704459"/>
            <a:ext cx="17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y:MZ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z:MZ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5552F2-5797-F2BE-47A9-F1AB49E660FB}"/>
              </a:ext>
            </a:extLst>
          </p:cNvPr>
          <p:cNvSpPr txBox="1"/>
          <p:nvPr/>
        </p:nvSpPr>
        <p:spPr>
          <a:xfrm>
            <a:off x="5955558" y="5370093"/>
            <a:ext cx="1537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x:NZ, </a:t>
            </a:r>
            <a:r>
              <a:rPr lang="en-US" dirty="0">
                <a:solidFill>
                  <a:srgbClr val="000000"/>
                </a:solidFill>
              </a:rPr>
              <a:t>y:MZ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z:NZ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D0C9A4-4BEA-4486-9FFB-E6068107A00A}"/>
              </a:ext>
            </a:extLst>
          </p:cNvPr>
          <p:cNvSpPr txBox="1"/>
          <p:nvPr/>
        </p:nvSpPr>
        <p:spPr>
          <a:xfrm>
            <a:off x="8303786" y="3524773"/>
            <a:ext cx="17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x:NZ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y:MZ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z:MZ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A65A6C-BB58-BD60-9A6D-D3AB8CDF47F8}"/>
              </a:ext>
            </a:extLst>
          </p:cNvPr>
          <p:cNvSpPr txBox="1"/>
          <p:nvPr/>
        </p:nvSpPr>
        <p:spPr>
          <a:xfrm>
            <a:off x="8303786" y="4115687"/>
            <a:ext cx="17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x:NZ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y:MZ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z:MZ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64859E-4FED-38CE-C39B-82F97E9EFE9E}"/>
              </a:ext>
            </a:extLst>
          </p:cNvPr>
          <p:cNvSpPr txBox="1"/>
          <p:nvPr/>
        </p:nvSpPr>
        <p:spPr>
          <a:xfrm>
            <a:off x="8303786" y="4751141"/>
            <a:ext cx="17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x:NZ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y:MZ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z:MZ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064AF3-F54D-03F7-0FF0-86B622D14A0D}"/>
              </a:ext>
            </a:extLst>
          </p:cNvPr>
          <p:cNvSpPr txBox="1"/>
          <p:nvPr/>
        </p:nvSpPr>
        <p:spPr>
          <a:xfrm>
            <a:off x="8303786" y="5370518"/>
            <a:ext cx="1537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x:NZ, y:MZ, z:NZ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14C81A-5D88-6BDB-960B-87DC0056E8BB}"/>
              </a:ext>
            </a:extLst>
          </p:cNvPr>
          <p:cNvSpPr txBox="1"/>
          <p:nvPr/>
        </p:nvSpPr>
        <p:spPr>
          <a:xfrm>
            <a:off x="8303786" y="5925596"/>
            <a:ext cx="1704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x:NZ, y:MZ, z:NZ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81938E-6ECB-1A45-DA81-72B3DFBFC18A}"/>
              </a:ext>
            </a:extLst>
          </p:cNvPr>
          <p:cNvSpPr txBox="1"/>
          <p:nvPr/>
        </p:nvSpPr>
        <p:spPr>
          <a:xfrm>
            <a:off x="5161631" y="1490382"/>
            <a:ext cx="69214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Step 1: Apply abstraction: Zero/Non-Zero/Maybe-Zero</a:t>
            </a:r>
          </a:p>
          <a:p>
            <a:endParaRPr lang="en-US" sz="2000" b="1" i="1" dirty="0"/>
          </a:p>
          <a:p>
            <a:r>
              <a:rPr lang="en-US" sz="2000" b="1" i="1" dirty="0"/>
              <a:t>We don’t care about the actual values of x, y, and z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5B3BF2-8325-79F4-A1C1-E47CADFF37CC}"/>
              </a:ext>
            </a:extLst>
          </p:cNvPr>
          <p:cNvSpPr txBox="1"/>
          <p:nvPr/>
        </p:nvSpPr>
        <p:spPr>
          <a:xfrm>
            <a:off x="3686860" y="6302400"/>
            <a:ext cx="1704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Iteration 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EF07C18-945E-EA7E-9715-7BAC3FF1D3EA}"/>
              </a:ext>
            </a:extLst>
          </p:cNvPr>
          <p:cNvSpPr/>
          <p:nvPr/>
        </p:nvSpPr>
        <p:spPr>
          <a:xfrm>
            <a:off x="4149969" y="4704459"/>
            <a:ext cx="655943" cy="403274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BAE62D0-D7F9-5F61-0EA2-2CAAAD37A53E}"/>
              </a:ext>
            </a:extLst>
          </p:cNvPr>
          <p:cNvSpPr/>
          <p:nvPr/>
        </p:nvSpPr>
        <p:spPr>
          <a:xfrm>
            <a:off x="6447693" y="3429000"/>
            <a:ext cx="1050586" cy="488307"/>
          </a:xfrm>
          <a:prstGeom prst="rect">
            <a:avLst/>
          </a:prstGeom>
          <a:noFill/>
          <a:ln w="3175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75D82EF-0982-9D13-E127-28E7B7D83F63}"/>
              </a:ext>
            </a:extLst>
          </p:cNvPr>
          <p:cNvSpPr txBox="1"/>
          <p:nvPr/>
        </p:nvSpPr>
        <p:spPr>
          <a:xfrm>
            <a:off x="5955558" y="5941222"/>
            <a:ext cx="1537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x:NZ, </a:t>
            </a:r>
            <a:r>
              <a:rPr lang="en-US" dirty="0">
                <a:solidFill>
                  <a:srgbClr val="000000"/>
                </a:solidFill>
              </a:rPr>
              <a:t>y:MZ</a:t>
            </a:r>
            <a:r>
              <a:rPr lang="en-US" dirty="0">
                <a:solidFill>
                  <a:schemeClr val="tx1"/>
                </a:solidFill>
              </a:rPr>
              <a:t>, z:NZ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B2EC67-A98B-6AAD-5474-B26EB9680459}"/>
              </a:ext>
            </a:extLst>
          </p:cNvPr>
          <p:cNvSpPr txBox="1"/>
          <p:nvPr/>
        </p:nvSpPr>
        <p:spPr>
          <a:xfrm>
            <a:off x="3663415" y="5917285"/>
            <a:ext cx="1704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/>
              <a:t>y:MZ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z:NZ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90BFC1-F670-62AE-DB9A-C1890B2E1B7C}"/>
              </a:ext>
            </a:extLst>
          </p:cNvPr>
          <p:cNvSpPr txBox="1"/>
          <p:nvPr/>
        </p:nvSpPr>
        <p:spPr>
          <a:xfrm>
            <a:off x="5979734" y="6324293"/>
            <a:ext cx="1704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Iteration 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5F63F7-7768-99A5-DE52-62FD6BC254E4}"/>
              </a:ext>
            </a:extLst>
          </p:cNvPr>
          <p:cNvSpPr txBox="1"/>
          <p:nvPr/>
        </p:nvSpPr>
        <p:spPr>
          <a:xfrm>
            <a:off x="8352138" y="6295282"/>
            <a:ext cx="1704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Iteration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A32BC-C3EC-0BF3-5917-64E19CDF0D71}"/>
              </a:ext>
            </a:extLst>
          </p:cNvPr>
          <p:cNvSpPr txBox="1"/>
          <p:nvPr/>
        </p:nvSpPr>
        <p:spPr>
          <a:xfrm>
            <a:off x="676451" y="4318731"/>
            <a:ext cx="339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8FCAB1-0A7B-9A2A-D004-2CA3F3BA668A}"/>
              </a:ext>
            </a:extLst>
          </p:cNvPr>
          <p:cNvSpPr txBox="1"/>
          <p:nvPr/>
        </p:nvSpPr>
        <p:spPr>
          <a:xfrm>
            <a:off x="2181658" y="3300503"/>
            <a:ext cx="339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5024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2" grpId="0"/>
      <p:bldP spid="33" grpId="0"/>
      <p:bldP spid="34" grpId="0"/>
      <p:bldP spid="35" grpId="0"/>
      <p:bldP spid="36" grpId="0"/>
      <p:bldP spid="49" grpId="0"/>
      <p:bldP spid="51" grpId="0" animBg="1"/>
      <p:bldP spid="52" grpId="0" animBg="1"/>
      <p:bldP spid="53" grpId="0"/>
      <p:bldP spid="54" grpId="0"/>
      <p:bldP spid="55" grpId="0"/>
      <p:bldP spid="56" grpId="0"/>
      <p:bldP spid="3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D966E-88AB-F318-E1E9-17FBA503C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B2E2B-2BE1-D4DE-2376-B00610C71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Analysis values will not change, no matter how many times loop executes</a:t>
            </a:r>
          </a:p>
          <a:p>
            <a:pPr lvl="1"/>
            <a:r>
              <a:rPr lang="en-US" dirty="0"/>
              <a:t>Proof: our analysis is deterministic</a:t>
            </a:r>
          </a:p>
          <a:p>
            <a:pPr lvl="2"/>
            <a:r>
              <a:rPr lang="en-US" dirty="0"/>
              <a:t>We run through the loop with the current analysis values, none of them change. Therefore, no matter how many times we run the loop, the results will remain the same</a:t>
            </a:r>
          </a:p>
          <a:p>
            <a:pPr lvl="1"/>
            <a:r>
              <a:rPr lang="en-US" dirty="0"/>
              <a:t>Therefore, we have computed the zero analysis results for any number of loop iterations</a:t>
            </a:r>
          </a:p>
          <a:p>
            <a:r>
              <a:rPr lang="en-US" dirty="0"/>
              <a:t>Important: We don’t care about how many iterations the loop makes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7B10C-1BC3-CEC7-F2F9-9DF1DEB689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9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BBCB0-7B12-2CB5-9FF7-25EED7CBD418}"/>
              </a:ext>
            </a:extLst>
          </p:cNvPr>
          <p:cNvSpPr/>
          <p:nvPr/>
        </p:nvSpPr>
        <p:spPr>
          <a:xfrm>
            <a:off x="3492011" y="5574159"/>
            <a:ext cx="5916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cs typeface="Courier New"/>
              </a:rPr>
              <a:t>Example final result:</a:t>
            </a:r>
            <a:r>
              <a:rPr lang="en-US" sz="2400" b="1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lang="en-US" sz="2400" b="1" u="sng" dirty="0">
                <a:solidFill>
                  <a:srgbClr val="008000"/>
                </a:solidFill>
                <a:latin typeface="Courier New"/>
                <a:cs typeface="Courier New"/>
              </a:rPr>
              <a:t>x:NZ</a:t>
            </a:r>
            <a:r>
              <a:rPr lang="en-US" sz="2400" b="1" dirty="0">
                <a:solidFill>
                  <a:srgbClr val="008000"/>
                </a:solidFill>
                <a:latin typeface="Courier New"/>
                <a:cs typeface="Courier New"/>
              </a:rPr>
              <a:t>, </a:t>
            </a:r>
            <a:r>
              <a:rPr lang="en-US" sz="2400" b="1" dirty="0" err="1">
                <a:solidFill>
                  <a:srgbClr val="008000"/>
                </a:solidFill>
                <a:latin typeface="Courier New"/>
                <a:cs typeface="Courier New"/>
              </a:rPr>
              <a:t>y:MZ</a:t>
            </a:r>
            <a:r>
              <a:rPr lang="en-US" sz="2400" b="1" dirty="0">
                <a:solidFill>
                  <a:srgbClr val="008000"/>
                </a:solidFill>
                <a:latin typeface="Courier New"/>
                <a:cs typeface="Courier New"/>
              </a:rPr>
              <a:t>, </a:t>
            </a:r>
            <a:r>
              <a:rPr lang="en-US" sz="2400" b="1" dirty="0" err="1">
                <a:solidFill>
                  <a:srgbClr val="008000"/>
                </a:solidFill>
                <a:latin typeface="Courier New"/>
                <a:cs typeface="Courier New"/>
              </a:rPr>
              <a:t>z:MZ</a:t>
            </a:r>
            <a:endParaRPr lang="en-US" sz="2400" b="1" dirty="0">
              <a:solidFill>
                <a:srgbClr val="0080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86973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E0FE-2FAF-11E1-FC66-1D2628544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at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6D24A-D889-2A1C-1F0E-9D3EB4377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of possible states gigantic</a:t>
            </a:r>
          </a:p>
          <a:p>
            <a:pPr lvl="1"/>
            <a:r>
              <a:rPr lang="en-US" dirty="0"/>
              <a:t>n 32 bit variables results in 2</a:t>
            </a:r>
            <a:r>
              <a:rPr lang="en-US" baseline="30000" dirty="0"/>
              <a:t>32*n</a:t>
            </a:r>
            <a:r>
              <a:rPr lang="en-US" dirty="0"/>
              <a:t> states</a:t>
            </a:r>
          </a:p>
          <a:p>
            <a:pPr lvl="2"/>
            <a:r>
              <a:rPr lang="en-US" dirty="0"/>
              <a:t>2</a:t>
            </a:r>
            <a:r>
              <a:rPr lang="en-US" baseline="30000" dirty="0"/>
              <a:t>(32*3)</a:t>
            </a:r>
            <a:r>
              <a:rPr lang="en-US" dirty="0"/>
              <a:t> = 2</a:t>
            </a:r>
            <a:r>
              <a:rPr lang="en-US" baseline="30000" dirty="0"/>
              <a:t>96</a:t>
            </a:r>
          </a:p>
          <a:p>
            <a:pPr lvl="1"/>
            <a:r>
              <a:rPr lang="en-US" dirty="0"/>
              <a:t>With loops, states can change indefinitely</a:t>
            </a:r>
          </a:p>
          <a:p>
            <a:r>
              <a:rPr lang="en-US" dirty="0"/>
              <a:t>Zero Analysis narrows the state space </a:t>
            </a:r>
          </a:p>
          <a:p>
            <a:pPr lvl="1"/>
            <a:r>
              <a:rPr lang="en-US" dirty="0"/>
              <a:t>Zero or not zero</a:t>
            </a:r>
          </a:p>
          <a:p>
            <a:pPr lvl="1"/>
            <a:r>
              <a:rPr lang="en-US" dirty="0"/>
              <a:t>2</a:t>
            </a:r>
            <a:r>
              <a:rPr lang="en-US" baseline="30000" dirty="0"/>
              <a:t>(2*3)</a:t>
            </a:r>
            <a:r>
              <a:rPr lang="en-US" dirty="0"/>
              <a:t> = 2</a:t>
            </a:r>
            <a:r>
              <a:rPr lang="en-US" baseline="30000" dirty="0"/>
              <a:t>6</a:t>
            </a:r>
          </a:p>
          <a:p>
            <a:pPr lvl="1"/>
            <a:r>
              <a:rPr lang="en-US" dirty="0"/>
              <a:t>When this limited space is explored, then we are done</a:t>
            </a:r>
          </a:p>
          <a:p>
            <a:pPr lvl="2"/>
            <a:r>
              <a:rPr lang="en-US" dirty="0"/>
              <a:t>Extrapolate over all loop iterations</a:t>
            </a:r>
          </a:p>
          <a:p>
            <a:r>
              <a:rPr lang="en-US" dirty="0"/>
              <a:t>Improves scalability but lose precision (Maybe-Zero)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70DA2-8FB5-3F89-A874-43C5FD1BAF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62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F52ED-504B-794D-D2E5-3D368E965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480C30-8D89-66DB-B011-E5A9E58010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11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AA4286-773C-CAB4-1DC5-13A18ED563C8}"/>
              </a:ext>
            </a:extLst>
          </p:cNvPr>
          <p:cNvSpPr txBox="1">
            <a:spLocks noChangeArrowheads="1"/>
          </p:cNvSpPr>
          <p:nvPr/>
        </p:nvSpPr>
        <p:spPr>
          <a:xfrm>
            <a:off x="1436077" y="1547446"/>
            <a:ext cx="5486400" cy="48409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Integer x = new Integer(6);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Integer y = </a:t>
            </a:r>
            <a:r>
              <a:rPr lang="en-US" sz="2000" b="1" dirty="0">
                <a:solidFill>
                  <a:srgbClr val="C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bar()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; // external</a:t>
            </a:r>
            <a:b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                // library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int z;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if (y != null)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z =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 +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y.intVal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else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z =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y = x;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x = null;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}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return z +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9942C0-D8B5-FE72-2929-C223B86E3F7A}"/>
              </a:ext>
            </a:extLst>
          </p:cNvPr>
          <p:cNvSpPr txBox="1"/>
          <p:nvPr/>
        </p:nvSpPr>
        <p:spPr>
          <a:xfrm>
            <a:off x="7428523" y="2223676"/>
            <a:ext cx="332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Are there any possible </a:t>
            </a:r>
            <a:r>
              <a:rPr lang="en-US" sz="2800" b="1" i="1" dirty="0"/>
              <a:t>null pointer exceptions </a:t>
            </a:r>
            <a:r>
              <a:rPr lang="en-US" sz="2800" i="1" dirty="0"/>
              <a:t>in this code?</a:t>
            </a:r>
          </a:p>
        </p:txBody>
      </p:sp>
    </p:spTree>
    <p:extLst>
      <p:ext uri="{BB962C8B-B14F-4D97-AF65-F5344CB8AC3E}">
        <p14:creationId xmlns:p14="http://schemas.microsoft.com/office/powerpoint/2010/main" val="1412619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C89C-C090-C2E1-C8F7-9D54BA4B9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graph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7DB69A-3592-2389-A4BC-E50A41E091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12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B428A-17F8-A133-BC07-A814325D4DB2}"/>
              </a:ext>
            </a:extLst>
          </p:cNvPr>
          <p:cNvSpPr/>
          <p:nvPr/>
        </p:nvSpPr>
        <p:spPr bwMode="auto">
          <a:xfrm>
            <a:off x="7178875" y="1159314"/>
            <a:ext cx="3811256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Integer x = new Integer(6);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FD1D3AF-85BD-CCAD-027F-9745373CBE6B}"/>
              </a:ext>
            </a:extLst>
          </p:cNvPr>
          <p:cNvCxnSpPr>
            <a:stCxn id="6" idx="2"/>
            <a:endCxn id="8" idx="0"/>
          </p:cNvCxnSpPr>
          <p:nvPr/>
        </p:nvCxnSpPr>
        <p:spPr bwMode="auto">
          <a:xfrm flipH="1">
            <a:off x="7457423" y="3897249"/>
            <a:ext cx="1627080" cy="6257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9FE1603-A279-D6CD-09B0-EF74EFBF4F13}"/>
              </a:ext>
            </a:extLst>
          </p:cNvPr>
          <p:cNvSpPr/>
          <p:nvPr/>
        </p:nvSpPr>
        <p:spPr bwMode="auto">
          <a:xfrm>
            <a:off x="7892385" y="3531489"/>
            <a:ext cx="2384236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 if (y != null)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8BD47F3-40FC-AAF8-AE76-A952989E72DD}"/>
              </a:ext>
            </a:extLst>
          </p:cNvPr>
          <p:cNvGrpSpPr/>
          <p:nvPr/>
        </p:nvGrpSpPr>
        <p:grpSpPr>
          <a:xfrm>
            <a:off x="6243520" y="4409560"/>
            <a:ext cx="5302315" cy="849772"/>
            <a:chOff x="3840289" y="3760210"/>
            <a:chExt cx="5302315" cy="8497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1773558-F932-5D83-718A-71CB13CE0972}"/>
                </a:ext>
              </a:extLst>
            </p:cNvPr>
            <p:cNvSpPr/>
            <p:nvPr/>
          </p:nvSpPr>
          <p:spPr bwMode="auto">
            <a:xfrm>
              <a:off x="3840289" y="3873686"/>
              <a:ext cx="2427805" cy="63365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spcBef>
                  <a:spcPct val="0"/>
                </a:spcBef>
              </a:pP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 z = </a:t>
              </a:r>
              <a:r>
                <a:rPr lang="en-US" sz="1600" dirty="0" err="1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x.intVal</a:t>
              </a: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() + </a:t>
              </a:r>
              <a:r>
                <a:rPr lang="en-US" sz="1600" dirty="0" err="1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y.intVal</a:t>
              </a: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();</a:t>
              </a:r>
              <a:endParaRPr lang="en-US" sz="1600" dirty="0">
                <a:latin typeface="Courier"/>
                <a:cs typeface="Courier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AC8EB33-ACD0-120D-6EFF-58174BF5777B}"/>
                </a:ext>
              </a:extLst>
            </p:cNvPr>
            <p:cNvSpPr/>
            <p:nvPr/>
          </p:nvSpPr>
          <p:spPr bwMode="auto">
            <a:xfrm>
              <a:off x="6586958" y="3760210"/>
              <a:ext cx="2555646" cy="84977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spcBef>
                  <a:spcPct val="0"/>
                </a:spcBef>
                <a:defRPr/>
              </a:pP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 z = </a:t>
              </a:r>
              <a:r>
                <a:rPr lang="en-US" sz="1600" dirty="0" err="1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x.intVal</a:t>
              </a: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();</a:t>
              </a:r>
            </a:p>
            <a:p>
              <a:pPr>
                <a:spcBef>
                  <a:spcPct val="0"/>
                </a:spcBef>
                <a:defRPr/>
              </a:pP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 y = x;</a:t>
              </a:r>
            </a:p>
            <a:p>
              <a:pPr>
                <a:spcBef>
                  <a:spcPct val="0"/>
                </a:spcBef>
                <a:defRPr/>
              </a:pP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 x = null;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F3DF31AA-1A71-1BF6-8523-4FD3CB9BFF45}"/>
              </a:ext>
            </a:extLst>
          </p:cNvPr>
          <p:cNvSpPr/>
          <p:nvPr/>
        </p:nvSpPr>
        <p:spPr bwMode="auto">
          <a:xfrm>
            <a:off x="7375628" y="5811203"/>
            <a:ext cx="3417752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ourier"/>
                <a:ea typeface="ＭＳ Ｐゴシック" pitchFamily="34" charset="-128"/>
                <a:cs typeface="Courier"/>
              </a:rPr>
              <a:t> return z + </a:t>
            </a:r>
            <a:r>
              <a:rPr lang="en-US" sz="1600" dirty="0" err="1">
                <a:solidFill>
                  <a:srgbClr val="000000"/>
                </a:solidFill>
                <a:latin typeface="Courier"/>
                <a:ea typeface="ＭＳ Ｐゴシック" pitchFamily="34" charset="-128"/>
                <a:cs typeface="Courier"/>
              </a:rPr>
              <a:t>x.intVal</a:t>
            </a:r>
            <a:r>
              <a:rPr lang="en-US" sz="1600" dirty="0">
                <a:solidFill>
                  <a:srgbClr val="000000"/>
                </a:solidFill>
                <a:latin typeface="Courier"/>
                <a:ea typeface="ＭＳ Ｐゴシック" pitchFamily="34" charset="-128"/>
                <a:cs typeface="Courier"/>
              </a:rPr>
              <a:t>();</a:t>
            </a:r>
            <a:endParaRPr lang="en-US" sz="1600" dirty="0">
              <a:latin typeface="Courier"/>
              <a:cs typeface="Couri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B7802-2B4F-31B5-10A3-A0DC2D0C4B9F}"/>
              </a:ext>
            </a:extLst>
          </p:cNvPr>
          <p:cNvSpPr/>
          <p:nvPr/>
        </p:nvSpPr>
        <p:spPr bwMode="auto">
          <a:xfrm>
            <a:off x="7636736" y="1912847"/>
            <a:ext cx="2895535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Integer y = bar();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42D730-6CFD-CB5E-F460-BDF046E42BDD}"/>
              </a:ext>
            </a:extLst>
          </p:cNvPr>
          <p:cNvSpPr/>
          <p:nvPr/>
        </p:nvSpPr>
        <p:spPr bwMode="auto">
          <a:xfrm>
            <a:off x="8401223" y="2679225"/>
            <a:ext cx="1366561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 err="1">
                <a:latin typeface="Courier"/>
                <a:cs typeface="Courier"/>
              </a:rPr>
              <a:t>int</a:t>
            </a:r>
            <a:r>
              <a:rPr lang="en-US" sz="1600" dirty="0">
                <a:latin typeface="Courier"/>
                <a:cs typeface="Courier"/>
              </a:rPr>
              <a:t> z;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A45F6AE-854B-C448-90E7-9B8D88AB4464}"/>
              </a:ext>
            </a:extLst>
          </p:cNvPr>
          <p:cNvCxnSpPr>
            <a:stCxn id="4" idx="2"/>
            <a:endCxn id="11" idx="0"/>
          </p:cNvCxnSpPr>
          <p:nvPr/>
        </p:nvCxnSpPr>
        <p:spPr bwMode="auto">
          <a:xfrm>
            <a:off x="9084503" y="1525074"/>
            <a:ext cx="1" cy="38777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8D2198-49D9-9465-6B18-9E9902768310}"/>
              </a:ext>
            </a:extLst>
          </p:cNvPr>
          <p:cNvCxnSpPr>
            <a:stCxn id="11" idx="2"/>
            <a:endCxn id="12" idx="0"/>
          </p:cNvCxnSpPr>
          <p:nvPr/>
        </p:nvCxnSpPr>
        <p:spPr bwMode="auto">
          <a:xfrm>
            <a:off x="9084504" y="2278607"/>
            <a:ext cx="0" cy="40061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631F00-AAA3-D4C1-95B7-87AACE5EB4EB}"/>
              </a:ext>
            </a:extLst>
          </p:cNvPr>
          <p:cNvCxnSpPr>
            <a:stCxn id="12" idx="2"/>
            <a:endCxn id="6" idx="0"/>
          </p:cNvCxnSpPr>
          <p:nvPr/>
        </p:nvCxnSpPr>
        <p:spPr bwMode="auto">
          <a:xfrm flipH="1">
            <a:off x="9084503" y="3044985"/>
            <a:ext cx="1" cy="48650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C61012-2E8C-8EAB-9463-646931D2646A}"/>
              </a:ext>
            </a:extLst>
          </p:cNvPr>
          <p:cNvCxnSpPr>
            <a:stCxn id="6" idx="2"/>
            <a:endCxn id="9" idx="0"/>
          </p:cNvCxnSpPr>
          <p:nvPr/>
        </p:nvCxnSpPr>
        <p:spPr bwMode="auto">
          <a:xfrm>
            <a:off x="9084503" y="3897249"/>
            <a:ext cx="1183509" cy="51231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538243-49FF-75AC-98CE-93324C10BE2D}"/>
              </a:ext>
            </a:extLst>
          </p:cNvPr>
          <p:cNvCxnSpPr>
            <a:stCxn id="8" idx="2"/>
            <a:endCxn id="10" idx="0"/>
          </p:cNvCxnSpPr>
          <p:nvPr/>
        </p:nvCxnSpPr>
        <p:spPr bwMode="auto">
          <a:xfrm>
            <a:off x="7457423" y="5156686"/>
            <a:ext cx="1627081" cy="65451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BB2223-2820-BEA3-C673-086DE5CDF8C0}"/>
              </a:ext>
            </a:extLst>
          </p:cNvPr>
          <p:cNvCxnSpPr>
            <a:stCxn id="9" idx="2"/>
            <a:endCxn id="10" idx="0"/>
          </p:cNvCxnSpPr>
          <p:nvPr/>
        </p:nvCxnSpPr>
        <p:spPr bwMode="auto">
          <a:xfrm flipH="1">
            <a:off x="9084504" y="5259332"/>
            <a:ext cx="1183508" cy="55187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20" name="Rectangle 3">
            <a:extLst>
              <a:ext uri="{FF2B5EF4-FFF2-40B4-BE49-F238E27FC236}">
                <a16:creationId xmlns:a16="http://schemas.microsoft.com/office/drawing/2014/main" id="{5448B10E-2F53-A94A-8F68-C6AE544F83D3}"/>
              </a:ext>
            </a:extLst>
          </p:cNvPr>
          <p:cNvSpPr txBox="1">
            <a:spLocks noChangeArrowheads="1"/>
          </p:cNvSpPr>
          <p:nvPr/>
        </p:nvSpPr>
        <p:spPr>
          <a:xfrm>
            <a:off x="591072" y="1526148"/>
            <a:ext cx="5486400" cy="48409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Integer x = new Integer(6);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Integer y = </a:t>
            </a:r>
            <a:r>
              <a:rPr lang="en-US" sz="2000" b="1" dirty="0">
                <a:solidFill>
                  <a:srgbClr val="C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bar()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; // external</a:t>
            </a:r>
            <a:b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                // library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int z;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if (y != null)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z =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 +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y.intVal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else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z =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y = x;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x = null;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}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return z +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94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CD5E4-E088-F75D-9076-5F3B98093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pointer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55D94-1958-9431-ED9E-F65735564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each variable in the program at all program points. </a:t>
            </a:r>
          </a:p>
          <a:p>
            <a:r>
              <a:rPr lang="en-US" dirty="0"/>
              <a:t>Abstraction:</a:t>
            </a:r>
          </a:p>
          <a:p>
            <a:pPr lvl="1"/>
            <a:r>
              <a:rPr lang="en-US" dirty="0"/>
              <a:t>Program counter</a:t>
            </a:r>
          </a:p>
          <a:p>
            <a:pPr lvl="1"/>
            <a:r>
              <a:rPr lang="en-US" dirty="0"/>
              <a:t>3 states for each variable: null, not-null, and maybe-null.</a:t>
            </a:r>
          </a:p>
          <a:p>
            <a:r>
              <a:rPr lang="en-US" dirty="0"/>
              <a:t>Then check if, at each dereference, the analysis has identified whether the dereferenced variable is or might be null.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04752-C19F-D4A1-6AE5-FA5118B7E6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57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C89C-C090-C2E1-C8F7-9D54BA4B9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graph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7FE426-0630-CFAF-A44E-3A2BEF6A42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14</a:t>
            </a:fld>
            <a:endParaRPr 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B72AA1DD-142A-3A5A-D01B-9B7690EE3C34}"/>
              </a:ext>
            </a:extLst>
          </p:cNvPr>
          <p:cNvSpPr txBox="1">
            <a:spLocks noChangeArrowheads="1"/>
          </p:cNvSpPr>
          <p:nvPr/>
        </p:nvSpPr>
        <p:spPr>
          <a:xfrm>
            <a:off x="539639" y="1540439"/>
            <a:ext cx="5486400" cy="48409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Integer x = new Integer(6);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Integer y = </a:t>
            </a:r>
            <a:r>
              <a:rPr lang="en-US" sz="2000" b="1" dirty="0">
                <a:solidFill>
                  <a:srgbClr val="C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bar()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; // external</a:t>
            </a:r>
            <a:b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                // library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int z;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if (y != null)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z =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 +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y.intVal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else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z =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y = x;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x = null;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}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return z +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CC1E64-3548-03B0-F93B-F0B79D61A4B4}"/>
              </a:ext>
            </a:extLst>
          </p:cNvPr>
          <p:cNvSpPr/>
          <p:nvPr/>
        </p:nvSpPr>
        <p:spPr bwMode="auto">
          <a:xfrm>
            <a:off x="7523998" y="769232"/>
            <a:ext cx="3811256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Integer x = new Integer(6);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F8F04BE-D52A-11BF-56CA-482761156FB8}"/>
              </a:ext>
            </a:extLst>
          </p:cNvPr>
          <p:cNvCxnSpPr>
            <a:stCxn id="28" idx="2"/>
            <a:endCxn id="30" idx="0"/>
          </p:cNvCxnSpPr>
          <p:nvPr/>
        </p:nvCxnSpPr>
        <p:spPr bwMode="auto">
          <a:xfrm flipH="1">
            <a:off x="7802546" y="3282939"/>
            <a:ext cx="1618471" cy="110011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E354164-8524-F61E-628D-F8E50B9BD015}"/>
              </a:ext>
            </a:extLst>
          </p:cNvPr>
          <p:cNvSpPr/>
          <p:nvPr/>
        </p:nvSpPr>
        <p:spPr bwMode="auto">
          <a:xfrm>
            <a:off x="8228899" y="2751806"/>
            <a:ext cx="2384236" cy="53113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 err="1">
                <a:latin typeface="Courier"/>
                <a:cs typeface="Courier"/>
              </a:rPr>
              <a:t>int</a:t>
            </a:r>
            <a:r>
              <a:rPr lang="en-US" sz="1600" dirty="0">
                <a:latin typeface="Courier"/>
                <a:cs typeface="Courier"/>
              </a:rPr>
              <a:t> z; </a:t>
            </a:r>
          </a:p>
          <a:p>
            <a:pPr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if (y != null)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7F32332-99E2-2DD6-71A5-BB3803138AB6}"/>
              </a:ext>
            </a:extLst>
          </p:cNvPr>
          <p:cNvGrpSpPr/>
          <p:nvPr/>
        </p:nvGrpSpPr>
        <p:grpSpPr>
          <a:xfrm>
            <a:off x="6588643" y="4269574"/>
            <a:ext cx="5302315" cy="849772"/>
            <a:chOff x="3840289" y="3760210"/>
            <a:chExt cx="5302315" cy="84977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A4A7FDF-9F71-6520-C903-E0681A67B154}"/>
                </a:ext>
              </a:extLst>
            </p:cNvPr>
            <p:cNvSpPr/>
            <p:nvPr/>
          </p:nvSpPr>
          <p:spPr bwMode="auto">
            <a:xfrm>
              <a:off x="3840289" y="3873686"/>
              <a:ext cx="2427805" cy="63365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spcBef>
                  <a:spcPct val="0"/>
                </a:spcBef>
              </a:pP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 z = </a:t>
              </a:r>
              <a:r>
                <a:rPr lang="en-US" sz="1600" dirty="0" err="1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x.intVal</a:t>
              </a: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() + </a:t>
              </a:r>
              <a:r>
                <a:rPr lang="en-US" sz="1600" dirty="0" err="1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y.intVal</a:t>
              </a: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();</a:t>
              </a:r>
              <a:endParaRPr lang="en-US" sz="1600" dirty="0">
                <a:latin typeface="Courier"/>
                <a:cs typeface="Courier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62FCF97-6497-9366-3535-5DB8E21BA856}"/>
                </a:ext>
              </a:extLst>
            </p:cNvPr>
            <p:cNvSpPr/>
            <p:nvPr/>
          </p:nvSpPr>
          <p:spPr bwMode="auto">
            <a:xfrm>
              <a:off x="6586958" y="3760210"/>
              <a:ext cx="2555646" cy="84977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spcBef>
                  <a:spcPct val="0"/>
                </a:spcBef>
                <a:defRPr/>
              </a:pP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 z = </a:t>
              </a:r>
              <a:r>
                <a:rPr lang="en-US" sz="1600" dirty="0" err="1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x.intVal</a:t>
              </a: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();</a:t>
              </a:r>
            </a:p>
            <a:p>
              <a:pPr>
                <a:spcBef>
                  <a:spcPct val="0"/>
                </a:spcBef>
                <a:defRPr/>
              </a:pP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 y = x;</a:t>
              </a:r>
            </a:p>
            <a:p>
              <a:pPr>
                <a:spcBef>
                  <a:spcPct val="0"/>
                </a:spcBef>
                <a:defRPr/>
              </a:pP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 x = null;</a:t>
              </a: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7CE73D3C-AAB3-D6F5-D511-AC54F65FE23F}"/>
              </a:ext>
            </a:extLst>
          </p:cNvPr>
          <p:cNvSpPr/>
          <p:nvPr/>
        </p:nvSpPr>
        <p:spPr bwMode="auto">
          <a:xfrm>
            <a:off x="7720751" y="6205597"/>
            <a:ext cx="3417752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ourier"/>
                <a:ea typeface="ＭＳ Ｐゴシック" pitchFamily="34" charset="-128"/>
                <a:cs typeface="Courier"/>
              </a:rPr>
              <a:t> return z + </a:t>
            </a:r>
            <a:r>
              <a:rPr lang="en-US" sz="1600" dirty="0" err="1">
                <a:solidFill>
                  <a:srgbClr val="000000"/>
                </a:solidFill>
                <a:latin typeface="Courier"/>
                <a:ea typeface="ＭＳ Ｐゴシック" pitchFamily="34" charset="-128"/>
                <a:cs typeface="Courier"/>
              </a:rPr>
              <a:t>x.intVal</a:t>
            </a:r>
            <a:r>
              <a:rPr lang="en-US" sz="1600" dirty="0">
                <a:solidFill>
                  <a:srgbClr val="000000"/>
                </a:solidFill>
                <a:latin typeface="Courier"/>
                <a:ea typeface="ＭＳ Ｐゴシック" pitchFamily="34" charset="-128"/>
                <a:cs typeface="Courier"/>
              </a:rPr>
              <a:t>();</a:t>
            </a:r>
            <a:endParaRPr lang="en-US" sz="1600" dirty="0">
              <a:latin typeface="Courier"/>
              <a:cs typeface="Courier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F04646-3407-0DDA-3ABC-316D66753418}"/>
              </a:ext>
            </a:extLst>
          </p:cNvPr>
          <p:cNvSpPr/>
          <p:nvPr/>
        </p:nvSpPr>
        <p:spPr bwMode="auto">
          <a:xfrm>
            <a:off x="7981859" y="1810327"/>
            <a:ext cx="2895535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Integer y = bar();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33982F8-64BB-AFFA-F6C9-8C7EFF57CB0D}"/>
              </a:ext>
            </a:extLst>
          </p:cNvPr>
          <p:cNvCxnSpPr>
            <a:stCxn id="26" idx="2"/>
            <a:endCxn id="33" idx="0"/>
          </p:cNvCxnSpPr>
          <p:nvPr/>
        </p:nvCxnSpPr>
        <p:spPr bwMode="auto">
          <a:xfrm>
            <a:off x="9429626" y="1134992"/>
            <a:ext cx="1" cy="67533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BD8744C-1C15-2FCA-DCD2-5E320BFCC531}"/>
              </a:ext>
            </a:extLst>
          </p:cNvPr>
          <p:cNvCxnSpPr>
            <a:stCxn id="33" idx="2"/>
            <a:endCxn id="28" idx="0"/>
          </p:cNvCxnSpPr>
          <p:nvPr/>
        </p:nvCxnSpPr>
        <p:spPr bwMode="auto">
          <a:xfrm flipH="1">
            <a:off x="9421017" y="2176087"/>
            <a:ext cx="8610" cy="57571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6BFFB70-43CC-AB44-FC1F-6C9136DDB3C6}"/>
              </a:ext>
            </a:extLst>
          </p:cNvPr>
          <p:cNvCxnSpPr>
            <a:stCxn id="28" idx="2"/>
            <a:endCxn id="31" idx="0"/>
          </p:cNvCxnSpPr>
          <p:nvPr/>
        </p:nvCxnSpPr>
        <p:spPr bwMode="auto">
          <a:xfrm>
            <a:off x="9421017" y="3282939"/>
            <a:ext cx="1192118" cy="98663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4103598-6F4A-9613-5D9A-20D637749FD7}"/>
              </a:ext>
            </a:extLst>
          </p:cNvPr>
          <p:cNvCxnSpPr>
            <a:stCxn id="30" idx="2"/>
            <a:endCxn id="32" idx="0"/>
          </p:cNvCxnSpPr>
          <p:nvPr/>
        </p:nvCxnSpPr>
        <p:spPr bwMode="auto">
          <a:xfrm>
            <a:off x="7802546" y="5016700"/>
            <a:ext cx="1627081" cy="118889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6318DA5-5C5C-D434-A18D-99C13ED21F94}"/>
              </a:ext>
            </a:extLst>
          </p:cNvPr>
          <p:cNvCxnSpPr>
            <a:stCxn id="31" idx="2"/>
            <a:endCxn id="32" idx="0"/>
          </p:cNvCxnSpPr>
          <p:nvPr/>
        </p:nvCxnSpPr>
        <p:spPr bwMode="auto">
          <a:xfrm flipH="1">
            <a:off x="9429627" y="5119346"/>
            <a:ext cx="1183508" cy="108625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A5FCCED-94DC-93B4-A921-08ED5D1F5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6902" y="1216974"/>
            <a:ext cx="160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Times" charset="0"/>
              <a:buNone/>
            </a:pPr>
            <a:r>
              <a:rPr lang="en-US" dirty="0"/>
              <a:t>x </a:t>
            </a:r>
            <a:r>
              <a:rPr lang="en-US" dirty="0">
                <a:sym typeface="Wingdings" charset="0"/>
              </a:rPr>
              <a:t> not-null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7CD3AC-2A66-AC16-0F02-21A855CED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8734" y="2258042"/>
            <a:ext cx="29842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Times" charset="0"/>
              <a:buNone/>
            </a:pPr>
            <a:r>
              <a:rPr lang="en-US" dirty="0"/>
              <a:t>x </a:t>
            </a:r>
            <a:r>
              <a:rPr lang="en-US" dirty="0">
                <a:sym typeface="Wingdings" charset="0"/>
              </a:rPr>
              <a:t> not-null, y 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Wingdings" charset="0"/>
              </a:rPr>
              <a:t> maybe-null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BA12F51-D1BC-75C5-7E99-2DC439FBB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5347" y="4001046"/>
            <a:ext cx="29790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Times" charset="0"/>
              <a:buNone/>
            </a:pPr>
            <a:r>
              <a:rPr lang="en-US" dirty="0"/>
              <a:t>x </a:t>
            </a:r>
            <a:r>
              <a:rPr lang="en-US" dirty="0">
                <a:sym typeface="Wingdings" charset="0"/>
              </a:rPr>
              <a:t> not-null, y 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Wingdings" charset="0"/>
              </a:rPr>
              <a:t> maybe-null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E9F0559-CFA0-EEC5-6B3B-5BA4A88EF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9822" y="3842697"/>
            <a:ext cx="2886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Times" charset="0"/>
              <a:buNone/>
            </a:pPr>
            <a:r>
              <a:rPr lang="en-US" dirty="0"/>
              <a:t>x </a:t>
            </a:r>
            <a:r>
              <a:rPr lang="en-US" dirty="0">
                <a:sym typeface="Wingdings" charset="0"/>
              </a:rPr>
              <a:t> not-null, y 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Wingdings" charset="0"/>
              </a:rPr>
              <a:t>maybe-null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D0CDD08-F607-85B0-C8A4-1FB21EF35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4283" y="5028816"/>
            <a:ext cx="30106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Times" charset="0"/>
              <a:buNone/>
            </a:pPr>
            <a:r>
              <a:rPr lang="en-US" b="1" dirty="0"/>
              <a:t>x </a:t>
            </a:r>
            <a:r>
              <a:rPr lang="en-US" b="1" dirty="0">
                <a:sym typeface="Wingdings" charset="0"/>
              </a:rPr>
              <a:t> not-null</a:t>
            </a:r>
            <a:r>
              <a:rPr lang="en-US" dirty="0">
                <a:sym typeface="Wingdings" charset="0"/>
              </a:rPr>
              <a:t>, y 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Wingdings" charset="0"/>
              </a:rPr>
              <a:t> maybe-null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A1EF17-154D-109A-BD9B-E71D012BC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8339" y="5187191"/>
            <a:ext cx="192873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Times" charset="0"/>
              <a:buNone/>
            </a:pPr>
            <a:r>
              <a:rPr lang="en-US" b="1" dirty="0"/>
              <a:t>x </a:t>
            </a:r>
            <a:r>
              <a:rPr lang="en-US" b="1" dirty="0">
                <a:sym typeface="Wingdings" charset="0"/>
              </a:rPr>
              <a:t> null</a:t>
            </a:r>
            <a:r>
              <a:rPr lang="en-US" dirty="0">
                <a:sym typeface="Wingdings" charset="0"/>
              </a:rPr>
              <a:t>, y 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Wingdings" charset="0"/>
              </a:rPr>
              <a:t> not-null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E126FB2-6F5B-D71A-D7EA-22A317B8C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222" y="5835709"/>
            <a:ext cx="34599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Times" charset="0"/>
              <a:buNone/>
            </a:pPr>
            <a:r>
              <a:rPr lang="en-US" b="1" dirty="0"/>
              <a:t>x </a:t>
            </a:r>
            <a:r>
              <a:rPr lang="en-US" b="1" dirty="0">
                <a:sym typeface="Wingdings" charset="0"/>
              </a:rPr>
              <a:t> maybe-null, </a:t>
            </a:r>
            <a:r>
              <a:rPr lang="en-US" dirty="0">
                <a:sym typeface="Wingdings" charset="0"/>
              </a:rPr>
              <a:t>y 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Wingdings" charset="0"/>
              </a:rPr>
              <a:t> maybe-null</a:t>
            </a:r>
          </a:p>
        </p:txBody>
      </p:sp>
      <p:sp>
        <p:nvSpPr>
          <p:cNvPr id="46" name="Text Box 5">
            <a:extLst>
              <a:ext uri="{FF2B5EF4-FFF2-40B4-BE49-F238E27FC236}">
                <a16:creationId xmlns:a16="http://schemas.microsoft.com/office/drawing/2014/main" id="{F5B15A74-8F13-FACC-BF5F-0A9F9B321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1137" y="5697209"/>
            <a:ext cx="4648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chemeClr val="hlink"/>
                </a:solidFill>
              </a:rPr>
              <a:t>Error: may have null pointer on line 12, because x may be null!</a:t>
            </a:r>
          </a:p>
        </p:txBody>
      </p:sp>
    </p:spTree>
    <p:extLst>
      <p:ext uri="{BB962C8B-B14F-4D97-AF65-F5344CB8AC3E}">
        <p14:creationId xmlns:p14="http://schemas.microsoft.com/office/powerpoint/2010/main" val="426285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CD6AB-CA2B-4691-727D-61E90E4E7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9B38A-F573-2198-6232-24F5D2F0E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  <a:p>
            <a:pPr lvl="1"/>
            <a:r>
              <a:rPr lang="en-US" dirty="0"/>
              <a:t>Positive, Negative, Maybe-Positive</a:t>
            </a:r>
          </a:p>
          <a:p>
            <a:pPr lvl="1"/>
            <a:endParaRPr lang="en-US" dirty="0"/>
          </a:p>
          <a:p>
            <a:r>
              <a:rPr lang="en-US" dirty="0"/>
              <a:t>Operations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FEFA46-A4C0-34C9-9030-ECF088E97B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15</a:t>
            </a:fld>
            <a:endParaRPr lang="en-US"/>
          </a:p>
        </p:txBody>
      </p:sp>
      <p:graphicFrame>
        <p:nvGraphicFramePr>
          <p:cNvPr id="4" name="Table 57">
            <a:extLst>
              <a:ext uri="{FF2B5EF4-FFF2-40B4-BE49-F238E27FC236}">
                <a16:creationId xmlns:a16="http://schemas.microsoft.com/office/drawing/2014/main" id="{A6669AB4-8141-E195-76AE-FB713F3C4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690681"/>
              </p:ext>
            </p:extLst>
          </p:nvPr>
        </p:nvGraphicFramePr>
        <p:xfrm>
          <a:off x="4954243" y="2860289"/>
          <a:ext cx="4931052" cy="3632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2763">
                  <a:extLst>
                    <a:ext uri="{9D8B030D-6E8A-4147-A177-3AD203B41FA5}">
                      <a16:colId xmlns:a16="http://schemas.microsoft.com/office/drawing/2014/main" val="2909566383"/>
                    </a:ext>
                  </a:extLst>
                </a:gridCol>
                <a:gridCol w="1232763">
                  <a:extLst>
                    <a:ext uri="{9D8B030D-6E8A-4147-A177-3AD203B41FA5}">
                      <a16:colId xmlns:a16="http://schemas.microsoft.com/office/drawing/2014/main" val="505269219"/>
                    </a:ext>
                  </a:extLst>
                </a:gridCol>
                <a:gridCol w="1232763">
                  <a:extLst>
                    <a:ext uri="{9D8B030D-6E8A-4147-A177-3AD203B41FA5}">
                      <a16:colId xmlns:a16="http://schemas.microsoft.com/office/drawing/2014/main" val="2726991713"/>
                    </a:ext>
                  </a:extLst>
                </a:gridCol>
                <a:gridCol w="1232763">
                  <a:extLst>
                    <a:ext uri="{9D8B030D-6E8A-4147-A177-3AD203B41FA5}">
                      <a16:colId xmlns:a16="http://schemas.microsoft.com/office/drawing/2014/main" val="4292164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Operand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Operand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37009"/>
                  </a:ext>
                </a:extLst>
              </a:tr>
              <a:tr h="3712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774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Maybe-Positive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425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Maybe-Positive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366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993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531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752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7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04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544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Analysis (Negative Array Index)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003C65-6601-26AC-E51D-24F48769DE5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481823"/>
            <a:ext cx="6048730" cy="48409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[1000];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endParaRPr lang="en-US" sz="2000" dirty="0">
              <a:solidFill>
                <a:srgbClr val="000000"/>
              </a:solidFill>
              <a:latin typeface="Consolas" pitchFamily="49" charset="0"/>
              <a:ea typeface="ＭＳ Ｐゴシック" pitchFamily="34" charset="-128"/>
              <a:cs typeface="Consolas" pitchFamily="49" charset="0"/>
            </a:endParaRP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main(void)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int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= -2;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int j = -10;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int m = 20;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endParaRPr lang="en-US" sz="2000" dirty="0">
              <a:solidFill>
                <a:srgbClr val="000000"/>
              </a:solidFill>
              <a:latin typeface="Consolas" pitchFamily="49" charset="0"/>
              <a:ea typeface="ＭＳ Ｐゴシック" pitchFamily="34" charset="-128"/>
              <a:cs typeface="Consolas" pitchFamily="49" charset="0"/>
            </a:endParaRP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for (int k = j; k &lt; 200; k++)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*=2;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  m-=4;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i+m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] = k;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}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return 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186B1-0660-4CED-30A3-63A79D6BB2EE}"/>
              </a:ext>
            </a:extLst>
          </p:cNvPr>
          <p:cNvSpPr txBox="1"/>
          <p:nvPr/>
        </p:nvSpPr>
        <p:spPr>
          <a:xfrm>
            <a:off x="4572378" y="4122813"/>
            <a:ext cx="57322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Can the array index in statement 9 be negative?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99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  <a:p>
            <a:pPr lvl="1"/>
            <a:r>
              <a:rPr lang="en-US" dirty="0"/>
              <a:t>Positive, Not-Positive, Maybe-Positive</a:t>
            </a:r>
          </a:p>
          <a:p>
            <a:pPr lvl="1"/>
            <a:endParaRPr lang="en-US" dirty="0"/>
          </a:p>
          <a:p>
            <a:r>
              <a:rPr lang="en-US" dirty="0"/>
              <a:t>Operations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17</a:t>
            </a:fld>
            <a:endParaRPr lang="en-US" dirty="0"/>
          </a:p>
        </p:txBody>
      </p:sp>
      <p:graphicFrame>
        <p:nvGraphicFramePr>
          <p:cNvPr id="6" name="Table 57">
            <a:extLst>
              <a:ext uri="{FF2B5EF4-FFF2-40B4-BE49-F238E27FC236}">
                <a16:creationId xmlns:a16="http://schemas.microsoft.com/office/drawing/2014/main" id="{A6669AB4-8141-E195-76AE-FB713F3C4D72}"/>
              </a:ext>
            </a:extLst>
          </p:cNvPr>
          <p:cNvGraphicFramePr>
            <a:graphicFrameLocks noGrp="1"/>
          </p:cNvGraphicFramePr>
          <p:nvPr/>
        </p:nvGraphicFramePr>
        <p:xfrm>
          <a:off x="6348037" y="578728"/>
          <a:ext cx="4931052" cy="48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2763">
                  <a:extLst>
                    <a:ext uri="{9D8B030D-6E8A-4147-A177-3AD203B41FA5}">
                      <a16:colId xmlns:a16="http://schemas.microsoft.com/office/drawing/2014/main" val="2909566383"/>
                    </a:ext>
                  </a:extLst>
                </a:gridCol>
                <a:gridCol w="1232763">
                  <a:extLst>
                    <a:ext uri="{9D8B030D-6E8A-4147-A177-3AD203B41FA5}">
                      <a16:colId xmlns:a16="http://schemas.microsoft.com/office/drawing/2014/main" val="505269219"/>
                    </a:ext>
                  </a:extLst>
                </a:gridCol>
                <a:gridCol w="1232763">
                  <a:extLst>
                    <a:ext uri="{9D8B030D-6E8A-4147-A177-3AD203B41FA5}">
                      <a16:colId xmlns:a16="http://schemas.microsoft.com/office/drawing/2014/main" val="2726991713"/>
                    </a:ext>
                  </a:extLst>
                </a:gridCol>
                <a:gridCol w="1232763">
                  <a:extLst>
                    <a:ext uri="{9D8B030D-6E8A-4147-A177-3AD203B41FA5}">
                      <a16:colId xmlns:a16="http://schemas.microsoft.com/office/drawing/2014/main" val="4292164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Operand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Operand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37009"/>
                  </a:ext>
                </a:extLst>
              </a:tr>
              <a:tr h="3712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774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425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366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993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531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752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7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04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668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466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99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7975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17758" y="427770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Can be zero!</a:t>
            </a:r>
          </a:p>
        </p:txBody>
      </p:sp>
    </p:spTree>
    <p:extLst>
      <p:ext uri="{BB962C8B-B14F-4D97-AF65-F5344CB8AC3E}">
        <p14:creationId xmlns:p14="http://schemas.microsoft.com/office/powerpoint/2010/main" val="1156743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Analysis: Control Flow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0003C65-6601-26AC-E51D-24F48769DE5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481823"/>
            <a:ext cx="6048730" cy="48409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[1000];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endParaRPr lang="en-US" sz="2000" dirty="0">
              <a:solidFill>
                <a:srgbClr val="000000"/>
              </a:solidFill>
              <a:latin typeface="Consolas" pitchFamily="49" charset="0"/>
              <a:ea typeface="ＭＳ Ｐゴシック" pitchFamily="34" charset="-128"/>
              <a:cs typeface="Consolas" pitchFamily="49" charset="0"/>
            </a:endParaRP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main(void)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int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= -2;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int j = -10;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int m = 20;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endParaRPr lang="en-US" sz="2000" dirty="0">
              <a:solidFill>
                <a:srgbClr val="000000"/>
              </a:solidFill>
              <a:latin typeface="Consolas" pitchFamily="49" charset="0"/>
              <a:ea typeface="ＭＳ Ｐゴシック" pitchFamily="34" charset="-128"/>
              <a:cs typeface="Consolas" pitchFamily="49" charset="0"/>
            </a:endParaRP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for (int k = j; k &lt; 200; k++)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*=2;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  m-=4;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i+m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] = k;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}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return 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4185" y="1403575"/>
            <a:ext cx="1864311" cy="51490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 = -2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4186" y="2211642"/>
            <a:ext cx="1864311" cy="51490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j = 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4190" y="3072721"/>
            <a:ext cx="1864311" cy="51490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 = 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4189" y="3972172"/>
            <a:ext cx="1864311" cy="51490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*2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4188" y="4762114"/>
            <a:ext cx="1864311" cy="51490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 = m - 4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4187" y="5661565"/>
            <a:ext cx="1864311" cy="51490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arr</a:t>
            </a:r>
            <a:r>
              <a:rPr lang="en-US" dirty="0">
                <a:solidFill>
                  <a:schemeClr val="tx1"/>
                </a:solidFill>
              </a:rPr>
              <a:t>[</a:t>
            </a:r>
            <a:r>
              <a:rPr lang="en-US" dirty="0" err="1">
                <a:solidFill>
                  <a:schemeClr val="tx1"/>
                </a:solidFill>
              </a:rPr>
              <a:t>i+m</a:t>
            </a:r>
            <a:r>
              <a:rPr lang="en-US" dirty="0">
                <a:solidFill>
                  <a:schemeClr val="tx1"/>
                </a:solidFill>
              </a:rPr>
              <a:t>] = k</a:t>
            </a:r>
          </a:p>
        </p:txBody>
      </p:sp>
      <p:cxnSp>
        <p:nvCxnSpPr>
          <p:cNvPr id="15" name="Straight Arrow Connector 14"/>
          <p:cNvCxnSpPr>
            <a:stCxn id="8" idx="2"/>
            <a:endCxn id="9" idx="0"/>
          </p:cNvCxnSpPr>
          <p:nvPr/>
        </p:nvCxnSpPr>
        <p:spPr>
          <a:xfrm>
            <a:off x="9046341" y="1918480"/>
            <a:ext cx="1" cy="2931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2"/>
            <a:endCxn id="10" idx="0"/>
          </p:cNvCxnSpPr>
          <p:nvPr/>
        </p:nvCxnSpPr>
        <p:spPr>
          <a:xfrm>
            <a:off x="9046342" y="2726547"/>
            <a:ext cx="4" cy="346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2"/>
            <a:endCxn id="11" idx="0"/>
          </p:cNvCxnSpPr>
          <p:nvPr/>
        </p:nvCxnSpPr>
        <p:spPr>
          <a:xfrm flipH="1">
            <a:off x="9046345" y="3587626"/>
            <a:ext cx="1" cy="3845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1" idx="2"/>
            <a:endCxn id="12" idx="0"/>
          </p:cNvCxnSpPr>
          <p:nvPr/>
        </p:nvCxnSpPr>
        <p:spPr>
          <a:xfrm flipH="1">
            <a:off x="9046344" y="4487077"/>
            <a:ext cx="1" cy="2750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2" idx="2"/>
            <a:endCxn id="13" idx="0"/>
          </p:cNvCxnSpPr>
          <p:nvPr/>
        </p:nvCxnSpPr>
        <p:spPr>
          <a:xfrm flipH="1">
            <a:off x="9046343" y="5277019"/>
            <a:ext cx="1" cy="3845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13" idx="1"/>
            <a:endCxn id="11" idx="1"/>
          </p:cNvCxnSpPr>
          <p:nvPr/>
        </p:nvCxnSpPr>
        <p:spPr>
          <a:xfrm rot="10800000" flipH="1">
            <a:off x="8114187" y="4229626"/>
            <a:ext cx="2" cy="1689393"/>
          </a:xfrm>
          <a:prstGeom prst="bentConnector3">
            <a:avLst>
              <a:gd name="adj1" fmla="val -11430000000"/>
            </a:avLst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03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Analysis: Apply Abstraction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19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093128" y="1562146"/>
            <a:ext cx="1864316" cy="4772895"/>
            <a:chOff x="3093128" y="1562146"/>
            <a:chExt cx="1864316" cy="4772895"/>
          </a:xfrm>
        </p:grpSpPr>
        <p:sp>
          <p:nvSpPr>
            <p:cNvPr id="8" name="Rectangle 7"/>
            <p:cNvSpPr/>
            <p:nvPr/>
          </p:nvSpPr>
          <p:spPr>
            <a:xfrm>
              <a:off x="3093128" y="1562146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i</a:t>
              </a:r>
              <a:r>
                <a:rPr lang="en-US" dirty="0">
                  <a:solidFill>
                    <a:schemeClr val="tx1"/>
                  </a:solidFill>
                </a:rPr>
                <a:t> = -2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93129" y="2370213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j = -10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93133" y="3231292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 = 20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93132" y="4130743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i</a:t>
              </a:r>
              <a:r>
                <a:rPr lang="en-US" dirty="0">
                  <a:solidFill>
                    <a:schemeClr val="tx1"/>
                  </a:solidFill>
                </a:rPr>
                <a:t> = </a:t>
              </a:r>
              <a:r>
                <a:rPr lang="en-US" dirty="0" err="1">
                  <a:solidFill>
                    <a:schemeClr val="tx1"/>
                  </a:solidFill>
                </a:rPr>
                <a:t>i</a:t>
              </a:r>
              <a:r>
                <a:rPr lang="en-US" dirty="0">
                  <a:solidFill>
                    <a:schemeClr val="tx1"/>
                  </a:solidFill>
                </a:rPr>
                <a:t>*2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93131" y="4920685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 = m - 4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093130" y="5820136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arr</a:t>
              </a:r>
              <a:r>
                <a:rPr lang="en-US" dirty="0">
                  <a:solidFill>
                    <a:schemeClr val="tx1"/>
                  </a:solidFill>
                </a:rPr>
                <a:t>[</a:t>
              </a:r>
              <a:r>
                <a:rPr lang="en-US" dirty="0" err="1">
                  <a:solidFill>
                    <a:schemeClr val="tx1"/>
                  </a:solidFill>
                </a:rPr>
                <a:t>i+m</a:t>
              </a:r>
              <a:r>
                <a:rPr lang="en-US" dirty="0">
                  <a:solidFill>
                    <a:schemeClr val="tx1"/>
                  </a:solidFill>
                </a:rPr>
                <a:t>] = k</a:t>
              </a:r>
            </a:p>
          </p:txBody>
        </p:sp>
        <p:cxnSp>
          <p:nvCxnSpPr>
            <p:cNvPr id="15" name="Straight Arrow Connector 14"/>
            <p:cNvCxnSpPr>
              <a:stCxn id="8" idx="2"/>
              <a:endCxn id="9" idx="0"/>
            </p:cNvCxnSpPr>
            <p:nvPr/>
          </p:nvCxnSpPr>
          <p:spPr>
            <a:xfrm>
              <a:off x="4025284" y="2077051"/>
              <a:ext cx="1" cy="29316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9" idx="2"/>
              <a:endCxn id="10" idx="0"/>
            </p:cNvCxnSpPr>
            <p:nvPr/>
          </p:nvCxnSpPr>
          <p:spPr>
            <a:xfrm>
              <a:off x="4025285" y="2885118"/>
              <a:ext cx="4" cy="34617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0" idx="2"/>
              <a:endCxn id="11" idx="0"/>
            </p:cNvCxnSpPr>
            <p:nvPr/>
          </p:nvCxnSpPr>
          <p:spPr>
            <a:xfrm flipH="1">
              <a:off x="4025288" y="3746197"/>
              <a:ext cx="1" cy="38454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1" idx="2"/>
              <a:endCxn id="12" idx="0"/>
            </p:cNvCxnSpPr>
            <p:nvPr/>
          </p:nvCxnSpPr>
          <p:spPr>
            <a:xfrm flipH="1">
              <a:off x="4025287" y="4645648"/>
              <a:ext cx="1" cy="27503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2" idx="2"/>
              <a:endCxn id="13" idx="0"/>
            </p:cNvCxnSpPr>
            <p:nvPr/>
          </p:nvCxnSpPr>
          <p:spPr>
            <a:xfrm flipH="1">
              <a:off x="4025286" y="5435590"/>
              <a:ext cx="1" cy="38454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/>
            <p:cNvCxnSpPr>
              <a:stCxn id="13" idx="1"/>
              <a:endCxn id="11" idx="1"/>
            </p:cNvCxnSpPr>
            <p:nvPr/>
          </p:nvCxnSpPr>
          <p:spPr>
            <a:xfrm rot="10800000" flipH="1">
              <a:off x="3093130" y="4388197"/>
              <a:ext cx="2" cy="1689393"/>
            </a:xfrm>
            <a:prstGeom prst="bentConnector3">
              <a:avLst>
                <a:gd name="adj1" fmla="val -11430000000"/>
              </a:avLst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8" name="Table 57">
            <a:extLst>
              <a:ext uri="{FF2B5EF4-FFF2-40B4-BE49-F238E27FC236}">
                <a16:creationId xmlns:a16="http://schemas.microsoft.com/office/drawing/2014/main" id="{A6669AB4-8141-E195-76AE-FB713F3C4D72}"/>
              </a:ext>
            </a:extLst>
          </p:cNvPr>
          <p:cNvGraphicFramePr>
            <a:graphicFrameLocks noGrp="1"/>
          </p:cNvGraphicFramePr>
          <p:nvPr/>
        </p:nvGraphicFramePr>
        <p:xfrm>
          <a:off x="373365" y="1513683"/>
          <a:ext cx="2147892" cy="4154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973">
                  <a:extLst>
                    <a:ext uri="{9D8B030D-6E8A-4147-A177-3AD203B41FA5}">
                      <a16:colId xmlns:a16="http://schemas.microsoft.com/office/drawing/2014/main" val="2909566383"/>
                    </a:ext>
                  </a:extLst>
                </a:gridCol>
                <a:gridCol w="536973">
                  <a:extLst>
                    <a:ext uri="{9D8B030D-6E8A-4147-A177-3AD203B41FA5}">
                      <a16:colId xmlns:a16="http://schemas.microsoft.com/office/drawing/2014/main" val="505269219"/>
                    </a:ext>
                  </a:extLst>
                </a:gridCol>
                <a:gridCol w="536973">
                  <a:extLst>
                    <a:ext uri="{9D8B030D-6E8A-4147-A177-3AD203B41FA5}">
                      <a16:colId xmlns:a16="http://schemas.microsoft.com/office/drawing/2014/main" val="2726991713"/>
                    </a:ext>
                  </a:extLst>
                </a:gridCol>
                <a:gridCol w="536973">
                  <a:extLst>
                    <a:ext uri="{9D8B030D-6E8A-4147-A177-3AD203B41FA5}">
                      <a16:colId xmlns:a16="http://schemas.microsoft.com/office/drawing/2014/main" val="4292164389"/>
                    </a:ext>
                  </a:extLst>
                </a:gridCol>
              </a:tblGrid>
              <a:tr h="3230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37009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774207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425433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366932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993504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531806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752245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7277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04644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668709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466900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99896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7975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34732" y="1588813"/>
            <a:ext cx="79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i: NP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4732" y="2392103"/>
            <a:ext cx="159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</a:t>
            </a:r>
            <a:r>
              <a:rPr lang="en-US" u="sng" dirty="0"/>
              <a:t>j = NP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4732" y="3260020"/>
            <a:ext cx="1902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j = NP, </a:t>
            </a:r>
            <a:r>
              <a:rPr lang="en-US" u="sng" dirty="0"/>
              <a:t>m = 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4732" y="4130972"/>
            <a:ext cx="2200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</a:t>
            </a:r>
            <a:r>
              <a:rPr lang="en-US" u="sng" dirty="0"/>
              <a:t>MP</a:t>
            </a:r>
            <a:r>
              <a:rPr lang="en-US" dirty="0"/>
              <a:t>, j = NP, m = 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5715" y="4920685"/>
            <a:ext cx="2200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MP, j = NP, m = </a:t>
            </a:r>
            <a:r>
              <a:rPr lang="en-US" b="1" u="sng" dirty="0">
                <a:solidFill>
                  <a:srgbClr val="C00000"/>
                </a:solidFill>
              </a:rPr>
              <a:t>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7439" y="5847658"/>
            <a:ext cx="2200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MP, j = NP, m = MP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759E6-3B61-6FCF-95ED-B170D6EAFA1B}"/>
              </a:ext>
            </a:extLst>
          </p:cNvPr>
          <p:cNvSpPr txBox="1"/>
          <p:nvPr/>
        </p:nvSpPr>
        <p:spPr>
          <a:xfrm>
            <a:off x="7323434" y="4130743"/>
            <a:ext cx="2200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MP, j = NP, m = MP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FC07EA-3573-C040-612F-41149E89D1A4}"/>
              </a:ext>
            </a:extLst>
          </p:cNvPr>
          <p:cNvSpPr txBox="1"/>
          <p:nvPr/>
        </p:nvSpPr>
        <p:spPr>
          <a:xfrm>
            <a:off x="7293561" y="4920456"/>
            <a:ext cx="2200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MP, j = NP, m = MP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F29272-A5CD-FE8E-1F9D-56D325F2C03D}"/>
              </a:ext>
            </a:extLst>
          </p:cNvPr>
          <p:cNvSpPr txBox="1"/>
          <p:nvPr/>
        </p:nvSpPr>
        <p:spPr>
          <a:xfrm>
            <a:off x="7273573" y="5847429"/>
            <a:ext cx="2200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MP, j = NP, m = MP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AD99F8-10F4-5198-8043-DA678C12BF3D}"/>
              </a:ext>
            </a:extLst>
          </p:cNvPr>
          <p:cNvSpPr txBox="1"/>
          <p:nvPr/>
        </p:nvSpPr>
        <p:spPr>
          <a:xfrm>
            <a:off x="4642221" y="6350288"/>
            <a:ext cx="610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m = MP </a:t>
            </a:r>
            <a:r>
              <a:rPr lang="en-US" sz="2400" b="1" i="1" dirty="0">
                <a:sym typeface="Wingdings" panose="05000000000000000000" pitchFamily="2" charset="2"/>
              </a:rPr>
              <a:t> array-index might be negative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332703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0"/>
      <p:bldP spid="22" grpId="0"/>
      <p:bldP spid="24" grpId="0"/>
      <p:bldP spid="25" grpId="0"/>
      <p:bldP spid="27" grpId="0"/>
      <p:bldP spid="5" grpId="0"/>
      <p:bldP spid="7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20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093128" y="1562146"/>
            <a:ext cx="1864316" cy="4772895"/>
            <a:chOff x="3093128" y="1562146"/>
            <a:chExt cx="1864316" cy="4772895"/>
          </a:xfrm>
        </p:grpSpPr>
        <p:sp>
          <p:nvSpPr>
            <p:cNvPr id="8" name="Rectangle 7"/>
            <p:cNvSpPr/>
            <p:nvPr/>
          </p:nvSpPr>
          <p:spPr>
            <a:xfrm>
              <a:off x="3093128" y="1562146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i</a:t>
              </a:r>
              <a:r>
                <a:rPr lang="en-US" dirty="0">
                  <a:solidFill>
                    <a:schemeClr val="tx1"/>
                  </a:solidFill>
                </a:rPr>
                <a:t> = -2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93129" y="2370213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j = -10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93133" y="3231292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 = 20, </a:t>
              </a:r>
              <a:r>
                <a:rPr lang="en-US" b="1" dirty="0">
                  <a:solidFill>
                    <a:srgbClr val="00B050"/>
                  </a:solidFill>
                </a:rPr>
                <a:t>x = -5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93132" y="4130743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i</a:t>
              </a:r>
              <a:r>
                <a:rPr lang="en-US" dirty="0">
                  <a:solidFill>
                    <a:schemeClr val="tx1"/>
                  </a:solidFill>
                </a:rPr>
                <a:t> = </a:t>
              </a:r>
              <a:r>
                <a:rPr lang="en-US" dirty="0" err="1">
                  <a:solidFill>
                    <a:schemeClr val="tx1"/>
                  </a:solidFill>
                </a:rPr>
                <a:t>i</a:t>
              </a:r>
              <a:r>
                <a:rPr lang="en-US" dirty="0">
                  <a:solidFill>
                    <a:schemeClr val="tx1"/>
                  </a:solidFill>
                </a:rPr>
                <a:t>*2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93131" y="4920685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 = m </a:t>
              </a:r>
              <a:r>
                <a:rPr lang="en-US" b="1" dirty="0">
                  <a:solidFill>
                    <a:srgbClr val="00B050"/>
                  </a:solidFill>
                </a:rPr>
                <a:t>- x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093130" y="5820136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arr</a:t>
              </a:r>
              <a:r>
                <a:rPr lang="en-US" dirty="0">
                  <a:solidFill>
                    <a:schemeClr val="tx1"/>
                  </a:solidFill>
                </a:rPr>
                <a:t>[</a:t>
              </a:r>
              <a:r>
                <a:rPr lang="en-US" dirty="0" err="1">
                  <a:solidFill>
                    <a:schemeClr val="tx1"/>
                  </a:solidFill>
                </a:rPr>
                <a:t>i+m</a:t>
              </a:r>
              <a:r>
                <a:rPr lang="en-US" dirty="0">
                  <a:solidFill>
                    <a:schemeClr val="tx1"/>
                  </a:solidFill>
                </a:rPr>
                <a:t>] = k</a:t>
              </a:r>
            </a:p>
          </p:txBody>
        </p:sp>
        <p:cxnSp>
          <p:nvCxnSpPr>
            <p:cNvPr id="15" name="Straight Arrow Connector 14"/>
            <p:cNvCxnSpPr>
              <a:stCxn id="8" idx="2"/>
              <a:endCxn id="9" idx="0"/>
            </p:cNvCxnSpPr>
            <p:nvPr/>
          </p:nvCxnSpPr>
          <p:spPr>
            <a:xfrm>
              <a:off x="4025284" y="2077051"/>
              <a:ext cx="1" cy="29316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9" idx="2"/>
              <a:endCxn id="10" idx="0"/>
            </p:cNvCxnSpPr>
            <p:nvPr/>
          </p:nvCxnSpPr>
          <p:spPr>
            <a:xfrm>
              <a:off x="4025285" y="2885118"/>
              <a:ext cx="4" cy="34617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0" idx="2"/>
              <a:endCxn id="11" idx="0"/>
            </p:cNvCxnSpPr>
            <p:nvPr/>
          </p:nvCxnSpPr>
          <p:spPr>
            <a:xfrm flipH="1">
              <a:off x="4025288" y="3746197"/>
              <a:ext cx="1" cy="38454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1" idx="2"/>
              <a:endCxn id="12" idx="0"/>
            </p:cNvCxnSpPr>
            <p:nvPr/>
          </p:nvCxnSpPr>
          <p:spPr>
            <a:xfrm flipH="1">
              <a:off x="4025287" y="4645648"/>
              <a:ext cx="1" cy="27503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2" idx="2"/>
              <a:endCxn id="13" idx="0"/>
            </p:cNvCxnSpPr>
            <p:nvPr/>
          </p:nvCxnSpPr>
          <p:spPr>
            <a:xfrm flipH="1">
              <a:off x="4025286" y="5435590"/>
              <a:ext cx="1" cy="38454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/>
            <p:cNvCxnSpPr>
              <a:stCxn id="13" idx="1"/>
              <a:endCxn id="11" idx="1"/>
            </p:cNvCxnSpPr>
            <p:nvPr/>
          </p:nvCxnSpPr>
          <p:spPr>
            <a:xfrm rot="10800000" flipH="1">
              <a:off x="3093130" y="4388197"/>
              <a:ext cx="2" cy="1689393"/>
            </a:xfrm>
            <a:prstGeom prst="bentConnector3">
              <a:avLst>
                <a:gd name="adj1" fmla="val -11430000000"/>
              </a:avLst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8" name="Table 57">
            <a:extLst>
              <a:ext uri="{FF2B5EF4-FFF2-40B4-BE49-F238E27FC236}">
                <a16:creationId xmlns:a16="http://schemas.microsoft.com/office/drawing/2014/main" id="{A6669AB4-8141-E195-76AE-FB713F3C4D72}"/>
              </a:ext>
            </a:extLst>
          </p:cNvPr>
          <p:cNvGraphicFramePr>
            <a:graphicFrameLocks noGrp="1"/>
          </p:cNvGraphicFramePr>
          <p:nvPr/>
        </p:nvGraphicFramePr>
        <p:xfrm>
          <a:off x="373365" y="1513683"/>
          <a:ext cx="2147892" cy="4154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973">
                  <a:extLst>
                    <a:ext uri="{9D8B030D-6E8A-4147-A177-3AD203B41FA5}">
                      <a16:colId xmlns:a16="http://schemas.microsoft.com/office/drawing/2014/main" val="2909566383"/>
                    </a:ext>
                  </a:extLst>
                </a:gridCol>
                <a:gridCol w="536973">
                  <a:extLst>
                    <a:ext uri="{9D8B030D-6E8A-4147-A177-3AD203B41FA5}">
                      <a16:colId xmlns:a16="http://schemas.microsoft.com/office/drawing/2014/main" val="505269219"/>
                    </a:ext>
                  </a:extLst>
                </a:gridCol>
                <a:gridCol w="536973">
                  <a:extLst>
                    <a:ext uri="{9D8B030D-6E8A-4147-A177-3AD203B41FA5}">
                      <a16:colId xmlns:a16="http://schemas.microsoft.com/office/drawing/2014/main" val="2726991713"/>
                    </a:ext>
                  </a:extLst>
                </a:gridCol>
                <a:gridCol w="536973">
                  <a:extLst>
                    <a:ext uri="{9D8B030D-6E8A-4147-A177-3AD203B41FA5}">
                      <a16:colId xmlns:a16="http://schemas.microsoft.com/office/drawing/2014/main" val="4292164389"/>
                    </a:ext>
                  </a:extLst>
                </a:gridCol>
              </a:tblGrid>
              <a:tr h="3230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37009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774207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425433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366932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993504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531806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752245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7277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04644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668709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466900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99896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7975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34732" y="1588813"/>
            <a:ext cx="79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i: NP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4732" y="2392103"/>
            <a:ext cx="159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</a:t>
            </a:r>
            <a:r>
              <a:rPr lang="en-US" u="sng" dirty="0"/>
              <a:t>j = NP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4731" y="3260020"/>
            <a:ext cx="260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j = NP, </a:t>
            </a:r>
            <a:r>
              <a:rPr lang="en-US" u="sng" dirty="0"/>
              <a:t>m = P, x = NP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4732" y="4130972"/>
            <a:ext cx="2509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</a:t>
            </a:r>
            <a:r>
              <a:rPr lang="en-US" u="sng" dirty="0"/>
              <a:t>NP</a:t>
            </a:r>
            <a:r>
              <a:rPr lang="en-US" dirty="0"/>
              <a:t>, j = NP, m = P, x = NP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5715" y="4920685"/>
            <a:ext cx="2639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j = NP, m = </a:t>
            </a:r>
            <a:r>
              <a:rPr lang="en-US" u="sng" dirty="0"/>
              <a:t>P, </a:t>
            </a:r>
            <a:r>
              <a:rPr lang="en-US" dirty="0"/>
              <a:t>x = NP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57439" y="5847658"/>
            <a:ext cx="2639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j = NP, m = P, x = NP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9EF80B-AC9C-528B-1AB6-5A55458AF008}"/>
              </a:ext>
            </a:extLst>
          </p:cNvPr>
          <p:cNvSpPr txBox="1"/>
          <p:nvPr/>
        </p:nvSpPr>
        <p:spPr>
          <a:xfrm>
            <a:off x="7789810" y="4130743"/>
            <a:ext cx="2509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j = NP, m = P, x = NP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B08933-60A8-6F9B-5D25-00175657AC99}"/>
              </a:ext>
            </a:extLst>
          </p:cNvPr>
          <p:cNvSpPr txBox="1"/>
          <p:nvPr/>
        </p:nvSpPr>
        <p:spPr>
          <a:xfrm>
            <a:off x="7750793" y="4920456"/>
            <a:ext cx="2639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j = NP, m = P, x = NP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3A65A6-CC42-3EC5-1838-79AB3F05ED5F}"/>
              </a:ext>
            </a:extLst>
          </p:cNvPr>
          <p:cNvSpPr txBox="1"/>
          <p:nvPr/>
        </p:nvSpPr>
        <p:spPr>
          <a:xfrm>
            <a:off x="7712517" y="5847429"/>
            <a:ext cx="2639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j = NP, m = P, x = NP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F8EB0B-771C-FF59-B023-414E8FBC281A}"/>
              </a:ext>
            </a:extLst>
          </p:cNvPr>
          <p:cNvSpPr txBox="1"/>
          <p:nvPr/>
        </p:nvSpPr>
        <p:spPr>
          <a:xfrm>
            <a:off x="5154285" y="6301209"/>
            <a:ext cx="610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m = P </a:t>
            </a:r>
            <a:r>
              <a:rPr lang="en-US" sz="2400" b="1" i="1" dirty="0">
                <a:sym typeface="Wingdings" panose="05000000000000000000" pitchFamily="2" charset="2"/>
              </a:rPr>
              <a:t> array-index must be positive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349110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0"/>
      <p:bldP spid="22" grpId="0"/>
      <p:bldP spid="24" grpId="0"/>
      <p:bldP spid="25" grpId="0"/>
      <p:bldP spid="27" grpId="0"/>
      <p:bldP spid="16" grpId="0"/>
      <p:bldP spid="19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AA566-2A67-B9E3-6AA0-4D6289B45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DA699-C434-6C2D-C9BA-01EE99F44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the control flow graph</a:t>
            </a:r>
            <a:br>
              <a:rPr lang="en-US" dirty="0"/>
            </a:br>
            <a:endParaRPr lang="en-US" dirty="0"/>
          </a:p>
          <a:p>
            <a:r>
              <a:rPr lang="en-US" dirty="0"/>
              <a:t>Apply the resolution rules till fixpoint reached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E37BA-C11F-2129-EEAB-A5DFCB6CB8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525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D5A6-F2E8-AF6B-9A40-3D94893E6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Analysis Soundness and Precision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A9118E-E0C2-0BBD-F087-715D36F726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22</a:t>
            </a:fld>
            <a:endParaRPr lang="en-US"/>
          </a:p>
        </p:txBody>
      </p:sp>
      <p:pic>
        <p:nvPicPr>
          <p:cNvPr id="2052" name="Picture 4" descr="Abstraction-en-1">
            <a:extLst>
              <a:ext uri="{FF2B5EF4-FFF2-40B4-BE49-F238E27FC236}">
                <a16:creationId xmlns:a16="http://schemas.microsoft.com/office/drawing/2014/main" id="{3E5E6563-C7FF-1E11-F4B7-96D344EB9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781" y="1738681"/>
            <a:ext cx="8471695" cy="3958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35A0186-5350-991B-CC26-9E8F9B5AEC5F}"/>
              </a:ext>
            </a:extLst>
          </p:cNvPr>
          <p:cNvSpPr/>
          <p:nvPr/>
        </p:nvSpPr>
        <p:spPr>
          <a:xfrm>
            <a:off x="1708273" y="1875694"/>
            <a:ext cx="7225506" cy="3458309"/>
          </a:xfrm>
          <a:custGeom>
            <a:avLst/>
            <a:gdLst>
              <a:gd name="connsiteX0" fmla="*/ 155250 w 7111125"/>
              <a:gd name="connsiteY0" fmla="*/ 625616 h 2946785"/>
              <a:gd name="connsiteX1" fmla="*/ 155250 w 7111125"/>
              <a:gd name="connsiteY1" fmla="*/ 625616 h 2946785"/>
              <a:gd name="connsiteX2" fmla="*/ 1726142 w 7111125"/>
              <a:gd name="connsiteY2" fmla="*/ 215308 h 2946785"/>
              <a:gd name="connsiteX3" fmla="*/ 2406080 w 7111125"/>
              <a:gd name="connsiteY3" fmla="*/ 121523 h 2946785"/>
              <a:gd name="connsiteX4" fmla="*/ 2452973 w 7111125"/>
              <a:gd name="connsiteY4" fmla="*/ 98077 h 2946785"/>
              <a:gd name="connsiteX5" fmla="*/ 2722604 w 7111125"/>
              <a:gd name="connsiteY5" fmla="*/ 344262 h 2946785"/>
              <a:gd name="connsiteX6" fmla="*/ 3027404 w 7111125"/>
              <a:gd name="connsiteY6" fmla="*/ 555277 h 2946785"/>
              <a:gd name="connsiteX7" fmla="*/ 3226696 w 7111125"/>
              <a:gd name="connsiteY7" fmla="*/ 543554 h 2946785"/>
              <a:gd name="connsiteX8" fmla="*/ 4293496 w 7111125"/>
              <a:gd name="connsiteY8" fmla="*/ 297369 h 2946785"/>
              <a:gd name="connsiteX9" fmla="*/ 4996880 w 7111125"/>
              <a:gd name="connsiteY9" fmla="*/ 203585 h 2946785"/>
              <a:gd name="connsiteX10" fmla="*/ 5536142 w 7111125"/>
              <a:gd name="connsiteY10" fmla="*/ 133246 h 2946785"/>
              <a:gd name="connsiteX11" fmla="*/ 6005065 w 7111125"/>
              <a:gd name="connsiteY11" fmla="*/ 86354 h 2946785"/>
              <a:gd name="connsiteX12" fmla="*/ 6216080 w 7111125"/>
              <a:gd name="connsiteY12" fmla="*/ 62908 h 2946785"/>
              <a:gd name="connsiteX13" fmla="*/ 6473988 w 7111125"/>
              <a:gd name="connsiteY13" fmla="*/ 39462 h 2946785"/>
              <a:gd name="connsiteX14" fmla="*/ 6790511 w 7111125"/>
              <a:gd name="connsiteY14" fmla="*/ 16016 h 2946785"/>
              <a:gd name="connsiteX15" fmla="*/ 6954634 w 7111125"/>
              <a:gd name="connsiteY15" fmla="*/ 191862 h 2946785"/>
              <a:gd name="connsiteX16" fmla="*/ 7083588 w 7111125"/>
              <a:gd name="connsiteY16" fmla="*/ 484939 h 2946785"/>
              <a:gd name="connsiteX17" fmla="*/ 7083588 w 7111125"/>
              <a:gd name="connsiteY17" fmla="*/ 1586908 h 2946785"/>
              <a:gd name="connsiteX18" fmla="*/ 7095311 w 7111125"/>
              <a:gd name="connsiteY18" fmla="*/ 2489585 h 2946785"/>
              <a:gd name="connsiteX19" fmla="*/ 6907742 w 7111125"/>
              <a:gd name="connsiteY19" fmla="*/ 2595092 h 2946785"/>
              <a:gd name="connsiteX20" fmla="*/ 6720173 w 7111125"/>
              <a:gd name="connsiteY20" fmla="*/ 2641985 h 2946785"/>
              <a:gd name="connsiteX21" fmla="*/ 6520880 w 7111125"/>
              <a:gd name="connsiteY21" fmla="*/ 2700600 h 2946785"/>
              <a:gd name="connsiteX22" fmla="*/ 6380204 w 7111125"/>
              <a:gd name="connsiteY22" fmla="*/ 2724046 h 2946785"/>
              <a:gd name="connsiteX23" fmla="*/ 6286419 w 7111125"/>
              <a:gd name="connsiteY23" fmla="*/ 2747492 h 2946785"/>
              <a:gd name="connsiteX24" fmla="*/ 6204357 w 7111125"/>
              <a:gd name="connsiteY24" fmla="*/ 2735769 h 2946785"/>
              <a:gd name="connsiteX25" fmla="*/ 6110573 w 7111125"/>
              <a:gd name="connsiteY25" fmla="*/ 2677154 h 2946785"/>
              <a:gd name="connsiteX26" fmla="*/ 6063680 w 7111125"/>
              <a:gd name="connsiteY26" fmla="*/ 2665431 h 2946785"/>
              <a:gd name="connsiteX27" fmla="*/ 5629927 w 7111125"/>
              <a:gd name="connsiteY27" fmla="*/ 2712323 h 2946785"/>
              <a:gd name="connsiteX28" fmla="*/ 5301680 w 7111125"/>
              <a:gd name="connsiteY28" fmla="*/ 2759216 h 2946785"/>
              <a:gd name="connsiteX29" fmla="*/ 4797588 w 7111125"/>
              <a:gd name="connsiteY29" fmla="*/ 2770939 h 2946785"/>
              <a:gd name="connsiteX30" fmla="*/ 3930080 w 7111125"/>
              <a:gd name="connsiteY30" fmla="*/ 2677154 h 2946785"/>
              <a:gd name="connsiteX31" fmla="*/ 3484604 w 7111125"/>
              <a:gd name="connsiteY31" fmla="*/ 2583369 h 2946785"/>
              <a:gd name="connsiteX32" fmla="*/ 3367373 w 7111125"/>
              <a:gd name="connsiteY32" fmla="*/ 2559923 h 2946785"/>
              <a:gd name="connsiteX33" fmla="*/ 3062573 w 7111125"/>
              <a:gd name="connsiteY33" fmla="*/ 2595092 h 2946785"/>
              <a:gd name="connsiteX34" fmla="*/ 2757773 w 7111125"/>
              <a:gd name="connsiteY34" fmla="*/ 2724046 h 2946785"/>
              <a:gd name="connsiteX35" fmla="*/ 2394357 w 7111125"/>
              <a:gd name="connsiteY35" fmla="*/ 2888169 h 2946785"/>
              <a:gd name="connsiteX36" fmla="*/ 2007496 w 7111125"/>
              <a:gd name="connsiteY36" fmla="*/ 2946785 h 2946785"/>
              <a:gd name="connsiteX37" fmla="*/ 1222050 w 7111125"/>
              <a:gd name="connsiteY37" fmla="*/ 2759216 h 2946785"/>
              <a:gd name="connsiteX38" fmla="*/ 800019 w 7111125"/>
              <a:gd name="connsiteY38" fmla="*/ 2770939 h 2946785"/>
              <a:gd name="connsiteX39" fmla="*/ 635896 w 7111125"/>
              <a:gd name="connsiteY39" fmla="*/ 2817831 h 2946785"/>
              <a:gd name="connsiteX40" fmla="*/ 518665 w 7111125"/>
              <a:gd name="connsiteY40" fmla="*/ 2853000 h 2946785"/>
              <a:gd name="connsiteX41" fmla="*/ 108357 w 7111125"/>
              <a:gd name="connsiteY41" fmla="*/ 2759216 h 2946785"/>
              <a:gd name="connsiteX42" fmla="*/ 38019 w 7111125"/>
              <a:gd name="connsiteY42" fmla="*/ 2700600 h 2946785"/>
              <a:gd name="connsiteX43" fmla="*/ 2850 w 7111125"/>
              <a:gd name="connsiteY43" fmla="*/ 2606816 h 2946785"/>
              <a:gd name="connsiteX44" fmla="*/ 38019 w 7111125"/>
              <a:gd name="connsiteY44" fmla="*/ 1938600 h 2946785"/>
              <a:gd name="connsiteX45" fmla="*/ 73188 w 7111125"/>
              <a:gd name="connsiteY45" fmla="*/ 1668969 h 2946785"/>
              <a:gd name="connsiteX46" fmla="*/ 131804 w 7111125"/>
              <a:gd name="connsiteY46" fmla="*/ 1293831 h 2946785"/>
              <a:gd name="connsiteX47" fmla="*/ 155250 w 7111125"/>
              <a:gd name="connsiteY47" fmla="*/ 625616 h 2946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7111125" h="2946785">
                <a:moveTo>
                  <a:pt x="155250" y="625616"/>
                </a:moveTo>
                <a:lnTo>
                  <a:pt x="155250" y="625616"/>
                </a:lnTo>
                <a:cubicBezTo>
                  <a:pt x="673512" y="431262"/>
                  <a:pt x="995329" y="306661"/>
                  <a:pt x="1726142" y="215308"/>
                </a:cubicBezTo>
                <a:cubicBezTo>
                  <a:pt x="2265823" y="147847"/>
                  <a:pt x="2039684" y="182589"/>
                  <a:pt x="2406080" y="121523"/>
                </a:cubicBezTo>
                <a:cubicBezTo>
                  <a:pt x="2421711" y="113708"/>
                  <a:pt x="2438681" y="88020"/>
                  <a:pt x="2452973" y="98077"/>
                </a:cubicBezTo>
                <a:cubicBezTo>
                  <a:pt x="2552504" y="168117"/>
                  <a:pt x="2629286" y="266135"/>
                  <a:pt x="2722604" y="344262"/>
                </a:cubicBezTo>
                <a:cubicBezTo>
                  <a:pt x="2911978" y="502808"/>
                  <a:pt x="2887412" y="485282"/>
                  <a:pt x="3027404" y="555277"/>
                </a:cubicBezTo>
                <a:cubicBezTo>
                  <a:pt x="3093835" y="551369"/>
                  <a:pt x="3161490" y="556837"/>
                  <a:pt x="3226696" y="543554"/>
                </a:cubicBezTo>
                <a:cubicBezTo>
                  <a:pt x="3584298" y="470709"/>
                  <a:pt x="3931751" y="345601"/>
                  <a:pt x="4293496" y="297369"/>
                </a:cubicBezTo>
                <a:cubicBezTo>
                  <a:pt x="4527957" y="266108"/>
                  <a:pt x="4764600" y="248255"/>
                  <a:pt x="4996880" y="203585"/>
                </a:cubicBezTo>
                <a:cubicBezTo>
                  <a:pt x="5378524" y="130191"/>
                  <a:pt x="5198347" y="150136"/>
                  <a:pt x="5536142" y="133246"/>
                </a:cubicBezTo>
                <a:cubicBezTo>
                  <a:pt x="5875904" y="69541"/>
                  <a:pt x="5571715" y="117307"/>
                  <a:pt x="6005065" y="86354"/>
                </a:cubicBezTo>
                <a:cubicBezTo>
                  <a:pt x="6075656" y="81312"/>
                  <a:pt x="6145660" y="69950"/>
                  <a:pt x="6216080" y="62908"/>
                </a:cubicBezTo>
                <a:lnTo>
                  <a:pt x="6473988" y="39462"/>
                </a:lnTo>
                <a:lnTo>
                  <a:pt x="6790511" y="16016"/>
                </a:lnTo>
                <a:cubicBezTo>
                  <a:pt x="6894640" y="-18697"/>
                  <a:pt x="6837218" y="-12071"/>
                  <a:pt x="6954634" y="191862"/>
                </a:cubicBezTo>
                <a:cubicBezTo>
                  <a:pt x="7017552" y="301141"/>
                  <a:pt x="7043142" y="377081"/>
                  <a:pt x="7083588" y="484939"/>
                </a:cubicBezTo>
                <a:cubicBezTo>
                  <a:pt x="7139883" y="1920469"/>
                  <a:pt x="7094155" y="318871"/>
                  <a:pt x="7083588" y="1586908"/>
                </a:cubicBezTo>
                <a:cubicBezTo>
                  <a:pt x="7081080" y="1887815"/>
                  <a:pt x="7091403" y="2188693"/>
                  <a:pt x="7095311" y="2489585"/>
                </a:cubicBezTo>
                <a:cubicBezTo>
                  <a:pt x="7051315" y="2599574"/>
                  <a:pt x="7090527" y="2546349"/>
                  <a:pt x="6907742" y="2595092"/>
                </a:cubicBezTo>
                <a:cubicBezTo>
                  <a:pt x="6845471" y="2611698"/>
                  <a:pt x="6782349" y="2625028"/>
                  <a:pt x="6720173" y="2641985"/>
                </a:cubicBezTo>
                <a:cubicBezTo>
                  <a:pt x="6653368" y="2660205"/>
                  <a:pt x="6588192" y="2684352"/>
                  <a:pt x="6520880" y="2700600"/>
                </a:cubicBezTo>
                <a:cubicBezTo>
                  <a:pt x="6474668" y="2711754"/>
                  <a:pt x="6426820" y="2714723"/>
                  <a:pt x="6380204" y="2724046"/>
                </a:cubicBezTo>
                <a:cubicBezTo>
                  <a:pt x="6348606" y="2730366"/>
                  <a:pt x="6317681" y="2739677"/>
                  <a:pt x="6286419" y="2747492"/>
                </a:cubicBezTo>
                <a:cubicBezTo>
                  <a:pt x="6259065" y="2743584"/>
                  <a:pt x="6231015" y="2743039"/>
                  <a:pt x="6204357" y="2735769"/>
                </a:cubicBezTo>
                <a:cubicBezTo>
                  <a:pt x="6144466" y="2719435"/>
                  <a:pt x="6166441" y="2705088"/>
                  <a:pt x="6110573" y="2677154"/>
                </a:cubicBezTo>
                <a:cubicBezTo>
                  <a:pt x="6096162" y="2669949"/>
                  <a:pt x="6079311" y="2669339"/>
                  <a:pt x="6063680" y="2665431"/>
                </a:cubicBezTo>
                <a:lnTo>
                  <a:pt x="5629927" y="2712323"/>
                </a:lnTo>
                <a:cubicBezTo>
                  <a:pt x="5520228" y="2725824"/>
                  <a:pt x="5411933" y="2751452"/>
                  <a:pt x="5301680" y="2759216"/>
                </a:cubicBezTo>
                <a:cubicBezTo>
                  <a:pt x="5134019" y="2771023"/>
                  <a:pt x="4965619" y="2767031"/>
                  <a:pt x="4797588" y="2770939"/>
                </a:cubicBezTo>
                <a:cubicBezTo>
                  <a:pt x="4508419" y="2739677"/>
                  <a:pt x="4218507" y="2714650"/>
                  <a:pt x="3930080" y="2677154"/>
                </a:cubicBezTo>
                <a:cubicBezTo>
                  <a:pt x="3682875" y="2645017"/>
                  <a:pt x="3676570" y="2626998"/>
                  <a:pt x="3484604" y="2583369"/>
                </a:cubicBezTo>
                <a:cubicBezTo>
                  <a:pt x="3445744" y="2574537"/>
                  <a:pt x="3406450" y="2567738"/>
                  <a:pt x="3367373" y="2559923"/>
                </a:cubicBezTo>
                <a:cubicBezTo>
                  <a:pt x="3265773" y="2571646"/>
                  <a:pt x="3161330" y="2568503"/>
                  <a:pt x="3062573" y="2595092"/>
                </a:cubicBezTo>
                <a:cubicBezTo>
                  <a:pt x="2956047" y="2623772"/>
                  <a:pt x="2858802" y="2679735"/>
                  <a:pt x="2757773" y="2724046"/>
                </a:cubicBezTo>
                <a:cubicBezTo>
                  <a:pt x="2636047" y="2777434"/>
                  <a:pt x="2523743" y="2857725"/>
                  <a:pt x="2394357" y="2888169"/>
                </a:cubicBezTo>
                <a:cubicBezTo>
                  <a:pt x="2134085" y="2949410"/>
                  <a:pt x="2263177" y="2930805"/>
                  <a:pt x="2007496" y="2946785"/>
                </a:cubicBezTo>
                <a:cubicBezTo>
                  <a:pt x="1301301" y="2760945"/>
                  <a:pt x="1568459" y="2793857"/>
                  <a:pt x="1222050" y="2759216"/>
                </a:cubicBezTo>
                <a:cubicBezTo>
                  <a:pt x="1081373" y="2763124"/>
                  <a:pt x="940052" y="2756936"/>
                  <a:pt x="800019" y="2770939"/>
                </a:cubicBezTo>
                <a:cubicBezTo>
                  <a:pt x="743405" y="2776600"/>
                  <a:pt x="690393" y="2801482"/>
                  <a:pt x="635896" y="2817831"/>
                </a:cubicBezTo>
                <a:cubicBezTo>
                  <a:pt x="493190" y="2860642"/>
                  <a:pt x="626746" y="2825980"/>
                  <a:pt x="518665" y="2853000"/>
                </a:cubicBezTo>
                <a:cubicBezTo>
                  <a:pt x="296642" y="2821283"/>
                  <a:pt x="247214" y="2855348"/>
                  <a:pt x="108357" y="2759216"/>
                </a:cubicBezTo>
                <a:cubicBezTo>
                  <a:pt x="83264" y="2741844"/>
                  <a:pt x="61465" y="2720139"/>
                  <a:pt x="38019" y="2700600"/>
                </a:cubicBezTo>
                <a:cubicBezTo>
                  <a:pt x="26296" y="2669339"/>
                  <a:pt x="4300" y="2640172"/>
                  <a:pt x="2850" y="2606816"/>
                </a:cubicBezTo>
                <a:cubicBezTo>
                  <a:pt x="-7334" y="2372578"/>
                  <a:pt x="11020" y="2165391"/>
                  <a:pt x="38019" y="1938600"/>
                </a:cubicBezTo>
                <a:cubicBezTo>
                  <a:pt x="48734" y="1848597"/>
                  <a:pt x="60141" y="1758663"/>
                  <a:pt x="73188" y="1668969"/>
                </a:cubicBezTo>
                <a:cubicBezTo>
                  <a:pt x="91406" y="1543724"/>
                  <a:pt x="131804" y="1420394"/>
                  <a:pt x="131804" y="1293831"/>
                </a:cubicBezTo>
                <a:lnTo>
                  <a:pt x="155250" y="62561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1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D3EB7-3BE0-E7C1-B4BB-5B7A4A16418E}"/>
              </a:ext>
            </a:extLst>
          </p:cNvPr>
          <p:cNvSpPr txBox="1"/>
          <p:nvPr/>
        </p:nvSpPr>
        <p:spPr>
          <a:xfrm>
            <a:off x="9071095" y="2426677"/>
            <a:ext cx="2614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Trajectories generated by static 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C03851-25D8-8994-2719-1DD59C9B0B7A}"/>
              </a:ext>
            </a:extLst>
          </p:cNvPr>
          <p:cNvSpPr txBox="1"/>
          <p:nvPr/>
        </p:nvSpPr>
        <p:spPr>
          <a:xfrm>
            <a:off x="2963372" y="1370108"/>
            <a:ext cx="8018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Adapted from https://www.di.ens.fr/~cousot/AI/IntroAbsInt.html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B52E07-1439-3D87-AE58-A48214619D44}"/>
              </a:ext>
            </a:extLst>
          </p:cNvPr>
          <p:cNvSpPr txBox="1"/>
          <p:nvPr/>
        </p:nvSpPr>
        <p:spPr>
          <a:xfrm>
            <a:off x="453142" y="5834430"/>
            <a:ext cx="111929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Static analysis covers all possible program paths (is sound), but has </a:t>
            </a:r>
            <a:r>
              <a:rPr lang="en-US" sz="2000" i="1" dirty="0" err="1"/>
              <a:t>overapproximation</a:t>
            </a:r>
            <a:r>
              <a:rPr lang="en-US" sz="2000" i="1" dirty="0"/>
              <a:t> (is imprecise)</a:t>
            </a:r>
          </a:p>
        </p:txBody>
      </p:sp>
    </p:spTree>
    <p:extLst>
      <p:ext uri="{BB962C8B-B14F-4D97-AF65-F5344CB8AC3E}">
        <p14:creationId xmlns:p14="http://schemas.microsoft.com/office/powerpoint/2010/main" val="39503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32159-231A-1390-F156-B988F23A6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Analysis Tools: </a:t>
            </a:r>
            <a:r>
              <a:rPr lang="en-US" dirty="0" err="1"/>
              <a:t>Astree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C12F4-EDA6-1501-3969-BD5BE7B3A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Based on abstract interpretation applied to the semantics of C language</a:t>
            </a:r>
          </a:p>
          <a:p>
            <a:pPr lvl="1"/>
            <a:r>
              <a:rPr lang="en-US" dirty="0"/>
              <a:t>Abstract interpretation is a mathematically formal way of doing the analysis we’ve been doing</a:t>
            </a:r>
          </a:p>
          <a:p>
            <a:pPr lvl="1"/>
            <a:r>
              <a:rPr lang="en-US" dirty="0"/>
              <a:t>More details: </a:t>
            </a:r>
            <a:r>
              <a:rPr lang="en-US" dirty="0">
                <a:hlinkClick r:id="rId3"/>
              </a:rPr>
              <a:t>https://pages.cs.wisc.edu/~horwitz/CS704-NOTES/10.ABSTRACT-INTERPRETATION.html</a:t>
            </a:r>
            <a:br>
              <a:rPr lang="en-US" dirty="0"/>
            </a:br>
            <a:endParaRPr lang="en-US" dirty="0"/>
          </a:p>
          <a:p>
            <a:r>
              <a:rPr lang="en-US" dirty="0"/>
              <a:t>Types of bugs detected:</a:t>
            </a:r>
          </a:p>
          <a:p>
            <a:pPr lvl="1"/>
            <a:r>
              <a:rPr lang="en-US" dirty="0"/>
              <a:t>Division by zero</a:t>
            </a:r>
          </a:p>
          <a:p>
            <a:pPr lvl="1"/>
            <a:r>
              <a:rPr lang="en-US" dirty="0"/>
              <a:t>Out of bounds array indexing</a:t>
            </a:r>
          </a:p>
          <a:p>
            <a:pPr lvl="1"/>
            <a:r>
              <a:rPr lang="en-US" dirty="0"/>
              <a:t>Erroneous pointer manipulation and dereferencing (NULL, </a:t>
            </a:r>
            <a:r>
              <a:rPr lang="en-US" dirty="0" err="1"/>
              <a:t>unitialized</a:t>
            </a:r>
            <a:r>
              <a:rPr lang="en-US" dirty="0"/>
              <a:t> and dangling pointers)</a:t>
            </a:r>
          </a:p>
          <a:p>
            <a:pPr lvl="1"/>
            <a:r>
              <a:rPr lang="en-US" dirty="0"/>
              <a:t>Integer and floating-point arithmetic overflow</a:t>
            </a:r>
          </a:p>
          <a:p>
            <a:pPr lvl="1"/>
            <a:r>
              <a:rPr lang="en-US" dirty="0"/>
              <a:t>Read access to uninitialized variables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Used by Airbus France, Bosch automotive steering, </a:t>
            </a:r>
            <a:r>
              <a:rPr lang="en-US" dirty="0" err="1"/>
              <a:t>Framatome</a:t>
            </a:r>
            <a:r>
              <a:rPr lang="en-US" dirty="0"/>
              <a:t> (</a:t>
            </a:r>
            <a:r>
              <a:rPr lang="en-US" dirty="0" err="1"/>
              <a:t>nucleur</a:t>
            </a:r>
            <a:r>
              <a:rPr lang="en-US" dirty="0"/>
              <a:t> reactor safety)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C5BFF-5188-8FAC-8B4F-133181FF30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4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26F7C-122E-829C-752D-F67ADEE1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Analysis Tools: </a:t>
            </a:r>
            <a:r>
              <a:rPr lang="en-US" dirty="0" err="1"/>
              <a:t>CppCheck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3B761-DDCD-36FB-20C6-B769D5B46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Automatic variable checking</a:t>
            </a:r>
          </a:p>
          <a:p>
            <a:r>
              <a:rPr lang="en-US" dirty="0"/>
              <a:t>Bounds checking for array overruns</a:t>
            </a:r>
          </a:p>
          <a:p>
            <a:r>
              <a:rPr lang="en-US" dirty="0"/>
              <a:t>Classes checking (e.g. unused functions, variable initialization and memory duplication)</a:t>
            </a:r>
          </a:p>
          <a:p>
            <a:r>
              <a:rPr lang="en-US" dirty="0"/>
              <a:t>Usage of deprecated or superseded functions according to Open Group</a:t>
            </a:r>
          </a:p>
          <a:p>
            <a:r>
              <a:rPr lang="en-US" dirty="0"/>
              <a:t>Exception safety checking, for example usage of memory allocation and destructor checks</a:t>
            </a:r>
          </a:p>
          <a:p>
            <a:r>
              <a:rPr lang="en-US" dirty="0"/>
              <a:t>Memory leaks, e.g. due to lost scope without deallocation</a:t>
            </a:r>
          </a:p>
          <a:p>
            <a:r>
              <a:rPr lang="en-US" dirty="0"/>
              <a:t>Resource leaks, e.g. due to forgetting to close a file handle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2A9C5-5F67-44B3-B849-41972921AC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12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2704</Words>
  <Application>Microsoft Office PowerPoint</Application>
  <PresentationFormat>Widescreen</PresentationFormat>
  <Paragraphs>585</Paragraphs>
  <Slides>24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Consolas</vt:lpstr>
      <vt:lpstr>Courier</vt:lpstr>
      <vt:lpstr>Courier New</vt:lpstr>
      <vt:lpstr>Times</vt:lpstr>
      <vt:lpstr>Wingdings</vt:lpstr>
      <vt:lpstr>Office Theme</vt:lpstr>
      <vt:lpstr>Static Analysis</vt:lpstr>
      <vt:lpstr>Testing approaches</vt:lpstr>
      <vt:lpstr>What is static analysis</vt:lpstr>
      <vt:lpstr>Defects Static Analysis can Catch</vt:lpstr>
      <vt:lpstr>Static Analysis Example</vt:lpstr>
      <vt:lpstr>Applying Zero Analysis</vt:lpstr>
      <vt:lpstr>Applying Zero Analysis</vt:lpstr>
      <vt:lpstr>Applying Zero Analysis</vt:lpstr>
      <vt:lpstr>Termination</vt:lpstr>
      <vt:lpstr>Abstraction at Work</vt:lpstr>
      <vt:lpstr>Exercise</vt:lpstr>
      <vt:lpstr>Control flow graph</vt:lpstr>
      <vt:lpstr>Null pointer analysis</vt:lpstr>
      <vt:lpstr>Control flow graph</vt:lpstr>
      <vt:lpstr>Sign Analysis</vt:lpstr>
      <vt:lpstr>Sign Analysis (Negative Array Index)</vt:lpstr>
      <vt:lpstr>Sign Analysis</vt:lpstr>
      <vt:lpstr>Sign Analysis: Control Flow Graph</vt:lpstr>
      <vt:lpstr>Sign Analysis: Apply Abstraction Rules</vt:lpstr>
      <vt:lpstr>Another Program</vt:lpstr>
      <vt:lpstr>Exercise</vt:lpstr>
      <vt:lpstr>Static Analysis Soundness and Precision</vt:lpstr>
      <vt:lpstr>Static Analysis Tools: Astree</vt:lpstr>
      <vt:lpstr>Static Analysis Tools: CppCheck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Analysis</dc:title>
  <dc:creator>Palit, Tapti</dc:creator>
  <cp:lastModifiedBy>Tapti Palit</cp:lastModifiedBy>
  <cp:revision>67</cp:revision>
  <dcterms:created xsi:type="dcterms:W3CDTF">2023-03-20T12:55:00Z</dcterms:created>
  <dcterms:modified xsi:type="dcterms:W3CDTF">2025-12-20T20:06:53Z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2023-03-20T13:05:38Z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c92f3b87-4bed-4724-9f96-041db3341f80</vt:lpwstr>
  </property>
  <property fmtid="{D5CDD505-2E9C-101B-9397-08002B2CF9AE}" pid="8" name="MSIP_Label_4044bd30-2ed7-4c9d-9d12-46200872a97b_ContentBits">
    <vt:lpwstr>0</vt:lpwstr>
  </property>
</Properties>
</file>