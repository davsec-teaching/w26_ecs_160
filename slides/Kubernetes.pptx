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45"/>
  </p:notesMasterIdLst>
  <p:handoutMasterIdLst>
    <p:handoutMasterId r:id="rId46"/>
  </p:handoutMasterIdLst>
  <p:sldIdLst>
    <p:sldId id="256" r:id="rId2"/>
    <p:sldId id="562" r:id="rId3"/>
    <p:sldId id="560" r:id="rId4"/>
    <p:sldId id="563" r:id="rId5"/>
    <p:sldId id="564" r:id="rId6"/>
    <p:sldId id="257" r:id="rId7"/>
    <p:sldId id="259" r:id="rId8"/>
    <p:sldId id="574" r:id="rId9"/>
    <p:sldId id="343" r:id="rId10"/>
    <p:sldId id="565" r:id="rId11"/>
    <p:sldId id="328" r:id="rId12"/>
    <p:sldId id="344" r:id="rId13"/>
    <p:sldId id="260" r:id="rId14"/>
    <p:sldId id="592" r:id="rId15"/>
    <p:sldId id="301" r:id="rId16"/>
    <p:sldId id="575" r:id="rId17"/>
    <p:sldId id="294" r:id="rId18"/>
    <p:sldId id="590" r:id="rId19"/>
    <p:sldId id="566" r:id="rId20"/>
    <p:sldId id="576" r:id="rId21"/>
    <p:sldId id="568" r:id="rId22"/>
    <p:sldId id="577" r:id="rId23"/>
    <p:sldId id="567" r:id="rId24"/>
    <p:sldId id="578" r:id="rId25"/>
    <p:sldId id="591" r:id="rId26"/>
    <p:sldId id="579" r:id="rId27"/>
    <p:sldId id="580" r:id="rId28"/>
    <p:sldId id="581" r:id="rId29"/>
    <p:sldId id="583" r:id="rId30"/>
    <p:sldId id="582" r:id="rId31"/>
    <p:sldId id="570" r:id="rId32"/>
    <p:sldId id="584" r:id="rId33"/>
    <p:sldId id="585" r:id="rId34"/>
    <p:sldId id="586" r:id="rId35"/>
    <p:sldId id="588" r:id="rId36"/>
    <p:sldId id="593" r:id="rId37"/>
    <p:sldId id="594" r:id="rId38"/>
    <p:sldId id="595" r:id="rId39"/>
    <p:sldId id="596" r:id="rId40"/>
    <p:sldId id="597" r:id="rId41"/>
    <p:sldId id="598" r:id="rId42"/>
    <p:sldId id="587" r:id="rId43"/>
    <p:sldId id="589" r:id="rId44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6EFFD"/>
    <a:srgbClr val="FFEBCA"/>
    <a:srgbClr val="B8B8B8"/>
    <a:srgbClr val="EDEDED"/>
    <a:srgbClr val="B9B9FF"/>
    <a:srgbClr val="FFFFFF"/>
    <a:srgbClr val="DDDDFF"/>
    <a:srgbClr val="FFD5D5"/>
    <a:srgbClr val="E6E0EC"/>
    <a:srgbClr val="6464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769" autoAdjust="0"/>
    <p:restoredTop sz="77545" autoAdjust="0"/>
  </p:normalViewPr>
  <p:slideViewPr>
    <p:cSldViewPr snapToGrid="0">
      <p:cViewPr>
        <p:scale>
          <a:sx n="55" d="100"/>
          <a:sy n="55" d="100"/>
        </p:scale>
        <p:origin x="1184" y="904"/>
      </p:cViewPr>
      <p:guideLst/>
    </p:cSldViewPr>
  </p:slideViewPr>
  <p:outlineViewPr>
    <p:cViewPr>
      <p:scale>
        <a:sx n="33" d="100"/>
        <a:sy n="33" d="100"/>
      </p:scale>
      <p:origin x="0" y="-4657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946"/>
    </p:cViewPr>
  </p:sorter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3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D5CA0-D6BB-AC33-BEC2-DC2732154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6A4B64-E66F-D67B-592C-C8C5BEDE0C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DE934E-EE95-5A31-D3AB-5E450BB234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6271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A9284-B6FE-9E60-53C9-C318F368D5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CB0995-BC17-22BB-0700-3C7F009F5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71BA2D-09AB-4089-A820-C710F2CC9E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7183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E1CF7-D55A-58D4-CFAD-34C4ABE90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A8112-0DA0-06B0-88D8-27D0EC7C0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3CB1A-8A31-0C42-F7FB-08D7A66E2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80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8855-276C-8C17-05DE-7A169E26E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60CEAD-477D-CE7F-AB25-FE6F17FB64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0B7194-66AD-40A0-01A0-060B560D50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822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843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Ask about the WSL</a:t>
            </a:r>
          </a:p>
        </p:txBody>
      </p:sp>
    </p:spTree>
    <p:extLst>
      <p:ext uri="{BB962C8B-B14F-4D97-AF65-F5344CB8AC3E}">
        <p14:creationId xmlns:p14="http://schemas.microsoft.com/office/powerpoint/2010/main" val="19940315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Install docker.io</a:t>
            </a:r>
          </a:p>
          <a:p>
            <a:pPr marL="171450" indent="-171450">
              <a:buFontTx/>
              <a:buChar char="-"/>
            </a:pPr>
            <a:r>
              <a:rPr lang="en-US" dirty="0"/>
              <a:t>Write a simple text file</a:t>
            </a:r>
          </a:p>
        </p:txBody>
      </p:sp>
    </p:spTree>
    <p:extLst>
      <p:ext uri="{BB962C8B-B14F-4D97-AF65-F5344CB8AC3E}">
        <p14:creationId xmlns:p14="http://schemas.microsoft.com/office/powerpoint/2010/main" val="859582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diagram with master node</a:t>
            </a:r>
          </a:p>
        </p:txBody>
      </p:sp>
    </p:spTree>
    <p:extLst>
      <p:ext uri="{BB962C8B-B14F-4D97-AF65-F5344CB8AC3E}">
        <p14:creationId xmlns:p14="http://schemas.microsoft.com/office/powerpoint/2010/main" val="6953776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9CA8C-1555-8AF4-6915-D9B6F0E78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95DFF9-B59C-6879-4D5E-0E681DE808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A081C5-1E63-80E2-00F5-7CC6E96BF5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diagram with master node</a:t>
            </a:r>
          </a:p>
        </p:txBody>
      </p:sp>
    </p:spTree>
    <p:extLst>
      <p:ext uri="{BB962C8B-B14F-4D97-AF65-F5344CB8AC3E}">
        <p14:creationId xmlns:p14="http://schemas.microsoft.com/office/powerpoint/2010/main" val="30740603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09CBB-BE0D-F5D9-1B1C-9A089BB59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81675-358A-6216-4182-4E1A04000E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59BE7-146E-BBE5-1537-56A96B59AA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276466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E7CCB-2F3E-C4E3-45D6-AA1212A7C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716DDF-DA9C-AF7E-E418-7156768A3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93BD2A-D216-96C3-51D7-9BD0A68BB2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4219243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92061-EEC7-28BA-3C1C-60C6C6EBE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17C2EA-9BBB-DEF3-9812-ECE2E1346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5868-B467-8854-BF6F-50B2C5F8F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18014909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DA77D-2153-01B3-EFAC-0915DE612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C0DE15-57A6-15ED-47DF-3947E64C87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82E2-B39E-8F87-EE8C-A98D2160A2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6666220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7947C-7C2A-4EF2-A0B6-94BBE2FA2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21007C-92C6-4B01-552F-D9F5E82BB0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6E0EE-9A49-2E3E-BC97-5744313C43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1271141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E21D7-DB87-A407-C513-AC12BDFDB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55DF0-F0FA-94FC-2361-249BC6B4D4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C26427-77D9-E677-731A-D0F188B5F4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27286516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AF33E-FC1A-4265-B8BE-9A011CF71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8FE380-22F7-2DE9-D677-79229377C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BDFE09-84E8-1535-D4AC-50A2F3107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13269879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2DAF4-75C9-F47E-28E0-C7BDE2D0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8CB2E-6589-769D-0FB2-9EAB9BCF2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A9A342-C5FE-084D-DFA0-963BE58088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1835788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732DF-BF90-7E32-4601-30F3656BE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C958E4-A727-D6C9-950E-95A73123E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915BBD-0BC0-198F-7046-75F9672E2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 Kafka clients which pull the events – the </a:t>
            </a:r>
            <a:r>
              <a:rPr lang="en-US" dirty="0" err="1"/>
              <a:t>kafka</a:t>
            </a:r>
            <a:r>
              <a:rPr lang="en-US" dirty="0"/>
              <a:t> broker does not push</a:t>
            </a:r>
          </a:p>
        </p:txBody>
      </p:sp>
    </p:spTree>
    <p:extLst>
      <p:ext uri="{BB962C8B-B14F-4D97-AF65-F5344CB8AC3E}">
        <p14:creationId xmlns:p14="http://schemas.microsoft.com/office/powerpoint/2010/main" val="667396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BB2B7-62A1-9B83-9B25-52B7C965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27DEA9-CAD4-725C-8F07-8219E0C7C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B95335-AAB9-6E57-D7C1-A649FD74D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18506311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A824F-67EB-EE76-30A5-F15219A9A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ABBA6-7441-ECEA-215A-927C260D88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CFC68A-05D8-814D-5300-4BCF597F5D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965659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37E4E-F7F9-4668-A1B2-7261F8838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F8FB6A-A6E5-2CC3-F55D-B053E2EA3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B20F87-C684-A4DE-DDD2-FD5239C902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10177004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C8D7-35ED-94F6-49CD-2A8E7FA64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E17227-8C12-4F9B-07B0-8713B93EF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317DE2-C189-919E-9789-B2C07DE8CB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Detailed control and data plane</a:t>
            </a:r>
          </a:p>
        </p:txBody>
      </p:sp>
    </p:spTree>
    <p:extLst>
      <p:ext uri="{BB962C8B-B14F-4D97-AF65-F5344CB8AC3E}">
        <p14:creationId xmlns:p14="http://schemas.microsoft.com/office/powerpoint/2010/main" val="3429055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February 24, 2026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February 24,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February 24,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Tuesday, February 24, 2026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Tuesday, February 24, 2026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/>
          <a:p>
            <a:r>
              <a:rPr lang="en-US" dirty="0"/>
              <a:t>Tapti Palit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/>
          <a:p>
            <a:r>
              <a:rPr lang="en-US" dirty="0"/>
              <a:t>Modern application deployment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A15A63-278E-1197-CB89-8ED0FBB06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/>
          <a:lstStyle/>
          <a:p>
            <a:r>
              <a:rPr lang="en-US" dirty="0"/>
              <a:t>Apps are deployed across many machines</a:t>
            </a:r>
          </a:p>
          <a:p>
            <a:r>
              <a:rPr lang="en-US" dirty="0"/>
              <a:t>Many (micro-)services are replicated across many machines for improved throughput and redundancy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65F98E4-0830-04E1-1730-9C90D3338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Modern application deployment</a:t>
            </a:r>
          </a:p>
        </p:txBody>
      </p:sp>
    </p:spTree>
    <p:extLst>
      <p:ext uri="{BB962C8B-B14F-4D97-AF65-F5344CB8AC3E}">
        <p14:creationId xmlns:p14="http://schemas.microsoft.com/office/powerpoint/2010/main" val="16523830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F5C29-AAA5-F31C-FA6E-4F8B40B14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Content Placeholder 80">
            <a:extLst>
              <a:ext uri="{FF2B5EF4-FFF2-40B4-BE49-F238E27FC236}">
                <a16:creationId xmlns:a16="http://schemas.microsoft.com/office/drawing/2014/main" id="{3F032B6A-CA97-3162-0300-909B4ADB5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97310E-7D8B-6EF7-387E-5A27FCEAF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/>
              <a:t>Online shop microservices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54360F-08C1-F077-A61C-080F5202A941}"/>
              </a:ext>
            </a:extLst>
          </p:cNvPr>
          <p:cNvGrpSpPr/>
          <p:nvPr/>
        </p:nvGrpSpPr>
        <p:grpSpPr>
          <a:xfrm>
            <a:off x="4405634" y="1231266"/>
            <a:ext cx="2722887" cy="1298623"/>
            <a:chOff x="4419035" y="932730"/>
            <a:chExt cx="2722887" cy="129862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648878-CFEC-2F15-8FC4-62041DEFF5F9}"/>
                </a:ext>
              </a:extLst>
            </p:cNvPr>
            <p:cNvSpPr/>
            <p:nvPr/>
          </p:nvSpPr>
          <p:spPr>
            <a:xfrm>
              <a:off x="4419035" y="932730"/>
              <a:ext cx="2722887" cy="1298623"/>
            </a:xfrm>
            <a:prstGeom prst="rect">
              <a:avLst/>
            </a:prstGeom>
            <a:solidFill>
              <a:srgbClr val="B8B8B8">
                <a:alpha val="38000"/>
              </a:srgbClr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8CCE1E8-BF26-4E14-6EFA-10A7C5B0065D}"/>
                </a:ext>
              </a:extLst>
            </p:cNvPr>
            <p:cNvSpPr txBox="1"/>
            <p:nvPr/>
          </p:nvSpPr>
          <p:spPr>
            <a:xfrm>
              <a:off x="5476088" y="932730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M1</a:t>
              </a: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06881A8-8979-BEF7-1627-CF62F4771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979" y="2721053"/>
            <a:ext cx="918692" cy="918692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70C7695-10C6-930E-9979-FE363DDDF889}"/>
              </a:ext>
            </a:extLst>
          </p:cNvPr>
          <p:cNvCxnSpPr/>
          <p:nvPr/>
        </p:nvCxnSpPr>
        <p:spPr>
          <a:xfrm flipV="1">
            <a:off x="2224135" y="3626132"/>
            <a:ext cx="4921" cy="6754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4" name="Picture 2" descr="Laptop - Free computer icons">
            <a:extLst>
              <a:ext uri="{FF2B5EF4-FFF2-40B4-BE49-F238E27FC236}">
                <a16:creationId xmlns:a16="http://schemas.microsoft.com/office/drawing/2014/main" id="{EB81DA13-61D0-B176-C322-33A880200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1599" y="4276642"/>
            <a:ext cx="1005072" cy="1005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6DA8F5B-1F7F-1807-8AC1-64AA7D543B4F}"/>
              </a:ext>
            </a:extLst>
          </p:cNvPr>
          <p:cNvSpPr txBox="1"/>
          <p:nvPr/>
        </p:nvSpPr>
        <p:spPr>
          <a:xfrm>
            <a:off x="1627433" y="5276017"/>
            <a:ext cx="1295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User laptop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CB3473-0885-94B4-9EC2-928D774E374F}"/>
              </a:ext>
            </a:extLst>
          </p:cNvPr>
          <p:cNvSpPr/>
          <p:nvPr/>
        </p:nvSpPr>
        <p:spPr>
          <a:xfrm>
            <a:off x="4591886" y="1609626"/>
            <a:ext cx="1145829" cy="5716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Product Microservice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46CDEB-AAF5-E2B0-3A72-85298600730A}"/>
              </a:ext>
            </a:extLst>
          </p:cNvPr>
          <p:cNvSpPr/>
          <p:nvPr/>
        </p:nvSpPr>
        <p:spPr>
          <a:xfrm>
            <a:off x="5801738" y="1609626"/>
            <a:ext cx="1142043" cy="57163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Order </a:t>
            </a:r>
            <a:r>
              <a:rPr lang="en-US" sz="1400" dirty="0" err="1"/>
              <a:t>MicroService</a:t>
            </a:r>
            <a:endParaRPr lang="en-US" sz="14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5F29766-5E5D-CB5E-1276-75FD0DD06282}"/>
              </a:ext>
            </a:extLst>
          </p:cNvPr>
          <p:cNvGrpSpPr/>
          <p:nvPr/>
        </p:nvGrpSpPr>
        <p:grpSpPr>
          <a:xfrm>
            <a:off x="4405635" y="2789951"/>
            <a:ext cx="2722886" cy="1339172"/>
            <a:chOff x="4417104" y="892181"/>
            <a:chExt cx="2722886" cy="1339172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6402D69-8A85-6448-AE33-135DB6B09AD3}"/>
                </a:ext>
              </a:extLst>
            </p:cNvPr>
            <p:cNvSpPr/>
            <p:nvPr/>
          </p:nvSpPr>
          <p:spPr>
            <a:xfrm>
              <a:off x="4417104" y="932730"/>
              <a:ext cx="2722886" cy="1298623"/>
            </a:xfrm>
            <a:prstGeom prst="rect">
              <a:avLst/>
            </a:prstGeom>
            <a:solidFill>
              <a:srgbClr val="B8B8B8">
                <a:alpha val="38000"/>
              </a:srgbClr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5B80575-3C70-8A17-1AB8-C9B677105F24}"/>
                </a:ext>
              </a:extLst>
            </p:cNvPr>
            <p:cNvSpPr txBox="1"/>
            <p:nvPr/>
          </p:nvSpPr>
          <p:spPr>
            <a:xfrm>
              <a:off x="5500359" y="892181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M2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06B7D16D-2AF2-C8F8-5AD9-FD18588045D7}"/>
              </a:ext>
            </a:extLst>
          </p:cNvPr>
          <p:cNvSpPr/>
          <p:nvPr/>
        </p:nvSpPr>
        <p:spPr>
          <a:xfrm>
            <a:off x="4582404" y="3219755"/>
            <a:ext cx="1143381" cy="5716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Product </a:t>
            </a:r>
            <a:r>
              <a:rPr lang="en-US" sz="1400" dirty="0" err="1">
                <a:solidFill>
                  <a:schemeClr val="tx1"/>
                </a:solidFill>
              </a:rPr>
              <a:t>MicroService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A1A1A4B-3B12-5823-DE05-E4257F04D1D7}"/>
              </a:ext>
            </a:extLst>
          </p:cNvPr>
          <p:cNvSpPr/>
          <p:nvPr/>
        </p:nvSpPr>
        <p:spPr>
          <a:xfrm>
            <a:off x="5792449" y="3207311"/>
            <a:ext cx="1155732" cy="57163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Order </a:t>
            </a:r>
            <a:r>
              <a:rPr lang="en-US" sz="1400" dirty="0" err="1"/>
              <a:t>MicroService</a:t>
            </a:r>
            <a:endParaRPr lang="en-US" sz="1400" dirty="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35997A0-E025-7BC2-E205-3BDE414CA5F7}"/>
              </a:ext>
            </a:extLst>
          </p:cNvPr>
          <p:cNvGrpSpPr/>
          <p:nvPr/>
        </p:nvGrpSpPr>
        <p:grpSpPr>
          <a:xfrm>
            <a:off x="4405634" y="4254143"/>
            <a:ext cx="2722886" cy="1298623"/>
            <a:chOff x="4419035" y="932730"/>
            <a:chExt cx="2722886" cy="1298623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C662F6-7484-F704-58EE-68CFDF08FE93}"/>
                </a:ext>
              </a:extLst>
            </p:cNvPr>
            <p:cNvSpPr/>
            <p:nvPr/>
          </p:nvSpPr>
          <p:spPr>
            <a:xfrm>
              <a:off x="4419035" y="932730"/>
              <a:ext cx="2722886" cy="1298623"/>
            </a:xfrm>
            <a:prstGeom prst="rect">
              <a:avLst/>
            </a:prstGeom>
            <a:solidFill>
              <a:srgbClr val="B8B8B8">
                <a:alpha val="38000"/>
              </a:srgbClr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2082FAB-FE38-3ACE-DFDA-5DEB77D09791}"/>
                </a:ext>
              </a:extLst>
            </p:cNvPr>
            <p:cNvSpPr txBox="1"/>
            <p:nvPr/>
          </p:nvSpPr>
          <p:spPr>
            <a:xfrm>
              <a:off x="5476088" y="932730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M3</a:t>
              </a:r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E7283653-10AB-E2EE-DD8A-AA924C06F3EE}"/>
              </a:ext>
            </a:extLst>
          </p:cNvPr>
          <p:cNvSpPr/>
          <p:nvPr/>
        </p:nvSpPr>
        <p:spPr>
          <a:xfrm>
            <a:off x="4579649" y="4668811"/>
            <a:ext cx="1125753" cy="571633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Customer </a:t>
            </a:r>
            <a:r>
              <a:rPr lang="en-US" sz="1400" dirty="0" err="1">
                <a:solidFill>
                  <a:schemeClr val="tx1"/>
                </a:solidFill>
              </a:rPr>
              <a:t>MicroService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EA64395-8E38-ADAA-8497-AB0EC8A3E3E0}"/>
              </a:ext>
            </a:extLst>
          </p:cNvPr>
          <p:cNvSpPr/>
          <p:nvPr/>
        </p:nvSpPr>
        <p:spPr>
          <a:xfrm>
            <a:off x="5744223" y="4667572"/>
            <a:ext cx="1125753" cy="57163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Order </a:t>
            </a:r>
            <a:r>
              <a:rPr lang="en-US" sz="1400" dirty="0" err="1"/>
              <a:t>MicroService</a:t>
            </a:r>
            <a:endParaRPr lang="en-US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BD3512-1BB2-F1EC-EC75-31CB6C9868EA}"/>
              </a:ext>
            </a:extLst>
          </p:cNvPr>
          <p:cNvSpPr txBox="1"/>
          <p:nvPr/>
        </p:nvSpPr>
        <p:spPr>
          <a:xfrm>
            <a:off x="1496953" y="2353255"/>
            <a:ext cx="1540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Load Balancer</a:t>
            </a:r>
          </a:p>
        </p:txBody>
      </p: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062933AC-B609-E901-75C6-F6158CB0BAC2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 flipV="1">
            <a:off x="2726671" y="1895443"/>
            <a:ext cx="1865215" cy="128495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Elbow Connector 62">
            <a:extLst>
              <a:ext uri="{FF2B5EF4-FFF2-40B4-BE49-F238E27FC236}">
                <a16:creationId xmlns:a16="http://schemas.microsoft.com/office/drawing/2014/main" id="{F97E6D62-C3C7-F952-9680-F8892C7FBA3C}"/>
              </a:ext>
            </a:extLst>
          </p:cNvPr>
          <p:cNvCxnSpPr>
            <a:cxnSpLocks/>
            <a:stCxn id="12" idx="3"/>
            <a:endCxn id="37" idx="2"/>
          </p:cNvCxnSpPr>
          <p:nvPr/>
        </p:nvCxnSpPr>
        <p:spPr>
          <a:xfrm>
            <a:off x="2726671" y="3180399"/>
            <a:ext cx="2415855" cy="2060045"/>
          </a:xfrm>
          <a:prstGeom prst="bentConnector4">
            <a:avLst>
              <a:gd name="adj1" fmla="val 38350"/>
              <a:gd name="adj2" fmla="val 11109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6E70D06E-CDE4-7160-D13F-CB27D43DEEDB}"/>
              </a:ext>
            </a:extLst>
          </p:cNvPr>
          <p:cNvGrpSpPr/>
          <p:nvPr/>
        </p:nvGrpSpPr>
        <p:grpSpPr>
          <a:xfrm>
            <a:off x="7701435" y="740240"/>
            <a:ext cx="3506574" cy="1501588"/>
            <a:chOff x="7749561" y="535707"/>
            <a:chExt cx="3506574" cy="1501588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C3F5D5E-4436-80C6-0D9A-803D4AD5B12F}"/>
                </a:ext>
              </a:extLst>
            </p:cNvPr>
            <p:cNvSpPr/>
            <p:nvPr/>
          </p:nvSpPr>
          <p:spPr>
            <a:xfrm>
              <a:off x="7749561" y="738672"/>
              <a:ext cx="3506574" cy="1298623"/>
            </a:xfrm>
            <a:prstGeom prst="rect">
              <a:avLst/>
            </a:prstGeom>
            <a:solidFill>
              <a:srgbClr val="B8B8B8">
                <a:alpha val="38000"/>
              </a:srgbClr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4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496BF6AE-56FC-7A57-BA76-FD4C3248BF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16019" y="827843"/>
              <a:ext cx="498625" cy="498625"/>
            </a:xfrm>
            <a:prstGeom prst="rect">
              <a:avLst/>
            </a:prstGeom>
          </p:spPr>
        </p:pic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FE0D7F54-603B-8E0E-27AD-9CCB46D2E32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09657" y="827842"/>
              <a:ext cx="498625" cy="498625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48B5E9F-0912-780C-EA2F-915EE687357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377533" y="827841"/>
              <a:ext cx="498625" cy="498625"/>
            </a:xfrm>
            <a:prstGeom prst="rect">
              <a:avLst/>
            </a:prstGeom>
          </p:spPr>
        </p:pic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231A9DF5-6CE3-E291-CCFD-16CEE84166AD}"/>
                </a:ext>
              </a:extLst>
            </p:cNvPr>
            <p:cNvSpPr txBox="1"/>
            <p:nvPr/>
          </p:nvSpPr>
          <p:spPr>
            <a:xfrm>
              <a:off x="7845898" y="1349927"/>
              <a:ext cx="8361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/>
                <a:t>Orders DB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B277825-2923-B8C2-8BC2-FB13986176A6}"/>
                </a:ext>
              </a:extLst>
            </p:cNvPr>
            <p:cNvSpPr txBox="1"/>
            <p:nvPr/>
          </p:nvSpPr>
          <p:spPr>
            <a:xfrm>
              <a:off x="8989366" y="1358714"/>
              <a:ext cx="97888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/>
                <a:t>Product DB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6DF9FD6F-2198-505D-0737-9CDA94593C57}"/>
                </a:ext>
              </a:extLst>
            </p:cNvPr>
            <p:cNvSpPr txBox="1"/>
            <p:nvPr/>
          </p:nvSpPr>
          <p:spPr>
            <a:xfrm>
              <a:off x="10021493" y="1349926"/>
              <a:ext cx="123464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i="1" dirty="0"/>
                <a:t>Customer DB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EDC9BF6-40BA-6430-ACE1-A0F29F80A31B}"/>
                </a:ext>
              </a:extLst>
            </p:cNvPr>
            <p:cNvSpPr txBox="1"/>
            <p:nvPr/>
          </p:nvSpPr>
          <p:spPr>
            <a:xfrm>
              <a:off x="9539243" y="535707"/>
              <a:ext cx="5036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M4</a:t>
              </a:r>
            </a:p>
          </p:txBody>
        </p:sp>
      </p:grp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79460809-21FE-EFF6-413A-C2DCA150562D}"/>
              </a:ext>
            </a:extLst>
          </p:cNvPr>
          <p:cNvCxnSpPr>
            <a:cxnSpLocks/>
            <a:stCxn id="12" idx="3"/>
            <a:endCxn id="23" idx="2"/>
          </p:cNvCxnSpPr>
          <p:nvPr/>
        </p:nvCxnSpPr>
        <p:spPr>
          <a:xfrm flipV="1">
            <a:off x="2726671" y="2181259"/>
            <a:ext cx="3646089" cy="9991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3B7AE0CC-CB43-5449-4AE6-53A0330B64B9}"/>
              </a:ext>
            </a:extLst>
          </p:cNvPr>
          <p:cNvCxnSpPr>
            <a:stCxn id="7" idx="3"/>
            <a:endCxn id="86" idx="1"/>
          </p:cNvCxnSpPr>
          <p:nvPr/>
        </p:nvCxnSpPr>
        <p:spPr>
          <a:xfrm flipV="1">
            <a:off x="7128521" y="1592517"/>
            <a:ext cx="572914" cy="288061"/>
          </a:xfrm>
          <a:prstGeom prst="bentConnector3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1B8B0036-C88A-D178-46AD-BAD84A74B6B2}"/>
              </a:ext>
            </a:extLst>
          </p:cNvPr>
          <p:cNvCxnSpPr>
            <a:cxnSpLocks/>
            <a:stCxn id="27" idx="3"/>
            <a:endCxn id="86" idx="2"/>
          </p:cNvCxnSpPr>
          <p:nvPr/>
        </p:nvCxnSpPr>
        <p:spPr>
          <a:xfrm flipV="1">
            <a:off x="7128521" y="2241828"/>
            <a:ext cx="2326201" cy="1237984"/>
          </a:xfrm>
          <a:prstGeom prst="bentConnector2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05A12749-9394-2188-900E-E2A363F45DEA}"/>
              </a:ext>
            </a:extLst>
          </p:cNvPr>
          <p:cNvCxnSpPr>
            <a:cxnSpLocks/>
            <a:stCxn id="35" idx="3"/>
            <a:endCxn id="85" idx="2"/>
          </p:cNvCxnSpPr>
          <p:nvPr/>
        </p:nvCxnSpPr>
        <p:spPr>
          <a:xfrm flipV="1">
            <a:off x="7128520" y="2200790"/>
            <a:ext cx="3462168" cy="2702665"/>
          </a:xfrm>
          <a:prstGeom prst="bentConnector2">
            <a:avLst/>
          </a:prstGeom>
          <a:ln>
            <a:prstDash val="dash"/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737A1D2A-AB4E-6F5C-AB75-2A1FD825DEF4}"/>
              </a:ext>
            </a:extLst>
          </p:cNvPr>
          <p:cNvCxnSpPr>
            <a:cxnSpLocks/>
            <a:stCxn id="12" idx="3"/>
            <a:endCxn id="29" idx="2"/>
          </p:cNvCxnSpPr>
          <p:nvPr/>
        </p:nvCxnSpPr>
        <p:spPr>
          <a:xfrm>
            <a:off x="2726671" y="3180399"/>
            <a:ext cx="2427424" cy="610989"/>
          </a:xfrm>
          <a:prstGeom prst="bentConnector4">
            <a:avLst>
              <a:gd name="adj1" fmla="val 38224"/>
              <a:gd name="adj2" fmla="val 137415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5EEBBF65-6951-68BD-B17D-40FA102C158A}"/>
              </a:ext>
            </a:extLst>
          </p:cNvPr>
          <p:cNvCxnSpPr>
            <a:cxnSpLocks/>
            <a:stCxn id="12" idx="3"/>
            <a:endCxn id="38" idx="2"/>
          </p:cNvCxnSpPr>
          <p:nvPr/>
        </p:nvCxnSpPr>
        <p:spPr>
          <a:xfrm>
            <a:off x="2726671" y="3180399"/>
            <a:ext cx="3580429" cy="2058806"/>
          </a:xfrm>
          <a:prstGeom prst="bentConnector4">
            <a:avLst>
              <a:gd name="adj1" fmla="val 26010"/>
              <a:gd name="adj2" fmla="val 11110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F2EC2975-6ED0-57AA-B65B-649309395883}"/>
              </a:ext>
            </a:extLst>
          </p:cNvPr>
          <p:cNvSpPr/>
          <p:nvPr/>
        </p:nvSpPr>
        <p:spPr>
          <a:xfrm>
            <a:off x="5725785" y="3044283"/>
            <a:ext cx="1323691" cy="947854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9B573EE3-C59C-1B03-D2EA-4CA2E9C50F65}"/>
              </a:ext>
            </a:extLst>
          </p:cNvPr>
          <p:cNvSpPr/>
          <p:nvPr/>
        </p:nvSpPr>
        <p:spPr>
          <a:xfrm>
            <a:off x="5664665" y="4517350"/>
            <a:ext cx="1323691" cy="947854"/>
          </a:xfrm>
          <a:prstGeom prst="rect">
            <a:avLst/>
          </a:prstGeom>
          <a:noFill/>
          <a:ln w="222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193EA7C-0C2C-B384-93AA-61F466CEB45B}"/>
              </a:ext>
            </a:extLst>
          </p:cNvPr>
          <p:cNvSpPr txBox="1"/>
          <p:nvPr/>
        </p:nvSpPr>
        <p:spPr>
          <a:xfrm>
            <a:off x="6881838" y="2722631"/>
            <a:ext cx="873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Replica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1536D09-399C-CA55-AD21-0BADA7DC3546}"/>
              </a:ext>
            </a:extLst>
          </p:cNvPr>
          <p:cNvSpPr txBox="1"/>
          <p:nvPr/>
        </p:nvSpPr>
        <p:spPr>
          <a:xfrm>
            <a:off x="6887150" y="4169672"/>
            <a:ext cx="873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Replica</a:t>
            </a:r>
          </a:p>
        </p:txBody>
      </p:sp>
    </p:spTree>
    <p:extLst>
      <p:ext uri="{BB962C8B-B14F-4D97-AF65-F5344CB8AC3E}">
        <p14:creationId xmlns:p14="http://schemas.microsoft.com/office/powerpoint/2010/main" val="4065507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" grpId="0" animBg="1"/>
      <p:bldP spid="77" grpId="0" animBg="1"/>
      <p:bldP spid="78" grpId="0"/>
      <p:bldP spid="7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BD805-592D-8951-06A6-13843521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FE9BD4-FC0F-8044-5574-CE5623A06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/>
          <a:lstStyle/>
          <a:p>
            <a:r>
              <a:rPr lang="en-US" dirty="0"/>
              <a:t>Microservices deployed on hundreds of nodes</a:t>
            </a:r>
          </a:p>
          <a:p>
            <a:r>
              <a:rPr lang="en-US" dirty="0"/>
              <a:t>Manually configuring and monitoring hundreds or thousands of nodes is not feasible</a:t>
            </a:r>
          </a:p>
          <a:p>
            <a:r>
              <a:rPr lang="en-US" dirty="0"/>
              <a:t>Cluster management must be automated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82A22E-67FB-7A74-B308-E94F93529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Automated cluster management</a:t>
            </a:r>
          </a:p>
        </p:txBody>
      </p:sp>
    </p:spTree>
    <p:extLst>
      <p:ext uri="{BB962C8B-B14F-4D97-AF65-F5344CB8AC3E}">
        <p14:creationId xmlns:p14="http://schemas.microsoft.com/office/powerpoint/2010/main" val="379521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0AE73-3CD1-6074-ADDF-E48B6E3EE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20EC84-B461-1E7B-0929-8C88D4C420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Automatically schedule services on nodes</a:t>
            </a:r>
          </a:p>
          <a:p>
            <a:pPr lvl="1"/>
            <a:r>
              <a:rPr lang="en-US" dirty="0"/>
              <a:t>Each service needs its own environment</a:t>
            </a:r>
          </a:p>
          <a:p>
            <a:r>
              <a:rPr lang="en-US" dirty="0"/>
              <a:t>Minimize communication overhead</a:t>
            </a:r>
          </a:p>
          <a:p>
            <a:pPr lvl="1"/>
            <a:r>
              <a:rPr lang="en-US" dirty="0"/>
              <a:t>Deploy ”chatty” microservices on the same node</a:t>
            </a:r>
          </a:p>
          <a:p>
            <a:r>
              <a:rPr lang="en-US" dirty="0"/>
              <a:t>Ensure the node is well-provisioned to handle the service scheduled on it</a:t>
            </a:r>
          </a:p>
          <a:p>
            <a:pPr lvl="1"/>
            <a:r>
              <a:rPr lang="en-US" dirty="0"/>
              <a:t>Heterogenous clusters might have nodes with different CPU/RAM/disk capabilities</a:t>
            </a:r>
          </a:p>
          <a:p>
            <a:r>
              <a:rPr lang="en-US" dirty="0"/>
              <a:t>Detect node failures to stop routing requests to the failed nodes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CC0359-0DA1-4878-9A36-810D64B41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Cluster management requirements</a:t>
            </a:r>
          </a:p>
        </p:txBody>
      </p:sp>
    </p:spTree>
    <p:extLst>
      <p:ext uri="{BB962C8B-B14F-4D97-AF65-F5344CB8AC3E}">
        <p14:creationId xmlns:p14="http://schemas.microsoft.com/office/powerpoint/2010/main" val="3727520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/>
          <a:p>
            <a:r>
              <a:rPr lang="en-US" dirty="0"/>
              <a:t>Goal: automate deployment, scaling, and management of containerized applications</a:t>
            </a:r>
          </a:p>
          <a:p>
            <a:r>
              <a:rPr lang="en-US" dirty="0"/>
              <a:t>Origin: born from Google's internal systems Borg and Omega</a:t>
            </a:r>
          </a:p>
          <a:p>
            <a:r>
              <a:rPr lang="en-US" dirty="0"/>
              <a:t>Kubernetes (K8s) open-sourced in 2014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Kubernetes: goal &amp; history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9351E3-7B70-67A7-25BC-9194A1124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/>
          <a:p>
            <a:r>
              <a:rPr lang="en-US" dirty="0"/>
              <a:t>Virtual machines and containers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4078E-FC1F-0FA3-E8B7-21B4F6659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C590F6-1427-5F01-8CDD-AE99E6AE5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1907DD-9608-95C2-538A-AA0E38C4BD4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A hypervisor runs on the hardware</a:t>
            </a:r>
          </a:p>
          <a:p>
            <a:r>
              <a:rPr lang="en-US" dirty="0"/>
              <a:t>Each VM has its own kernel</a:t>
            </a:r>
          </a:p>
          <a:p>
            <a:r>
              <a:rPr lang="en-US" dirty="0"/>
              <a:t>Isolation enforced by hardware</a:t>
            </a:r>
          </a:p>
          <a:p>
            <a:pPr lvl="1"/>
            <a:r>
              <a:rPr lang="en-US" dirty="0"/>
              <a:t>Intel VT-x or AMD-V</a:t>
            </a:r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F4DE1-5A64-8694-10E0-41E28F3E0151}"/>
              </a:ext>
            </a:extLst>
          </p:cNvPr>
          <p:cNvSpPr txBox="1"/>
          <p:nvPr/>
        </p:nvSpPr>
        <p:spPr>
          <a:xfrm>
            <a:off x="6530224" y="911093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VM1</a:t>
            </a:r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D682DC-FE08-2EC3-9F3F-CF957D476507}"/>
              </a:ext>
            </a:extLst>
          </p:cNvPr>
          <p:cNvSpPr txBox="1"/>
          <p:nvPr/>
        </p:nvSpPr>
        <p:spPr>
          <a:xfrm>
            <a:off x="8528706" y="933499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VM2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2CBB5F-20D1-B82C-9A97-4AC86980E5A9}"/>
              </a:ext>
            </a:extLst>
          </p:cNvPr>
          <p:cNvSpPr txBox="1"/>
          <p:nvPr/>
        </p:nvSpPr>
        <p:spPr>
          <a:xfrm>
            <a:off x="10485419" y="903711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VM3</a:t>
            </a:r>
            <a:endParaRPr lang="en-US" b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463CA3-CA24-682A-1ED2-383AFFA9A19A}"/>
              </a:ext>
            </a:extLst>
          </p:cNvPr>
          <p:cNvSpPr/>
          <p:nvPr/>
        </p:nvSpPr>
        <p:spPr>
          <a:xfrm>
            <a:off x="5967810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84AC7F-38E8-CD8E-963B-6FAAD4108272}"/>
              </a:ext>
            </a:extLst>
          </p:cNvPr>
          <p:cNvSpPr/>
          <p:nvPr/>
        </p:nvSpPr>
        <p:spPr>
          <a:xfrm>
            <a:off x="7966292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2153D6-5165-1A2C-AAE3-7841D681CA43}"/>
              </a:ext>
            </a:extLst>
          </p:cNvPr>
          <p:cNvSpPr/>
          <p:nvPr/>
        </p:nvSpPr>
        <p:spPr>
          <a:xfrm>
            <a:off x="9964774" y="1408979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FF2C52-0E89-DFAA-CFA2-5C323A2538C9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89A6432-30A2-B126-6A5A-4EF602EA4C33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6380AE-4CD6-F4A3-3D28-28BBE246CF4D}"/>
              </a:ext>
            </a:extLst>
          </p:cNvPr>
          <p:cNvSpPr/>
          <p:nvPr/>
        </p:nvSpPr>
        <p:spPr>
          <a:xfrm>
            <a:off x="6039551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5.4.2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9A794B5-5B68-5721-A130-2B0C0BE5845B}"/>
              </a:ext>
            </a:extLst>
          </p:cNvPr>
          <p:cNvSpPr/>
          <p:nvPr/>
        </p:nvSpPr>
        <p:spPr>
          <a:xfrm>
            <a:off x="8040335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0FA7F4-F3BC-5011-5F3A-FDADD96A6DFF}"/>
              </a:ext>
            </a:extLst>
          </p:cNvPr>
          <p:cNvSpPr/>
          <p:nvPr/>
        </p:nvSpPr>
        <p:spPr>
          <a:xfrm>
            <a:off x="10033100" y="3428999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4.9.3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81B5CA-4D2F-9BF0-84B0-25DC8678F0F0}"/>
              </a:ext>
            </a:extLst>
          </p:cNvPr>
          <p:cNvSpPr/>
          <p:nvPr/>
        </p:nvSpPr>
        <p:spPr>
          <a:xfrm>
            <a:off x="6039551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22A2D97-B8F7-D1D1-F375-4ED24B0DE38B}"/>
              </a:ext>
            </a:extLst>
          </p:cNvPr>
          <p:cNvSpPr/>
          <p:nvPr/>
        </p:nvSpPr>
        <p:spPr>
          <a:xfrm>
            <a:off x="8040334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9FBD31-4BD2-1193-3D16-9963E95C5992}"/>
              </a:ext>
            </a:extLst>
          </p:cNvPr>
          <p:cNvSpPr/>
          <p:nvPr/>
        </p:nvSpPr>
        <p:spPr>
          <a:xfrm>
            <a:off x="10033100" y="256638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E041646-3041-E3F4-FEEC-0A5CD7912D40}"/>
              </a:ext>
            </a:extLst>
          </p:cNvPr>
          <p:cNvSpPr/>
          <p:nvPr/>
        </p:nvSpPr>
        <p:spPr>
          <a:xfrm>
            <a:off x="6039551" y="164546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A261A4-A9C8-C3F2-EC1F-A67A36A3C041}"/>
              </a:ext>
            </a:extLst>
          </p:cNvPr>
          <p:cNvSpPr/>
          <p:nvPr/>
        </p:nvSpPr>
        <p:spPr>
          <a:xfrm>
            <a:off x="8040333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B988B55-AA1D-6C0C-57B0-FC71CEF63BA6}"/>
              </a:ext>
            </a:extLst>
          </p:cNvPr>
          <p:cNvSpPr/>
          <p:nvPr/>
        </p:nvSpPr>
        <p:spPr>
          <a:xfrm>
            <a:off x="10033100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</p:spTree>
    <p:extLst>
      <p:ext uri="{BB962C8B-B14F-4D97-AF65-F5344CB8AC3E}">
        <p14:creationId xmlns:p14="http://schemas.microsoft.com/office/powerpoint/2010/main" val="4212238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B9F4F-258D-672B-BEFC-53894BAAE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B0F778-6F90-209B-A564-FEA6BB0E0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02242-5CF4-EBB0-BF46-EC12ECF17BC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816479-7A9A-998D-5AD4-4117F8CA5A15}"/>
              </a:ext>
            </a:extLst>
          </p:cNvPr>
          <p:cNvSpPr txBox="1"/>
          <p:nvPr/>
        </p:nvSpPr>
        <p:spPr>
          <a:xfrm>
            <a:off x="4768430" y="3469341"/>
            <a:ext cx="10342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VMRUN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6107E-C24F-B172-F08A-6BA9975042C4}"/>
              </a:ext>
            </a:extLst>
          </p:cNvPr>
          <p:cNvSpPr txBox="1"/>
          <p:nvPr/>
        </p:nvSpPr>
        <p:spPr>
          <a:xfrm>
            <a:off x="6530224" y="911093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VM1</a:t>
            </a:r>
            <a:endParaRPr 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7A9D7E-1D6A-7924-B0AC-9E531E013B2C}"/>
              </a:ext>
            </a:extLst>
          </p:cNvPr>
          <p:cNvSpPr txBox="1"/>
          <p:nvPr/>
        </p:nvSpPr>
        <p:spPr>
          <a:xfrm>
            <a:off x="8528706" y="933499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VM2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05A329-069D-FD75-8241-20C4D999295C}"/>
              </a:ext>
            </a:extLst>
          </p:cNvPr>
          <p:cNvSpPr txBox="1"/>
          <p:nvPr/>
        </p:nvSpPr>
        <p:spPr>
          <a:xfrm>
            <a:off x="10485419" y="903711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VM3</a:t>
            </a:r>
            <a:endParaRPr lang="en-US" b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BD443F-012F-A927-773C-FD55A0F9D5D7}"/>
              </a:ext>
            </a:extLst>
          </p:cNvPr>
          <p:cNvSpPr/>
          <p:nvPr/>
        </p:nvSpPr>
        <p:spPr>
          <a:xfrm>
            <a:off x="5967810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F4ABDA-7346-EA5C-82D3-33E1FF179ADD}"/>
              </a:ext>
            </a:extLst>
          </p:cNvPr>
          <p:cNvSpPr/>
          <p:nvPr/>
        </p:nvSpPr>
        <p:spPr>
          <a:xfrm>
            <a:off x="7966292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E408E8-EF08-099E-9FA7-44E0BD727E3E}"/>
              </a:ext>
            </a:extLst>
          </p:cNvPr>
          <p:cNvSpPr/>
          <p:nvPr/>
        </p:nvSpPr>
        <p:spPr>
          <a:xfrm>
            <a:off x="9964774" y="1408979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5F1A21-27F3-3018-9020-6AD3F5573358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9AEF09-1CC7-12CE-654D-D1710D63F69A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E33319-A0F8-7994-8382-03CC35BAC268}"/>
              </a:ext>
            </a:extLst>
          </p:cNvPr>
          <p:cNvSpPr/>
          <p:nvPr/>
        </p:nvSpPr>
        <p:spPr>
          <a:xfrm>
            <a:off x="6039551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5.4.2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FA71FB-F3C0-93B8-6738-6930A0680DAD}"/>
              </a:ext>
            </a:extLst>
          </p:cNvPr>
          <p:cNvSpPr/>
          <p:nvPr/>
        </p:nvSpPr>
        <p:spPr>
          <a:xfrm>
            <a:off x="8040335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5B7DE9B-EA28-6651-D2A7-0AA40A62A396}"/>
              </a:ext>
            </a:extLst>
          </p:cNvPr>
          <p:cNvSpPr/>
          <p:nvPr/>
        </p:nvSpPr>
        <p:spPr>
          <a:xfrm>
            <a:off x="10033100" y="3428999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4.9.3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7CF71E6-1C1C-9DA5-05FE-E482C6BB203A}"/>
              </a:ext>
            </a:extLst>
          </p:cNvPr>
          <p:cNvSpPr/>
          <p:nvPr/>
        </p:nvSpPr>
        <p:spPr>
          <a:xfrm>
            <a:off x="6039551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F82B52-9F21-8657-8C87-CE59226D913A}"/>
              </a:ext>
            </a:extLst>
          </p:cNvPr>
          <p:cNvSpPr/>
          <p:nvPr/>
        </p:nvSpPr>
        <p:spPr>
          <a:xfrm>
            <a:off x="8040334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79E643F-CA53-6D5C-9955-381A3C5D3E44}"/>
              </a:ext>
            </a:extLst>
          </p:cNvPr>
          <p:cNvSpPr/>
          <p:nvPr/>
        </p:nvSpPr>
        <p:spPr>
          <a:xfrm>
            <a:off x="10033100" y="256638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5BF8862-1211-DD9A-2FF3-AC3E596EBFBC}"/>
              </a:ext>
            </a:extLst>
          </p:cNvPr>
          <p:cNvSpPr/>
          <p:nvPr/>
        </p:nvSpPr>
        <p:spPr>
          <a:xfrm>
            <a:off x="6039551" y="164546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0634990-E100-14CD-BC9C-7C69ADF61606}"/>
              </a:ext>
            </a:extLst>
          </p:cNvPr>
          <p:cNvSpPr/>
          <p:nvPr/>
        </p:nvSpPr>
        <p:spPr>
          <a:xfrm>
            <a:off x="8040333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A91A6C-6C51-5714-02C9-D0D629F74C10}"/>
              </a:ext>
            </a:extLst>
          </p:cNvPr>
          <p:cNvSpPr/>
          <p:nvPr/>
        </p:nvSpPr>
        <p:spPr>
          <a:xfrm>
            <a:off x="10033100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D6CF63B0-4FCD-4303-6600-4C37F9F089CB}"/>
              </a:ext>
            </a:extLst>
          </p:cNvPr>
          <p:cNvCxnSpPr>
            <a:cxnSpLocks/>
            <a:stCxn id="13" idx="1"/>
            <a:endCxn id="15" idx="1"/>
          </p:cNvCxnSpPr>
          <p:nvPr/>
        </p:nvCxnSpPr>
        <p:spPr>
          <a:xfrm rot="10800000" flipH="1">
            <a:off x="5967809" y="3735807"/>
            <a:ext cx="71741" cy="747995"/>
          </a:xfrm>
          <a:prstGeom prst="bentConnector3">
            <a:avLst>
              <a:gd name="adj1" fmla="val -318646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932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97400-5355-3553-0C64-55B141C09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FE1725-8CDF-D05F-CFAA-5914CA4E7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96E612-701E-90C6-ACA6-1E0D89B288A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VM*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82FA666D-BFFF-751C-CCE5-E40F07E0510A}"/>
              </a:ext>
            </a:extLst>
          </p:cNvPr>
          <p:cNvCxnSpPr>
            <a:cxnSpLocks/>
            <a:stCxn id="17" idx="1"/>
            <a:endCxn id="16" idx="1"/>
          </p:cNvCxnSpPr>
          <p:nvPr/>
        </p:nvCxnSpPr>
        <p:spPr>
          <a:xfrm rot="10800000" flipV="1">
            <a:off x="5967811" y="3735806"/>
            <a:ext cx="71741" cy="1274184"/>
          </a:xfrm>
          <a:prstGeom prst="bentConnector3">
            <a:avLst>
              <a:gd name="adj1" fmla="val 418646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5AB3B62-B4B3-5ADB-B0BD-276728FE4297}"/>
              </a:ext>
            </a:extLst>
          </p:cNvPr>
          <p:cNvSpPr txBox="1"/>
          <p:nvPr/>
        </p:nvSpPr>
        <p:spPr>
          <a:xfrm>
            <a:off x="3691601" y="3378979"/>
            <a:ext cx="20537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VMCALL </a:t>
            </a:r>
          </a:p>
          <a:p>
            <a:pPr algn="ctr"/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(expensive)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E8DF88-F772-8F3F-6A82-0C34FFB44CEE}"/>
              </a:ext>
            </a:extLst>
          </p:cNvPr>
          <p:cNvSpPr txBox="1"/>
          <p:nvPr/>
        </p:nvSpPr>
        <p:spPr>
          <a:xfrm>
            <a:off x="6530224" y="911093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VM1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98FA47-C23E-8994-9C78-9D4E649FB4C7}"/>
              </a:ext>
            </a:extLst>
          </p:cNvPr>
          <p:cNvSpPr txBox="1"/>
          <p:nvPr/>
        </p:nvSpPr>
        <p:spPr>
          <a:xfrm>
            <a:off x="8528706" y="933499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VM2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412DC6-9985-8352-1CAA-95A621A76F42}"/>
              </a:ext>
            </a:extLst>
          </p:cNvPr>
          <p:cNvSpPr txBox="1"/>
          <p:nvPr/>
        </p:nvSpPr>
        <p:spPr>
          <a:xfrm>
            <a:off x="10485419" y="903711"/>
            <a:ext cx="6912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VM3</a:t>
            </a:r>
            <a:endParaRPr lang="en-US" b="1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E0211E-16E4-84D2-B2EC-8DC701BD016C}"/>
              </a:ext>
            </a:extLst>
          </p:cNvPr>
          <p:cNvSpPr/>
          <p:nvPr/>
        </p:nvSpPr>
        <p:spPr>
          <a:xfrm>
            <a:off x="5967810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B7043-157A-5BD7-E69C-B5319D3E576C}"/>
              </a:ext>
            </a:extLst>
          </p:cNvPr>
          <p:cNvSpPr/>
          <p:nvPr/>
        </p:nvSpPr>
        <p:spPr>
          <a:xfrm>
            <a:off x="7966292" y="1416361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75A85E-BEEA-F4CE-70C9-4CF5464D9134}"/>
              </a:ext>
            </a:extLst>
          </p:cNvPr>
          <p:cNvSpPr/>
          <p:nvPr/>
        </p:nvSpPr>
        <p:spPr>
          <a:xfrm>
            <a:off x="9964774" y="1408979"/>
            <a:ext cx="1917032" cy="273318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0ED424-8ED0-38EF-0F74-519E28DE7DCC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D6B707-32F7-9632-52E7-969C21290D13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BAE789-DBF8-F508-DAC5-109FA4A4E988}"/>
              </a:ext>
            </a:extLst>
          </p:cNvPr>
          <p:cNvSpPr/>
          <p:nvPr/>
        </p:nvSpPr>
        <p:spPr>
          <a:xfrm>
            <a:off x="6039551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5.4.2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794FFE-EC76-BDE1-41F7-815EBAD42A6A}"/>
              </a:ext>
            </a:extLst>
          </p:cNvPr>
          <p:cNvSpPr/>
          <p:nvPr/>
        </p:nvSpPr>
        <p:spPr>
          <a:xfrm>
            <a:off x="8040335" y="3429000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FA1DF1-72B6-BBDE-41D7-157CAAC9EB6A}"/>
              </a:ext>
            </a:extLst>
          </p:cNvPr>
          <p:cNvSpPr/>
          <p:nvPr/>
        </p:nvSpPr>
        <p:spPr>
          <a:xfrm>
            <a:off x="10033100" y="3428999"/>
            <a:ext cx="1768945" cy="6136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Linux kernel 4.9.3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C33BF5C-02B1-D322-529F-C1EA02EDC537}"/>
              </a:ext>
            </a:extLst>
          </p:cNvPr>
          <p:cNvSpPr/>
          <p:nvPr/>
        </p:nvSpPr>
        <p:spPr>
          <a:xfrm>
            <a:off x="6039551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7F12A4-9911-AC6D-C7A6-9F3AE22B8551}"/>
              </a:ext>
            </a:extLst>
          </p:cNvPr>
          <p:cNvSpPr/>
          <p:nvPr/>
        </p:nvSpPr>
        <p:spPr>
          <a:xfrm>
            <a:off x="8040334" y="257475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8FC5F10-8F3B-16FE-9767-DE7554D1BAD7}"/>
              </a:ext>
            </a:extLst>
          </p:cNvPr>
          <p:cNvSpPr/>
          <p:nvPr/>
        </p:nvSpPr>
        <p:spPr>
          <a:xfrm>
            <a:off x="10033100" y="256638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81906BB-8B28-DB26-E4FA-E3DC543B09E1}"/>
              </a:ext>
            </a:extLst>
          </p:cNvPr>
          <p:cNvSpPr/>
          <p:nvPr/>
        </p:nvSpPr>
        <p:spPr>
          <a:xfrm>
            <a:off x="6039551" y="164546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8DDCDAA-FC1D-9C88-F596-CF8ACDCC45D4}"/>
              </a:ext>
            </a:extLst>
          </p:cNvPr>
          <p:cNvSpPr/>
          <p:nvPr/>
        </p:nvSpPr>
        <p:spPr>
          <a:xfrm>
            <a:off x="8040333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6D33AF8-5CEE-1420-4F28-A7D1A7711E76}"/>
              </a:ext>
            </a:extLst>
          </p:cNvPr>
          <p:cNvSpPr/>
          <p:nvPr/>
        </p:nvSpPr>
        <p:spPr>
          <a:xfrm>
            <a:off x="10033100" y="164546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23E45C-41F1-213F-83EB-5C3036F95139}"/>
              </a:ext>
            </a:extLst>
          </p:cNvPr>
          <p:cNvSpPr txBox="1"/>
          <p:nvPr/>
        </p:nvSpPr>
        <p:spPr>
          <a:xfrm>
            <a:off x="1669143" y="5471886"/>
            <a:ext cx="4965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 For AMD machines, Intel uses VMENTER, VMEXIT</a:t>
            </a:r>
          </a:p>
        </p:txBody>
      </p:sp>
    </p:spTree>
    <p:extLst>
      <p:ext uri="{BB962C8B-B14F-4D97-AF65-F5344CB8AC3E}">
        <p14:creationId xmlns:p14="http://schemas.microsoft.com/office/powerpoint/2010/main" val="200922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FD07-85A1-EB78-5F46-DBA42281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18D5FB-DE50-D817-649D-8891AF3E6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DFDB5-34DA-CF7A-2129-1F30E3BC05C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Isolated </a:t>
            </a:r>
            <a:r>
              <a:rPr lang="en-US"/>
              <a:t>user-space environment</a:t>
            </a:r>
            <a:endParaRPr lang="en-US" dirty="0"/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011E97-08B9-DFCB-ED3E-82814B0EBF03}"/>
              </a:ext>
            </a:extLst>
          </p:cNvPr>
          <p:cNvSpPr txBox="1"/>
          <p:nvPr/>
        </p:nvSpPr>
        <p:spPr>
          <a:xfrm>
            <a:off x="6245023" y="96521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Container1</a:t>
            </a:r>
            <a:endParaRPr 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95592-CB03-0402-10EF-6BF1214D980C}"/>
              </a:ext>
            </a:extLst>
          </p:cNvPr>
          <p:cNvSpPr txBox="1"/>
          <p:nvPr/>
        </p:nvSpPr>
        <p:spPr>
          <a:xfrm>
            <a:off x="8218883" y="97100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Container2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B25DE7-764A-4157-C58F-AD3DF6154BD8}"/>
              </a:ext>
            </a:extLst>
          </p:cNvPr>
          <p:cNvSpPr txBox="1"/>
          <p:nvPr/>
        </p:nvSpPr>
        <p:spPr>
          <a:xfrm>
            <a:off x="10238572" y="96521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Container3</a:t>
            </a:r>
            <a:endParaRPr lang="en-US" b="1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C28E0-5C4C-58CD-029E-793302E831C3}"/>
              </a:ext>
            </a:extLst>
          </p:cNvPr>
          <p:cNvSpPr/>
          <p:nvPr/>
        </p:nvSpPr>
        <p:spPr>
          <a:xfrm>
            <a:off x="5967810" y="1476521"/>
            <a:ext cx="1917032" cy="20126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CE3E81-F460-9C08-332B-FFC9CD6AD533}"/>
              </a:ext>
            </a:extLst>
          </p:cNvPr>
          <p:cNvSpPr/>
          <p:nvPr/>
        </p:nvSpPr>
        <p:spPr>
          <a:xfrm>
            <a:off x="7966292" y="1476521"/>
            <a:ext cx="1917032" cy="20126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221BD8-9D5A-AFAC-055D-C22650347ECB}"/>
              </a:ext>
            </a:extLst>
          </p:cNvPr>
          <p:cNvSpPr/>
          <p:nvPr/>
        </p:nvSpPr>
        <p:spPr>
          <a:xfrm>
            <a:off x="9964774" y="1469139"/>
            <a:ext cx="1917032" cy="20200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3FD12F-5E41-71D9-D2C1-C30CAEFDD925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17E56D-0310-8EA1-DDC9-20E711E700CB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1F92EB-5F0B-89D0-C79F-BC9F85CB4C7D}"/>
              </a:ext>
            </a:extLst>
          </p:cNvPr>
          <p:cNvSpPr/>
          <p:nvPr/>
        </p:nvSpPr>
        <p:spPr>
          <a:xfrm>
            <a:off x="5969852" y="3607164"/>
            <a:ext cx="5911954" cy="5813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F7AA5A-5212-3B3F-E76B-D59C07E28DBE}"/>
              </a:ext>
            </a:extLst>
          </p:cNvPr>
          <p:cNvSpPr/>
          <p:nvPr/>
        </p:nvSpPr>
        <p:spPr>
          <a:xfrm>
            <a:off x="6039551" y="263491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3B80A36-B6E7-0122-9E80-0CE09539A4EB}"/>
              </a:ext>
            </a:extLst>
          </p:cNvPr>
          <p:cNvSpPr/>
          <p:nvPr/>
        </p:nvSpPr>
        <p:spPr>
          <a:xfrm>
            <a:off x="8040334" y="263491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245E29-8A58-2A4C-0575-376FB202E62E}"/>
              </a:ext>
            </a:extLst>
          </p:cNvPr>
          <p:cNvSpPr/>
          <p:nvPr/>
        </p:nvSpPr>
        <p:spPr>
          <a:xfrm>
            <a:off x="10033100" y="262654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56FD05A-8209-6564-8D3C-ECC291D8F6AC}"/>
              </a:ext>
            </a:extLst>
          </p:cNvPr>
          <p:cNvSpPr/>
          <p:nvPr/>
        </p:nvSpPr>
        <p:spPr>
          <a:xfrm>
            <a:off x="6039551" y="170562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BC379A-B7E6-5B9E-3EF0-1D28C590C446}"/>
              </a:ext>
            </a:extLst>
          </p:cNvPr>
          <p:cNvSpPr/>
          <p:nvPr/>
        </p:nvSpPr>
        <p:spPr>
          <a:xfrm>
            <a:off x="8040333" y="170562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FA4670-EB70-0841-A7F1-B55492FD125C}"/>
              </a:ext>
            </a:extLst>
          </p:cNvPr>
          <p:cNvSpPr/>
          <p:nvPr/>
        </p:nvSpPr>
        <p:spPr>
          <a:xfrm>
            <a:off x="10033100" y="170562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</p:spTree>
    <p:extLst>
      <p:ext uri="{BB962C8B-B14F-4D97-AF65-F5344CB8AC3E}">
        <p14:creationId xmlns:p14="http://schemas.microsoft.com/office/powerpoint/2010/main" val="3596413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FE6ED-5225-8CC5-8FD9-3E4B4BC5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089947-549B-F975-F298-5015FE808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B0D8-2C70-9BE6-D6BF-D9739EC0701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/>
          <a:lstStyle/>
          <a:p>
            <a:r>
              <a:rPr lang="en-US" dirty="0"/>
              <a:t>Namespaces partition kernel resources in software</a:t>
            </a:r>
          </a:p>
          <a:p>
            <a:r>
              <a:rPr lang="en-US" dirty="0"/>
              <a:t>E.g., a process can only see the resources in its own namespace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E31E9F-35D6-F16A-8B56-FAE310E8BE85}"/>
              </a:ext>
            </a:extLst>
          </p:cNvPr>
          <p:cNvSpPr txBox="1"/>
          <p:nvPr/>
        </p:nvSpPr>
        <p:spPr>
          <a:xfrm>
            <a:off x="3965666" y="3265083"/>
            <a:ext cx="1830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read(“/proc”)</a:t>
            </a:r>
            <a:endParaRPr lang="en-US" sz="16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FA1A98-F25D-F7B8-98AA-B54AF6986B5A}"/>
              </a:ext>
            </a:extLst>
          </p:cNvPr>
          <p:cNvSpPr txBox="1"/>
          <p:nvPr/>
        </p:nvSpPr>
        <p:spPr>
          <a:xfrm>
            <a:off x="870258" y="3999758"/>
            <a:ext cx="465704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ssize_t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sys_read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fd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, void *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buf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size_t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n)</a:t>
            </a: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// check if we’re reading proc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dir</a:t>
            </a:r>
            <a:b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for_each_process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(task) {</a:t>
            </a:r>
            <a:b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  if</a:t>
            </a:r>
            <a:r>
              <a:rPr lang="en-US" sz="1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(!</a:t>
            </a:r>
            <a:r>
              <a:rPr lang="en-US" sz="14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task_in_my_ns</a:t>
            </a:r>
            <a:r>
              <a:rPr lang="en-US" sz="1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(task)</a:t>
            </a: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) continue;</a:t>
            </a:r>
            <a:b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  // return the task details </a:t>
            </a:r>
            <a:b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sz="1400" b="1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sz="1200" b="1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ACAC51-7984-A02A-91B6-EF78931AE7B9}"/>
              </a:ext>
            </a:extLst>
          </p:cNvPr>
          <p:cNvSpPr txBox="1"/>
          <p:nvPr/>
        </p:nvSpPr>
        <p:spPr>
          <a:xfrm>
            <a:off x="6245023" y="96521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Container1</a:t>
            </a:r>
            <a:endParaRPr 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0E4BB5-BAF8-D353-3964-9CB7683C04A8}"/>
              </a:ext>
            </a:extLst>
          </p:cNvPr>
          <p:cNvSpPr txBox="1"/>
          <p:nvPr/>
        </p:nvSpPr>
        <p:spPr>
          <a:xfrm>
            <a:off x="8218883" y="97100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Container2</a:t>
            </a:r>
            <a:endParaRPr lang="en-US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F3E729-02D0-44BC-64D8-6B2BBA94BB88}"/>
              </a:ext>
            </a:extLst>
          </p:cNvPr>
          <p:cNvSpPr txBox="1"/>
          <p:nvPr/>
        </p:nvSpPr>
        <p:spPr>
          <a:xfrm>
            <a:off x="10238572" y="965216"/>
            <a:ext cx="1358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Container3</a:t>
            </a:r>
            <a:endParaRPr lang="en-US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28A7DF-0FB9-42D1-EAFB-A71650863D21}"/>
              </a:ext>
            </a:extLst>
          </p:cNvPr>
          <p:cNvSpPr/>
          <p:nvPr/>
        </p:nvSpPr>
        <p:spPr>
          <a:xfrm>
            <a:off x="5967810" y="1476521"/>
            <a:ext cx="1917032" cy="20126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2EC1EF-88B2-17C0-B52D-DF557E9A92C3}"/>
              </a:ext>
            </a:extLst>
          </p:cNvPr>
          <p:cNvSpPr/>
          <p:nvPr/>
        </p:nvSpPr>
        <p:spPr>
          <a:xfrm>
            <a:off x="7966292" y="1476521"/>
            <a:ext cx="1917032" cy="201263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42F41E-DF88-2408-E04E-2469FE0101AF}"/>
              </a:ext>
            </a:extLst>
          </p:cNvPr>
          <p:cNvSpPr/>
          <p:nvPr/>
        </p:nvSpPr>
        <p:spPr>
          <a:xfrm>
            <a:off x="9964774" y="1469139"/>
            <a:ext cx="1917032" cy="202002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E4BB4F-81B6-B217-DD7E-76F6166782A1}"/>
              </a:ext>
            </a:extLst>
          </p:cNvPr>
          <p:cNvSpPr/>
          <p:nvPr/>
        </p:nvSpPr>
        <p:spPr>
          <a:xfrm>
            <a:off x="5967810" y="4247146"/>
            <a:ext cx="5913996" cy="473310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Hypervisor software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5F0F41-7C03-628B-D779-ECD038596783}"/>
              </a:ext>
            </a:extLst>
          </p:cNvPr>
          <p:cNvSpPr/>
          <p:nvPr/>
        </p:nvSpPr>
        <p:spPr>
          <a:xfrm>
            <a:off x="5967810" y="4773335"/>
            <a:ext cx="5913996" cy="47331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Hardware (Intel/AMD)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8B39851-C8E2-0B3F-98DA-A2D047DB0A2C}"/>
              </a:ext>
            </a:extLst>
          </p:cNvPr>
          <p:cNvSpPr/>
          <p:nvPr/>
        </p:nvSpPr>
        <p:spPr>
          <a:xfrm>
            <a:off x="5969852" y="3607164"/>
            <a:ext cx="5911954" cy="5813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Linux kernel 6.0.2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60FB109-6428-BFCC-7EAC-D86BB4711C55}"/>
              </a:ext>
            </a:extLst>
          </p:cNvPr>
          <p:cNvSpPr/>
          <p:nvPr/>
        </p:nvSpPr>
        <p:spPr>
          <a:xfrm>
            <a:off x="6039551" y="263491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22.04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3D0DBB-A668-CD0B-D364-970B2F259D72}"/>
              </a:ext>
            </a:extLst>
          </p:cNvPr>
          <p:cNvSpPr/>
          <p:nvPr/>
        </p:nvSpPr>
        <p:spPr>
          <a:xfrm>
            <a:off x="8040334" y="2634918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25.04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D6ACCBB-3B7C-490E-C439-9AAD1E2733E2}"/>
              </a:ext>
            </a:extLst>
          </p:cNvPr>
          <p:cNvSpPr/>
          <p:nvPr/>
        </p:nvSpPr>
        <p:spPr>
          <a:xfrm>
            <a:off x="10033100" y="2626545"/>
            <a:ext cx="1768945" cy="733472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Ubuntu 16.04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BD6055-B9AF-BE8B-C330-996D6F3FDBB1}"/>
              </a:ext>
            </a:extLst>
          </p:cNvPr>
          <p:cNvSpPr/>
          <p:nvPr/>
        </p:nvSpPr>
        <p:spPr>
          <a:xfrm>
            <a:off x="6039551" y="1705628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Order Microservice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1A7E9A-0E95-D3FF-BD32-DD091C923EF9}"/>
              </a:ext>
            </a:extLst>
          </p:cNvPr>
          <p:cNvSpPr/>
          <p:nvPr/>
        </p:nvSpPr>
        <p:spPr>
          <a:xfrm>
            <a:off x="8040333" y="170562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Customer Microservice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E73C680-E0B8-65C4-7FE9-131CB48149F2}"/>
              </a:ext>
            </a:extLst>
          </p:cNvPr>
          <p:cNvSpPr/>
          <p:nvPr/>
        </p:nvSpPr>
        <p:spPr>
          <a:xfrm>
            <a:off x="10033100" y="1705627"/>
            <a:ext cx="1768945" cy="613611"/>
          </a:xfrm>
          <a:prstGeom prst="rect">
            <a:avLst/>
          </a:prstGeom>
          <a:solidFill>
            <a:srgbClr val="DDDDF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Product Microservice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63E09F7-D405-860A-94CC-2E8D8A46FB6C}"/>
              </a:ext>
            </a:extLst>
          </p:cNvPr>
          <p:cNvCxnSpPr>
            <a:cxnSpLocks/>
            <a:stCxn id="26" idx="1"/>
            <a:endCxn id="25" idx="1"/>
          </p:cNvCxnSpPr>
          <p:nvPr/>
        </p:nvCxnSpPr>
        <p:spPr>
          <a:xfrm rot="10800000" flipV="1">
            <a:off x="5969853" y="3001654"/>
            <a:ext cx="69699" cy="896190"/>
          </a:xfrm>
          <a:prstGeom prst="bentConnector3">
            <a:avLst>
              <a:gd name="adj1" fmla="val 42798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514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8D205AD-3FA9-7920-2693-96EA8D0E0A7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9700888"/>
              </p:ext>
            </p:extLst>
          </p:nvPr>
        </p:nvGraphicFramePr>
        <p:xfrm>
          <a:off x="371475" y="1301582"/>
          <a:ext cx="11449050" cy="2865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24525">
                  <a:extLst>
                    <a:ext uri="{9D8B030D-6E8A-4147-A177-3AD203B41FA5}">
                      <a16:colId xmlns:a16="http://schemas.microsoft.com/office/drawing/2014/main" val="483001943"/>
                    </a:ext>
                  </a:extLst>
                </a:gridCol>
                <a:gridCol w="5724525">
                  <a:extLst>
                    <a:ext uri="{9D8B030D-6E8A-4147-A177-3AD203B41FA5}">
                      <a16:colId xmlns:a16="http://schemas.microsoft.com/office/drawing/2014/main" val="11052975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Virtual Machines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Containers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4626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Full OS per VM (guest kernel)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Share the host kernel (not possible to run a containerized Windows app on Linux kernel)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9843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Hardware-based isolation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Kernel-based isolation (namespaces + </a:t>
                      </a:r>
                      <a:r>
                        <a:rPr lang="en-US" dirty="0" err="1"/>
                        <a:t>cgroups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15583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Heavy: GBs of memory overhead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Lightweight: MBs of overhead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4387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Slow startup (minutes)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Fast startup (seconds)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7555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Strong isolation boundary (better security)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Weaker isolation (shared kernel attack surface)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639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Commonly used in multi-tenant setups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Commonly used in single-tenant setups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3646750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73AE902-F384-EDF4-DE62-4EA7CC9C56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Docker is a tool for running software in containers</a:t>
            </a:r>
          </a:p>
          <a:p>
            <a:pPr lvl="1"/>
            <a:r>
              <a:rPr lang="en-US" dirty="0"/>
              <a:t>Declarative language for specifying what software should be packaged in a container</a:t>
            </a:r>
          </a:p>
          <a:p>
            <a:pPr lvl="1"/>
            <a:r>
              <a:rPr lang="en-US" dirty="0"/>
              <a:t>Commands to run the software as a container</a:t>
            </a:r>
          </a:p>
          <a:p>
            <a:r>
              <a:rPr lang="en-US" dirty="0"/>
              <a:t>Linux kernel provides system call flags for creating new namespaces (and </a:t>
            </a:r>
            <a:r>
              <a:rPr lang="en-US" dirty="0" err="1"/>
              <a:t>cgroups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For e.g.,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clone(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child_fn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stack, CLONE_NEWUTS | CLONE_NEWPID |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CLONE_NEWNS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| SIGCHLD,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Docker provides wrappers around these system calls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E95CFB-CCC4-0800-DA3F-FF1F94EC4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containers</a:t>
            </a:r>
          </a:p>
        </p:txBody>
      </p:sp>
    </p:spTree>
    <p:extLst>
      <p:ext uri="{BB962C8B-B14F-4D97-AF65-F5344CB8AC3E}">
        <p14:creationId xmlns:p14="http://schemas.microsoft.com/office/powerpoint/2010/main" val="357171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EF4BD-4504-C6A6-189C-DB51580F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</a:t>
            </a:r>
            <a:r>
              <a:rPr lang="en-US" dirty="0" err="1"/>
              <a:t>Dockerfile</a:t>
            </a:r>
            <a:endParaRPr lang="en-US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F66848C-2856-156E-6D23-A95B79929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84815" y="597877"/>
            <a:ext cx="5963171" cy="5403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fontScale="92500" lnSpcReduction="1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FROM ubuntu:25.04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DEBIAN_FRONTEND=noninteractive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openjdk-21-jdk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JAVA_HOME=/</a:t>
            </a:r>
            <a:r>
              <a:rPr lang="en-US" altLang="en-US" sz="1400" dirty="0" err="1">
                <a:solidFill>
                  <a:srgbClr val="242424"/>
                </a:solidFill>
              </a:rPr>
              <a:t>usr</a:t>
            </a:r>
            <a:r>
              <a:rPr lang="en-US" altLang="en-US" sz="1400" dirty="0">
                <a:solidFill>
                  <a:srgbClr val="242424"/>
                </a:solidFill>
              </a:rPr>
              <a:t>/lib/</a:t>
            </a:r>
            <a:r>
              <a:rPr lang="en-US" altLang="en-US" sz="1400" dirty="0" err="1">
                <a:solidFill>
                  <a:srgbClr val="242424"/>
                </a:solidFill>
              </a:rPr>
              <a:t>jvm</a:t>
            </a:r>
            <a:r>
              <a:rPr lang="en-US" altLang="en-US" sz="1400" dirty="0">
                <a:solidFill>
                  <a:srgbClr val="242424"/>
                </a:solidFill>
              </a:rPr>
              <a:t>/java-21-openjdk-amd64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git clone https://github.com/davsec-teaching/junit_demo.git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test </a:t>
            </a:r>
            <a:r>
              <a:rPr lang="en-US" altLang="en-US" sz="1400" dirty="0" err="1">
                <a:solidFill>
                  <a:srgbClr val="242424"/>
                </a:solidFill>
              </a:rPr>
              <a:t>surefire-report:report</a:t>
            </a: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Define the command to run the application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CMD ["bash"]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D3DC23-DFEC-4DA7-8CC4-BC57749DB9E8}"/>
              </a:ext>
            </a:extLst>
          </p:cNvPr>
          <p:cNvSpPr/>
          <p:nvPr/>
        </p:nvSpPr>
        <p:spPr>
          <a:xfrm>
            <a:off x="404396" y="753658"/>
            <a:ext cx="3564786" cy="696277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CC529A-D644-2811-577C-7EF586D46FFC}"/>
              </a:ext>
            </a:extLst>
          </p:cNvPr>
          <p:cNvSpPr/>
          <p:nvPr/>
        </p:nvSpPr>
        <p:spPr>
          <a:xfrm>
            <a:off x="404396" y="2360141"/>
            <a:ext cx="4105812" cy="1186247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39E3D7-D8F4-F756-356E-3F3EA69CBEFB}"/>
              </a:ext>
            </a:extLst>
          </p:cNvPr>
          <p:cNvSpPr/>
          <p:nvPr/>
        </p:nvSpPr>
        <p:spPr>
          <a:xfrm>
            <a:off x="404395" y="4250724"/>
            <a:ext cx="6144677" cy="58981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E142D4-6817-BAD7-8171-21D8496160BC}"/>
              </a:ext>
            </a:extLst>
          </p:cNvPr>
          <p:cNvSpPr/>
          <p:nvPr/>
        </p:nvSpPr>
        <p:spPr>
          <a:xfrm>
            <a:off x="404395" y="4848601"/>
            <a:ext cx="6144677" cy="58981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044FA4-A312-85D4-8B19-D2241B0373C9}"/>
              </a:ext>
            </a:extLst>
          </p:cNvPr>
          <p:cNvSpPr/>
          <p:nvPr/>
        </p:nvSpPr>
        <p:spPr>
          <a:xfrm>
            <a:off x="406418" y="5438419"/>
            <a:ext cx="6144677" cy="58981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183F847B-6B2C-3434-C8F9-6868FF4556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13570" y="1815463"/>
            <a:ext cx="4615017" cy="27301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fontScale="92500" lnSpcReduction="10000"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build the docker container</a:t>
            </a:r>
          </a:p>
          <a:p>
            <a:pPr marL="285750" indent="-285750" defTabSz="914400" eaLnBrk="0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docker build -t java-app .  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run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>
                <a:solidFill>
                  <a:srgbClr val="242424"/>
                </a:solidFill>
              </a:rPr>
              <a:t>docker run –it -p 8080:8080 java-app bash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br>
              <a:rPr lang="sv-SE" altLang="en-US" sz="1400" dirty="0">
                <a:solidFill>
                  <a:srgbClr val="242424"/>
                </a:solidFill>
              </a:rPr>
            </a:br>
            <a:r>
              <a:rPr lang="sv-SE" altLang="en-US" sz="1400" b="1" dirty="0">
                <a:solidFill>
                  <a:srgbClr val="242424"/>
                </a:solidFill>
              </a:rPr>
              <a:t># In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sv-SE" altLang="en-US" sz="1400" dirty="0">
                <a:solidFill>
                  <a:srgbClr val="242424"/>
                </a:solidFill>
              </a:rPr>
              <a:t>&gt; cat /etc/os-release</a:t>
            </a:r>
            <a:br>
              <a:rPr lang="sv-SE" altLang="en-US" sz="1400" dirty="0">
                <a:solidFill>
                  <a:srgbClr val="242424"/>
                </a:solidFill>
              </a:rPr>
            </a:br>
            <a:r>
              <a:rPr lang="sv-SE" altLang="en-US" sz="1400" dirty="0">
                <a:solidFill>
                  <a:srgbClr val="242424"/>
                </a:solidFill>
              </a:rPr>
              <a:t>&gt; top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Who</a:t>
            </a:r>
            <a:br>
              <a:rPr lang="en-US" altLang="en-US" sz="1400" dirty="0">
                <a:solidFill>
                  <a:srgbClr val="242424"/>
                </a:solidFill>
              </a:rPr>
            </a:br>
            <a:br>
              <a:rPr lang="en-US" altLang="en-US" sz="1400" dirty="0">
                <a:solidFill>
                  <a:srgbClr val="242424"/>
                </a:solidFill>
              </a:rPr>
            </a:br>
            <a:r>
              <a:rPr lang="en-US" altLang="en-US" sz="1400" b="1" dirty="0">
                <a:solidFill>
                  <a:srgbClr val="242424"/>
                </a:solidFill>
              </a:rPr>
              <a:t># To push the docker container to remote registry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 err="1">
                <a:solidFill>
                  <a:srgbClr val="242424"/>
                </a:solidFill>
              </a:rPr>
              <a:t>docker</a:t>
            </a:r>
            <a:r>
              <a:rPr lang="sv-SE" altLang="en-US" sz="1400" dirty="0">
                <a:solidFill>
                  <a:srgbClr val="242424"/>
                </a:solidFill>
              </a:rPr>
              <a:t> push java-app:1.0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1598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2" animBg="1"/>
      <p:bldP spid="2" grpId="3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D88D-81B5-5051-9FD9-70E42495C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F9B41D0-F25F-919A-F837-A076401BA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Docker: the container runtime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B01A0-8BE9-A479-BE7A-B27EA74DA8E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Remote docker registry</a:t>
            </a:r>
          </a:p>
          <a:p>
            <a:pPr lvl="1"/>
            <a:r>
              <a:rPr lang="en-US" dirty="0" err="1"/>
              <a:t>Dockerhub</a:t>
            </a:r>
            <a:r>
              <a:rPr lang="en-US" dirty="0"/>
              <a:t> contains container images</a:t>
            </a:r>
          </a:p>
          <a:p>
            <a:pPr lvl="1"/>
            <a:r>
              <a:rPr lang="en-US" dirty="0"/>
              <a:t>Each container image is user-space software bundled together into a filesystem</a:t>
            </a:r>
          </a:p>
          <a:p>
            <a:r>
              <a:rPr lang="en-US" dirty="0"/>
              <a:t>Docker host</a:t>
            </a:r>
          </a:p>
          <a:p>
            <a:pPr lvl="1"/>
            <a:r>
              <a:rPr lang="en-US" dirty="0"/>
              <a:t>Machine running docker daemon</a:t>
            </a:r>
          </a:p>
          <a:p>
            <a:pPr lvl="1"/>
            <a:r>
              <a:rPr lang="en-US" dirty="0"/>
              <a:t>Stores docker images locally</a:t>
            </a:r>
          </a:p>
          <a:p>
            <a:pPr lvl="1"/>
            <a:r>
              <a:rPr lang="en-US" dirty="0"/>
              <a:t>Spawns containers </a:t>
            </a:r>
          </a:p>
        </p:txBody>
      </p:sp>
      <p:pic>
        <p:nvPicPr>
          <p:cNvPr id="7" name="Picture 2" descr="Understanding Docker Architecture: A Comprehensive Guide | by Ravi Patel |  Medium">
            <a:extLst>
              <a:ext uri="{FF2B5EF4-FFF2-40B4-BE49-F238E27FC236}">
                <a16:creationId xmlns:a16="http://schemas.microsoft.com/office/drawing/2014/main" id="{155E69E8-6F93-4659-1568-C0BEA64E54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487" y="1453662"/>
            <a:ext cx="6036910" cy="3059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1754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04247F-E283-4D2E-F2FF-495B50D0D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Continuous integration (CI)</a:t>
            </a:r>
          </a:p>
          <a:p>
            <a:pPr lvl="1"/>
            <a:r>
              <a:rPr lang="en-US" dirty="0"/>
              <a:t>Developers merge changes frequently; every change triggers automated builds + tests to catch breakages early</a:t>
            </a:r>
          </a:p>
          <a:p>
            <a:pPr lvl="1"/>
            <a:r>
              <a:rPr lang="en-US" dirty="0"/>
              <a:t>E.g., GitHub Actions</a:t>
            </a:r>
          </a:p>
          <a:p>
            <a:r>
              <a:rPr lang="en-US" dirty="0"/>
              <a:t>Continuous deployment (CD)</a:t>
            </a:r>
          </a:p>
          <a:p>
            <a:pPr lvl="1"/>
            <a:r>
              <a:rPr lang="en-US" dirty="0"/>
              <a:t>Passing changes are auto-deployed to production</a:t>
            </a:r>
          </a:p>
          <a:p>
            <a:r>
              <a:rPr lang="en-US" dirty="0"/>
              <a:t>Containers provide uniform build system for CI/CD</a:t>
            </a:r>
          </a:p>
          <a:p>
            <a:pPr lvl="1"/>
            <a:r>
              <a:rPr lang="en-US" dirty="0"/>
              <a:t>No weird issues with </a:t>
            </a:r>
            <a:r>
              <a:rPr lang="en-US" dirty="0">
                <a:latin typeface="Consolas" panose="020B0609020204030204" pitchFamily="49" charset="0"/>
              </a:rPr>
              <a:t>$PATH</a:t>
            </a:r>
            <a:r>
              <a:rPr lang="en-US" dirty="0"/>
              <a:t> variables</a:t>
            </a:r>
          </a:p>
          <a:p>
            <a:pPr lvl="1"/>
            <a:r>
              <a:rPr lang="en-US" dirty="0"/>
              <a:t>No missing binaries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2D7D66-E6BC-7AF3-B2FE-7AC40CA90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CI/CD</a:t>
            </a:r>
          </a:p>
        </p:txBody>
      </p:sp>
    </p:spTree>
    <p:extLst>
      <p:ext uri="{BB962C8B-B14F-4D97-AF65-F5344CB8AC3E}">
        <p14:creationId xmlns:p14="http://schemas.microsoft.com/office/powerpoint/2010/main" val="138625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147CE2-5689-B10E-DC38-75755B8409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38FF16-6E02-2448-5067-CFC7274954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Kubernetes </a:t>
            </a:r>
          </a:p>
        </p:txBody>
      </p:sp>
    </p:spTree>
    <p:extLst>
      <p:ext uri="{BB962C8B-B14F-4D97-AF65-F5344CB8AC3E}">
        <p14:creationId xmlns:p14="http://schemas.microsoft.com/office/powerpoint/2010/main" val="2338689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9ABC1A6-72C5-F633-DD27-A4B3C2E52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69627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Developer provides an app description; Kubernetes deploys the app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3081CB-0126-3C4E-308F-FDE7F4F41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overview</a:t>
            </a:r>
          </a:p>
        </p:txBody>
      </p:sp>
      <p:pic>
        <p:nvPicPr>
          <p:cNvPr id="2" name="Picture 2" descr="Laptop - Free computer icons">
            <a:extLst>
              <a:ext uri="{FF2B5EF4-FFF2-40B4-BE49-F238E27FC236}">
                <a16:creationId xmlns:a16="http://schemas.microsoft.com/office/drawing/2014/main" id="{F77E64D7-8D8D-4D3B-F218-08F01B893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451" y="2766787"/>
            <a:ext cx="723998" cy="723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510CC0-5FB4-425C-0A84-43CFA934B366}"/>
              </a:ext>
            </a:extLst>
          </p:cNvPr>
          <p:cNvSpPr txBox="1"/>
          <p:nvPr/>
        </p:nvSpPr>
        <p:spPr>
          <a:xfrm>
            <a:off x="360607" y="3459893"/>
            <a:ext cx="1833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Developer laptop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8C9CD2-4278-5FB2-9BC7-A68453FB476B}"/>
              </a:ext>
            </a:extLst>
          </p:cNvPr>
          <p:cNvSpPr/>
          <p:nvPr/>
        </p:nvSpPr>
        <p:spPr>
          <a:xfrm>
            <a:off x="2672409" y="1507524"/>
            <a:ext cx="2319720" cy="3929449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  <a:ln w="9525" cap="flat" cmpd="sng" algn="ctr">
            <a:solidFill>
              <a:schemeClr val="bg1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79F51F-C407-A9F4-76F5-B4E61D31E67E}"/>
              </a:ext>
            </a:extLst>
          </p:cNvPr>
          <p:cNvSpPr/>
          <p:nvPr/>
        </p:nvSpPr>
        <p:spPr>
          <a:xfrm>
            <a:off x="3175684" y="1655802"/>
            <a:ext cx="1692875" cy="888559"/>
          </a:xfrm>
          <a:prstGeom prst="rect">
            <a:avLst/>
          </a:prstGeom>
          <a:solidFill>
            <a:srgbClr val="EDEDE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4D775A-1FA3-DBA6-5D3B-E740E7256F31}"/>
              </a:ext>
            </a:extLst>
          </p:cNvPr>
          <p:cNvSpPr/>
          <p:nvPr/>
        </p:nvSpPr>
        <p:spPr>
          <a:xfrm>
            <a:off x="3175684" y="2718240"/>
            <a:ext cx="1692875" cy="888559"/>
          </a:xfrm>
          <a:prstGeom prst="rect">
            <a:avLst/>
          </a:prstGeom>
          <a:solidFill>
            <a:srgbClr val="EDEDE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A0D865-2F7B-1293-0C30-3C596AAF9242}"/>
              </a:ext>
            </a:extLst>
          </p:cNvPr>
          <p:cNvSpPr/>
          <p:nvPr/>
        </p:nvSpPr>
        <p:spPr>
          <a:xfrm>
            <a:off x="3175684" y="3869361"/>
            <a:ext cx="1692875" cy="1332838"/>
          </a:xfrm>
          <a:prstGeom prst="rect">
            <a:avLst/>
          </a:prstGeom>
          <a:solidFill>
            <a:srgbClr val="EDEDE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5022DD4-35FE-F614-7E81-5818515ED8CA}"/>
              </a:ext>
            </a:extLst>
          </p:cNvPr>
          <p:cNvSpPr/>
          <p:nvPr/>
        </p:nvSpPr>
        <p:spPr>
          <a:xfrm>
            <a:off x="3299251" y="1891111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OrderService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41EE7F-8A69-EF68-3CA4-C90ED6C7A188}"/>
              </a:ext>
            </a:extLst>
          </p:cNvPr>
          <p:cNvSpPr/>
          <p:nvPr/>
        </p:nvSpPr>
        <p:spPr>
          <a:xfrm>
            <a:off x="3299251" y="2942447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CustService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68974A-0E5B-7532-96DE-57CB6024540A}"/>
              </a:ext>
            </a:extLst>
          </p:cNvPr>
          <p:cNvSpPr/>
          <p:nvPr/>
        </p:nvSpPr>
        <p:spPr>
          <a:xfrm>
            <a:off x="3299251" y="4009247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ProductService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923BC1-1810-0489-4E82-D456C4C7FE41}"/>
              </a:ext>
            </a:extLst>
          </p:cNvPr>
          <p:cNvSpPr/>
          <p:nvPr/>
        </p:nvSpPr>
        <p:spPr>
          <a:xfrm>
            <a:off x="3299251" y="4604795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BatchService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BDD8D3-0D00-2635-A5A0-6169B273DA29}"/>
              </a:ext>
            </a:extLst>
          </p:cNvPr>
          <p:cNvSpPr txBox="1"/>
          <p:nvPr/>
        </p:nvSpPr>
        <p:spPr>
          <a:xfrm>
            <a:off x="3265940" y="5509740"/>
            <a:ext cx="1582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App descriptor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30009D-B511-8C81-C4D8-A8FE763CDB44}"/>
              </a:ext>
            </a:extLst>
          </p:cNvPr>
          <p:cNvSpPr/>
          <p:nvPr/>
        </p:nvSpPr>
        <p:spPr>
          <a:xfrm>
            <a:off x="5290562" y="3207033"/>
            <a:ext cx="1609367" cy="541114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Kubernetes master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9D42A7-1F9E-000F-20DF-1620D9EC71AE}"/>
              </a:ext>
            </a:extLst>
          </p:cNvPr>
          <p:cNvSpPr txBox="1"/>
          <p:nvPr/>
        </p:nvSpPr>
        <p:spPr>
          <a:xfrm>
            <a:off x="2672409" y="1977440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2x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AB4C84-B80B-7989-6CC6-D5A4C85613B2}"/>
              </a:ext>
            </a:extLst>
          </p:cNvPr>
          <p:cNvSpPr txBox="1"/>
          <p:nvPr/>
        </p:nvSpPr>
        <p:spPr>
          <a:xfrm>
            <a:off x="2672409" y="2942447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B50C17-92E9-7087-FD70-196124707107}"/>
              </a:ext>
            </a:extLst>
          </p:cNvPr>
          <p:cNvSpPr txBox="1"/>
          <p:nvPr/>
        </p:nvSpPr>
        <p:spPr>
          <a:xfrm>
            <a:off x="2672409" y="4326563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1x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3F0AA3-51D9-7994-2A78-0C0CE65F7E6F}"/>
              </a:ext>
            </a:extLst>
          </p:cNvPr>
          <p:cNvSpPr/>
          <p:nvPr/>
        </p:nvSpPr>
        <p:spPr>
          <a:xfrm>
            <a:off x="7199873" y="1297455"/>
            <a:ext cx="4835608" cy="4371548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Server - Free computer icons">
            <a:extLst>
              <a:ext uri="{FF2B5EF4-FFF2-40B4-BE49-F238E27FC236}">
                <a16:creationId xmlns:a16="http://schemas.microsoft.com/office/drawing/2014/main" id="{34A9378D-CC2A-E96B-E007-39E7FA11C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6614" y="2287453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 descr="Server - Free computer icons">
            <a:extLst>
              <a:ext uri="{FF2B5EF4-FFF2-40B4-BE49-F238E27FC236}">
                <a16:creationId xmlns:a16="http://schemas.microsoft.com/office/drawing/2014/main" id="{B66CB14C-6992-92DC-C057-64D4F22084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2508" y="2287453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 descr="Server - Free computer icons">
            <a:extLst>
              <a:ext uri="{FF2B5EF4-FFF2-40B4-BE49-F238E27FC236}">
                <a16:creationId xmlns:a16="http://schemas.microsoft.com/office/drawing/2014/main" id="{8FC83F56-03C6-B266-5968-3530452AB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167" y="2287453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 descr="Server - Free computer icons">
            <a:extLst>
              <a:ext uri="{FF2B5EF4-FFF2-40B4-BE49-F238E27FC236}">
                <a16:creationId xmlns:a16="http://schemas.microsoft.com/office/drawing/2014/main" id="{5F6BFBD8-9502-2B86-45D7-53C37CD004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4065" y="4181855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2" descr="Server - Free computer icons">
            <a:extLst>
              <a:ext uri="{FF2B5EF4-FFF2-40B4-BE49-F238E27FC236}">
                <a16:creationId xmlns:a16="http://schemas.microsoft.com/office/drawing/2014/main" id="{133C1726-E879-6FFA-2190-754C4CA9AB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8595" y="4173516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2" descr="Server - Free computer icons">
            <a:extLst>
              <a:ext uri="{FF2B5EF4-FFF2-40B4-BE49-F238E27FC236}">
                <a16:creationId xmlns:a16="http://schemas.microsoft.com/office/drawing/2014/main" id="{B0F27BC4-DD6D-451C-40C0-A1CB2730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8167" y="4181855"/>
            <a:ext cx="812800" cy="81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7064E23-D53D-EE32-4779-E3BF71845F7B}"/>
              </a:ext>
            </a:extLst>
          </p:cNvPr>
          <p:cNvSpPr/>
          <p:nvPr/>
        </p:nvSpPr>
        <p:spPr>
          <a:xfrm>
            <a:off x="7256576" y="1437550"/>
            <a:ext cx="1692875" cy="8885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7093817-0A3F-7083-6DE7-E7E4564300E1}"/>
              </a:ext>
            </a:extLst>
          </p:cNvPr>
          <p:cNvSpPr/>
          <p:nvPr/>
        </p:nvSpPr>
        <p:spPr>
          <a:xfrm>
            <a:off x="7380143" y="1672859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OrderService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19909F9-2821-EF2F-2F8F-FF56433257E9}"/>
              </a:ext>
            </a:extLst>
          </p:cNvPr>
          <p:cNvSpPr/>
          <p:nvPr/>
        </p:nvSpPr>
        <p:spPr>
          <a:xfrm>
            <a:off x="9073018" y="1455916"/>
            <a:ext cx="1692875" cy="8885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65459D2-D71B-D76B-23F2-4E416AABED0B}"/>
              </a:ext>
            </a:extLst>
          </p:cNvPr>
          <p:cNvSpPr/>
          <p:nvPr/>
        </p:nvSpPr>
        <p:spPr>
          <a:xfrm>
            <a:off x="9196585" y="1691225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CustService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B4A1029-684C-3410-41C3-D6F562781AB2}"/>
              </a:ext>
            </a:extLst>
          </p:cNvPr>
          <p:cNvSpPr/>
          <p:nvPr/>
        </p:nvSpPr>
        <p:spPr>
          <a:xfrm>
            <a:off x="10241964" y="2835895"/>
            <a:ext cx="1692875" cy="8885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B48B72C-2AA7-19CF-618B-600248565F4B}"/>
              </a:ext>
            </a:extLst>
          </p:cNvPr>
          <p:cNvSpPr/>
          <p:nvPr/>
        </p:nvSpPr>
        <p:spPr>
          <a:xfrm>
            <a:off x="10365531" y="3071204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CustService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BECA2D-6D2B-7EE7-4EB7-7AB0800A2D12}"/>
              </a:ext>
            </a:extLst>
          </p:cNvPr>
          <p:cNvSpPr/>
          <p:nvPr/>
        </p:nvSpPr>
        <p:spPr>
          <a:xfrm>
            <a:off x="8915803" y="4477730"/>
            <a:ext cx="1692875" cy="1332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5062F15-777B-B09D-A97C-0686BF4C737F}"/>
              </a:ext>
            </a:extLst>
          </p:cNvPr>
          <p:cNvSpPr/>
          <p:nvPr/>
        </p:nvSpPr>
        <p:spPr>
          <a:xfrm>
            <a:off x="9039370" y="4617616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ProductService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CB0E0D8-3DE3-7625-1894-048BDACD9A8E}"/>
              </a:ext>
            </a:extLst>
          </p:cNvPr>
          <p:cNvSpPr/>
          <p:nvPr/>
        </p:nvSpPr>
        <p:spPr>
          <a:xfrm>
            <a:off x="9039370" y="5213164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BatchService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6F3739-5C0A-0282-7B67-863A24F38EAC}"/>
              </a:ext>
            </a:extLst>
          </p:cNvPr>
          <p:cNvCxnSpPr>
            <a:stCxn id="2" idx="3"/>
            <a:endCxn id="18" idx="1"/>
          </p:cNvCxnSpPr>
          <p:nvPr/>
        </p:nvCxnSpPr>
        <p:spPr>
          <a:xfrm flipV="1">
            <a:off x="1643449" y="3127113"/>
            <a:ext cx="1028960" cy="1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A6E417A-4892-0219-AE6E-E524E0BD9C8B}"/>
              </a:ext>
            </a:extLst>
          </p:cNvPr>
          <p:cNvCxnSpPr>
            <a:cxnSpLocks/>
            <a:stCxn id="6" idx="3"/>
            <a:endCxn id="16" idx="1"/>
          </p:cNvCxnSpPr>
          <p:nvPr/>
        </p:nvCxnSpPr>
        <p:spPr>
          <a:xfrm>
            <a:off x="4992129" y="3472249"/>
            <a:ext cx="298433" cy="5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B89134C-8910-216E-8090-709A5572C811}"/>
              </a:ext>
            </a:extLst>
          </p:cNvPr>
          <p:cNvCxnSpPr>
            <a:cxnSpLocks/>
            <a:stCxn id="16" idx="3"/>
            <a:endCxn id="21" idx="1"/>
          </p:cNvCxnSpPr>
          <p:nvPr/>
        </p:nvCxnSpPr>
        <p:spPr>
          <a:xfrm>
            <a:off x="6899929" y="3477590"/>
            <a:ext cx="299944" cy="56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46AECFFC-EA07-D28E-966F-32D06F3B22D2}"/>
              </a:ext>
            </a:extLst>
          </p:cNvPr>
          <p:cNvSpPr txBox="1"/>
          <p:nvPr/>
        </p:nvSpPr>
        <p:spPr>
          <a:xfrm>
            <a:off x="8969180" y="5675915"/>
            <a:ext cx="845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Cluster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7FB95B2-2B5A-0585-BBAE-BBD28B01EDDA}"/>
              </a:ext>
            </a:extLst>
          </p:cNvPr>
          <p:cNvSpPr/>
          <p:nvPr/>
        </p:nvSpPr>
        <p:spPr>
          <a:xfrm>
            <a:off x="6763803" y="4473321"/>
            <a:ext cx="1692875" cy="8885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386F1AD-DC99-829B-633E-97636F1F266A}"/>
              </a:ext>
            </a:extLst>
          </p:cNvPr>
          <p:cNvSpPr/>
          <p:nvPr/>
        </p:nvSpPr>
        <p:spPr>
          <a:xfrm>
            <a:off x="6887370" y="4708630"/>
            <a:ext cx="1445740" cy="45566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rgbClr val="FFBE00"/>
                </a:solidFill>
              </a:rPr>
              <a:t>OrderService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439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8" grpId="0" animBg="1"/>
      <p:bldP spid="39" grpId="0" animBg="1"/>
      <p:bldP spid="40" grpId="0" animBg="1"/>
      <p:bldP spid="53" grpId="0" animBg="1"/>
      <p:bldP spid="5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0152-0AB1-F7ED-1F37-9B061CAD7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5A1E92-2D11-3AC6-DAB0-2AFA19AB5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 descriptor </a:t>
            </a:r>
            <a:endParaRPr lang="en-US" dirty="0"/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4E2E701E-69D8-AA32-4C83-9DE2D2123F9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Dev creates app descriptor in an YAML format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order-service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product-batch-service</a:t>
            </a:r>
            <a:r>
              <a:rPr lang="en-US" dirty="0"/>
              <a:t> are deployment objects</a:t>
            </a:r>
          </a:p>
          <a:p>
            <a:r>
              <a:rPr lang="en-US" dirty="0"/>
              <a:t>Submit it to Kubernetes using</a:t>
            </a:r>
          </a:p>
          <a:p>
            <a:pPr lvl="1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apply -f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app.yaml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kubectl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get pods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7010799-490A-CA65-189A-60E67AC07628}"/>
              </a:ext>
            </a:extLst>
          </p:cNvPr>
          <p:cNvSpPr txBox="1"/>
          <p:nvPr/>
        </p:nvSpPr>
        <p:spPr>
          <a:xfrm>
            <a:off x="6176515" y="599960"/>
            <a:ext cx="6098058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2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orderservice:latest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</a:p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product-batch-service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product-service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productservice:latest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batchservice:latest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8CB74CD-EA6B-BEE2-A790-25792B3C4D72}"/>
              </a:ext>
            </a:extLst>
          </p:cNvPr>
          <p:cNvSpPr/>
          <p:nvPr/>
        </p:nvSpPr>
        <p:spPr>
          <a:xfrm>
            <a:off x="6273856" y="1569488"/>
            <a:ext cx="4105812" cy="246956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3400658-C7F3-B856-2DE7-75D0234A7C13}"/>
              </a:ext>
            </a:extLst>
          </p:cNvPr>
          <p:cNvSpPr/>
          <p:nvPr/>
        </p:nvSpPr>
        <p:spPr>
          <a:xfrm>
            <a:off x="6673391" y="2055519"/>
            <a:ext cx="4941960" cy="934815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503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36" grpId="1" animBg="1"/>
      <p:bldP spid="41" grpId="0" animBg="1"/>
      <p:bldP spid="41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8F97C-AB54-58D8-B92A-B207AC760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E65B5BA-D82A-BCD2-79BA-CEFC4CD40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pod abstraction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EE8657-D467-35ED-4612-4A10A813EF6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 “pod” is a group of tightly related containers</a:t>
            </a:r>
          </a:p>
          <a:p>
            <a:r>
              <a:rPr lang="en-US" dirty="0"/>
              <a:t>Each pod is separated logically with its own IP</a:t>
            </a:r>
          </a:p>
          <a:p>
            <a:r>
              <a:rPr lang="en-US" dirty="0"/>
              <a:t>Pods are units of scaling – you scale by adding or removing pods </a:t>
            </a:r>
          </a:p>
          <a:p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7B7CA-DA42-2988-D7E1-A9EEF25AAA90}"/>
              </a:ext>
            </a:extLst>
          </p:cNvPr>
          <p:cNvSpPr txBox="1"/>
          <p:nvPr/>
        </p:nvSpPr>
        <p:spPr>
          <a:xfrm>
            <a:off x="6015487" y="607490"/>
            <a:ext cx="6098058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2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orderservice:latest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</a:p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product-batch-service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product-service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productservice:latest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batchservice:latest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CC0F0E-2754-AF38-6329-0F6C6AB8212F}"/>
              </a:ext>
            </a:extLst>
          </p:cNvPr>
          <p:cNvSpPr/>
          <p:nvPr/>
        </p:nvSpPr>
        <p:spPr>
          <a:xfrm>
            <a:off x="5937032" y="607490"/>
            <a:ext cx="5711868" cy="2494056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462F13-2423-AD83-69DC-C4D638146EC2}"/>
              </a:ext>
            </a:extLst>
          </p:cNvPr>
          <p:cNvSpPr/>
          <p:nvPr/>
        </p:nvSpPr>
        <p:spPr>
          <a:xfrm>
            <a:off x="5858576" y="3101546"/>
            <a:ext cx="6098057" cy="281863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061D65-182F-B80B-1DAA-9F36EB9D8BCA}"/>
              </a:ext>
            </a:extLst>
          </p:cNvPr>
          <p:cNvSpPr txBox="1"/>
          <p:nvPr/>
        </p:nvSpPr>
        <p:spPr>
          <a:xfrm>
            <a:off x="10206681" y="785004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Pod-1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9C3D7D-5EEB-0C54-B1C3-C4CA9466448B}"/>
              </a:ext>
            </a:extLst>
          </p:cNvPr>
          <p:cNvSpPr txBox="1"/>
          <p:nvPr/>
        </p:nvSpPr>
        <p:spPr>
          <a:xfrm>
            <a:off x="10206681" y="3351142"/>
            <a:ext cx="735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Pod-2</a:t>
            </a:r>
          </a:p>
        </p:txBody>
      </p:sp>
    </p:spTree>
    <p:extLst>
      <p:ext uri="{BB962C8B-B14F-4D97-AF65-F5344CB8AC3E}">
        <p14:creationId xmlns:p14="http://schemas.microsoft.com/office/powerpoint/2010/main" val="1798685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9705A-BE82-32E1-F837-FC612438A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70BF93-A7B3-89D3-3B17-8B8F1503D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pod abstraction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786D7-AEFF-B5D1-5F41-4EFC77A9BF0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Containers in each pod are guaranteed to be scheduled on the same machine</a:t>
            </a:r>
          </a:p>
          <a:p>
            <a:r>
              <a:rPr lang="en-US" dirty="0"/>
              <a:t>Dev can schedule “chatty” microservices in same pod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9C8358-3947-00E3-82DA-8AB1479D300A}"/>
              </a:ext>
            </a:extLst>
          </p:cNvPr>
          <p:cNvSpPr txBox="1"/>
          <p:nvPr/>
        </p:nvSpPr>
        <p:spPr>
          <a:xfrm>
            <a:off x="6015487" y="607490"/>
            <a:ext cx="6098058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2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orderservice:latest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---</a:t>
            </a:r>
          </a:p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product-batch-service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product-service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productservice:latest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batch-service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batchservice:latest</a:t>
            </a:r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D9EE70-46A3-D91D-2CC4-71ABFF215C38}"/>
              </a:ext>
            </a:extLst>
          </p:cNvPr>
          <p:cNvSpPr/>
          <p:nvPr/>
        </p:nvSpPr>
        <p:spPr>
          <a:xfrm>
            <a:off x="6549081" y="4757350"/>
            <a:ext cx="5407552" cy="1162833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25D784-BAD7-EEBD-9352-5D9965239D37}"/>
              </a:ext>
            </a:extLst>
          </p:cNvPr>
          <p:cNvSpPr txBox="1"/>
          <p:nvPr/>
        </p:nvSpPr>
        <p:spPr>
          <a:xfrm>
            <a:off x="9647988" y="4388018"/>
            <a:ext cx="2161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Chatty microservices</a:t>
            </a:r>
          </a:p>
        </p:txBody>
      </p:sp>
    </p:spTree>
    <p:extLst>
      <p:ext uri="{BB962C8B-B14F-4D97-AF65-F5344CB8AC3E}">
        <p14:creationId xmlns:p14="http://schemas.microsoft.com/office/powerpoint/2010/main" val="209228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552A0-61A7-E69E-AF38-695E873AA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EFBD5B8-619A-3A13-10BC-292787EF8750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62CFC3C-4E29-1B83-2A8F-FCEBDACFE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components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0B55178-E8F3-E74C-FC36-DE8F5293258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Master node:</a:t>
            </a:r>
          </a:p>
          <a:p>
            <a:pPr lvl="1"/>
            <a:r>
              <a:rPr lang="en-US" dirty="0" err="1"/>
              <a:t>etcd</a:t>
            </a:r>
            <a:r>
              <a:rPr lang="en-US" dirty="0"/>
              <a:t>, API server, Scheduler, Controller Manager</a:t>
            </a:r>
          </a:p>
          <a:p>
            <a:r>
              <a:rPr lang="en-US" dirty="0"/>
              <a:t>Worker node</a:t>
            </a:r>
          </a:p>
          <a:p>
            <a:pPr lvl="1"/>
            <a:r>
              <a:rPr lang="en-US" dirty="0" err="1"/>
              <a:t>Kubelet</a:t>
            </a:r>
            <a:r>
              <a:rPr lang="en-US" dirty="0"/>
              <a:t>, </a:t>
            </a:r>
            <a:r>
              <a:rPr lang="en-US" dirty="0" err="1"/>
              <a:t>kube</a:t>
            </a:r>
            <a:r>
              <a:rPr lang="en-US" dirty="0"/>
              <a:t>-proxy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60453C-EDC6-A0B8-7AFD-6B456DD609D0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DBDDDD89-4BF4-077E-4090-EEF093148D48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1E0F2A-9EBB-2F91-2B3D-6AC9CB4A97F4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A7598C-4084-6B0F-225E-73BA6B8D8431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120E6C-EF8D-BA89-F3E4-17AC44D83AB4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2C676F-25C9-FBC6-F41C-6572CD93E42F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59FF6D-E351-BC2E-B297-780A163A895D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E1A3FEA-AFD2-A7BE-ACC8-388AC5E47CB2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BFC7A3D3-BC6C-C6F0-F1F9-9E2359A2DE32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9F925AA-147C-4824-8CA3-CD3EE674E427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3378BCB-FBE5-7687-B1D9-F31C36AC45E5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FC7346-0783-AEEF-ECE3-A32F93A37E79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A45F922-6FC7-D23A-EA37-B02C7709AFCE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0708F20-9601-7A4A-2559-6C659758D8C6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D722A1-EC7E-96F3-45DF-C587621F4DF6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BE90E3-7190-F8F4-482A-B6B6425FAE28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72BEFDB-7671-2E55-C414-19341239FD45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B9A1DE3F-5811-12F5-D1D6-370E234BEB9B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0833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49192547-8F05-A9CE-F034-037E478948FE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163435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2922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C8913-003B-2B13-F48E-3540337D4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23A31BE-D0A3-D0D5-BE86-DDBF6F4DD957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851141-B98C-611E-65A1-9A0EF2AF8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C91FD6C1-CCF5-780A-3CC7-C28244D3AD8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/>
          </a:bodyPr>
          <a:lstStyle/>
          <a:p>
            <a:r>
              <a:rPr lang="en-US" dirty="0"/>
              <a:t>API server accepts app descriptor YAML files</a:t>
            </a:r>
          </a:p>
          <a:p>
            <a:pPr lvl="1"/>
            <a:r>
              <a:rPr lang="en-US" dirty="0"/>
              <a:t>”Run 3 instances of order-service”</a:t>
            </a:r>
          </a:p>
          <a:p>
            <a:r>
              <a:rPr lang="en-US" dirty="0"/>
              <a:t>Stores state in </a:t>
            </a:r>
            <a:r>
              <a:rPr lang="en-US" dirty="0" err="1"/>
              <a:t>etcd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EAE89D-AE60-6674-CF05-8491BE136849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A1CCB959-39A0-F9A2-C8FB-EB3F7D38A41A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4B196C-B8F3-7A88-4B46-B42ED7C72DBE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4E36BB-1FA8-EDBE-0516-98494FC63D49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780662-300C-6949-D7BF-81EFE8F19BA7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190721-5B7B-182F-B38C-8E421A37022D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43E191E-471F-7404-C439-8277C3EDFCFD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A0E5830-EFBB-DC01-2596-0BECB73FF537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4FB3772A-49E6-3EDA-167F-A8BE2BC922EF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0181CA-DE7A-C8C9-D6E5-0720C51F14DB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912709C-E69F-BD2E-CFB5-5E22C73DA5EC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872AA7-DDF0-9D55-B512-2E70AE925479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11371C9-D35E-4A1C-EFA8-CE1EEA990BEB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2E2CEB6-A0AA-587E-5641-B77C7CE60E51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CFF9E30-1285-838D-6A6A-35DC49CD8E51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1158F8-6819-07DF-C8C4-5920FFF8E285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6B071CA-6EBC-8B7E-A569-895D1DD75BC5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5F215651-C299-B420-06E1-B5FFD70BA39B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0833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3F05ACD1-C86D-C1DB-DD37-C4F17893CC8C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163435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Picture 2" descr="Laptop - Free computer icons">
            <a:extLst>
              <a:ext uri="{FF2B5EF4-FFF2-40B4-BE49-F238E27FC236}">
                <a16:creationId xmlns:a16="http://schemas.microsoft.com/office/drawing/2014/main" id="{F6C8569F-BD29-DED2-2514-928F28BF5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4546" y="2256609"/>
            <a:ext cx="723998" cy="723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B26FE4B-74FA-39CF-93D2-9C7948B3CD2A}"/>
              </a:ext>
            </a:extLst>
          </p:cNvPr>
          <p:cNvSpPr txBox="1"/>
          <p:nvPr/>
        </p:nvSpPr>
        <p:spPr>
          <a:xfrm>
            <a:off x="4885702" y="2949715"/>
            <a:ext cx="1833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Developer laptop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06E1374A-4BF0-BD50-7805-87EEAD1E4E19}"/>
              </a:ext>
            </a:extLst>
          </p:cNvPr>
          <p:cNvCxnSpPr>
            <a:stCxn id="17" idx="0"/>
            <a:endCxn id="6" idx="0"/>
          </p:cNvCxnSpPr>
          <p:nvPr/>
        </p:nvCxnSpPr>
        <p:spPr>
          <a:xfrm rot="5400000" flipH="1" flipV="1">
            <a:off x="7256900" y="-239894"/>
            <a:ext cx="1046149" cy="3946859"/>
          </a:xfrm>
          <a:prstGeom prst="bentConnector3">
            <a:avLst>
              <a:gd name="adj1" fmla="val 121852"/>
            </a:avLst>
          </a:prstGeom>
          <a:ln w="28575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C348A3-0BF9-8518-0599-04C100F3288F}"/>
              </a:ext>
            </a:extLst>
          </p:cNvPr>
          <p:cNvSpPr txBox="1"/>
          <p:nvPr/>
        </p:nvSpPr>
        <p:spPr>
          <a:xfrm>
            <a:off x="5894084" y="1507095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app.yaml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922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41234-4333-1D55-D578-6A8E4D256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5C84FA2-903A-2BD1-F333-8DDA1D807BD7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E88162-AB69-44C7-B952-9B138821B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B7687F2-EC1B-D4F1-0F38-D1DF14A93A8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/>
          </a:bodyPr>
          <a:lstStyle/>
          <a:p>
            <a:r>
              <a:rPr lang="en-US" dirty="0"/>
              <a:t>API server accepts app descriptor YAML files</a:t>
            </a:r>
          </a:p>
          <a:p>
            <a:pPr lvl="1"/>
            <a:r>
              <a:rPr lang="en-US" dirty="0"/>
              <a:t>“Run 3 instances of order-service”</a:t>
            </a:r>
          </a:p>
          <a:p>
            <a:r>
              <a:rPr lang="en-US" dirty="0"/>
              <a:t>Stores state in </a:t>
            </a:r>
            <a:r>
              <a:rPr lang="en-US" dirty="0" err="1"/>
              <a:t>etcd</a:t>
            </a:r>
            <a:endParaRPr lang="en-US" dirty="0"/>
          </a:p>
          <a:p>
            <a:r>
              <a:rPr lang="en-US" dirty="0" err="1"/>
              <a:t>etcd</a:t>
            </a:r>
            <a:r>
              <a:rPr lang="en-US" dirty="0"/>
              <a:t> is a distributed KV-store  used to persist and coordinate the cluster’s configuration and state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E9A063-A3DC-90DE-0091-5020545EC0CC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ABF48410-EB7E-E839-6FEE-7918041F686D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B59CEA-FEED-4BD5-131C-F2D060C4AF49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1C8A08-5F2C-7A85-1D5E-B658A6578F11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370649-F757-CDA7-3835-4921C51DBEF9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59433B7-F1A2-3C53-EE03-9A5987A8289A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112E8-7A40-E13D-3FE7-94F657E21097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B7C54BB-0F95-F256-71E3-CD1DEE1838E4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2EBA9A74-2718-561D-57F7-11161F40EC27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F7F1CB2-AA76-DD65-EA84-3CF1D5DF8B3A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E494B2A-EF60-A09A-3F18-5CDA7B997BF4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CC4CA6F-D62A-3B39-EAFB-0E3256A82052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66B522-F00B-59B6-1F17-516B7D6281C7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D2FEB08-9CF1-45D9-734F-C442D4B7B45C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F4935D-6898-7A91-7EF9-87882660BF8B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DFF145-A39B-C8D4-7E22-6C368740A05C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023DE96-0C14-5BAB-73C0-8F36389BE2AE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F97D6FE7-C8BB-53BC-98B7-4BA2C42DD59A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0833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4EB14A4A-374C-8F87-3651-8943350AA16D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163435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Picture 2" descr="Laptop - Free computer icons">
            <a:extLst>
              <a:ext uri="{FF2B5EF4-FFF2-40B4-BE49-F238E27FC236}">
                <a16:creationId xmlns:a16="http://schemas.microsoft.com/office/drawing/2014/main" id="{D34E243F-4F3C-89B8-1399-11795856F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4546" y="2256609"/>
            <a:ext cx="723998" cy="723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E9F29FE-B8FE-5D42-1263-060FF0782D97}"/>
              </a:ext>
            </a:extLst>
          </p:cNvPr>
          <p:cNvSpPr txBox="1"/>
          <p:nvPr/>
        </p:nvSpPr>
        <p:spPr>
          <a:xfrm>
            <a:off x="4885702" y="2949715"/>
            <a:ext cx="18336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Developer laptop</a:t>
            </a: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81A8E590-1D80-29CC-0D3D-C23AEAB08EF6}"/>
              </a:ext>
            </a:extLst>
          </p:cNvPr>
          <p:cNvCxnSpPr>
            <a:stCxn id="17" idx="0"/>
            <a:endCxn id="6" idx="0"/>
          </p:cNvCxnSpPr>
          <p:nvPr/>
        </p:nvCxnSpPr>
        <p:spPr>
          <a:xfrm rot="5400000" flipH="1" flipV="1">
            <a:off x="7256900" y="-239894"/>
            <a:ext cx="1046149" cy="3946859"/>
          </a:xfrm>
          <a:prstGeom prst="bentConnector3">
            <a:avLst>
              <a:gd name="adj1" fmla="val 121852"/>
            </a:avLst>
          </a:prstGeom>
          <a:ln w="28575">
            <a:solidFill>
              <a:srgbClr val="C0000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65EA98D-5AC7-E5A1-4654-B901A67116E8}"/>
              </a:ext>
            </a:extLst>
          </p:cNvPr>
          <p:cNvSpPr txBox="1"/>
          <p:nvPr/>
        </p:nvSpPr>
        <p:spPr>
          <a:xfrm>
            <a:off x="5894084" y="1507095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app.yaml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8256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E250F-5C9C-EF62-69D1-9D1BD0E69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AE02692-A9C9-5209-478D-3AFCDDBA0994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1AD92C-974A-D72F-7FDF-65D61BEC2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D2E7AEA0-F11E-498E-1A2F-192C3E2C81D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/>
          </a:bodyPr>
          <a:lstStyle/>
          <a:p>
            <a:r>
              <a:rPr lang="en-US" dirty="0"/>
              <a:t>Controller Manager detects “desired state” != “actual state”</a:t>
            </a:r>
          </a:p>
          <a:p>
            <a:r>
              <a:rPr lang="en-US" dirty="0"/>
              <a:t>Creates pod objects in the API server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CE6812-AF16-2878-4B25-803BA102FCCC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AD035001-437E-142C-9873-1EA20E204C59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3402F8-0786-61B4-CCDA-36520AF19D7B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81F170-4064-8446-23C0-3EE2E94160D0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05DAA1-981A-C8EA-D2F9-9DCB8A41DF80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D5D276-28E1-7DDF-AB56-377C07816F91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51B1FF8-BD43-096C-CCB2-1B9E13C3A86A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B474A09-F26A-0567-E262-D4577B898A28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03B96910-F631-B006-146E-737C97332FF3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F69D2E-841B-2D18-9A5F-AC0279014C5A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19DF49-D4B3-BA9F-F975-08320BEE371B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D3CFF99-EA59-C8B0-1F03-07D39B8EC4DA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1C0D845-98CA-BE03-C369-AAEC80650709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C328A94-8A59-A579-152E-3C79A398CAFA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6C8F30-BFE5-CF11-2D14-9CF6E643A69C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D2BBF9-CB9B-6ADD-33FC-BB6CA24CC45C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4B0A261-B9C6-7D92-7975-5BFFAFA0596C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7E2783BE-1398-797F-AE29-2915FD10EE5F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08BB89BE-84A6-F8DD-906B-2404FD31CFA6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BDF9832-41F3-5100-C5C0-77D1BDE679EE}"/>
              </a:ext>
            </a:extLst>
          </p:cNvPr>
          <p:cNvSpPr txBox="1"/>
          <p:nvPr/>
        </p:nvSpPr>
        <p:spPr>
          <a:xfrm>
            <a:off x="9862500" y="1717957"/>
            <a:ext cx="12934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Pod objects</a:t>
            </a:r>
          </a:p>
        </p:txBody>
      </p:sp>
    </p:spTree>
    <p:extLst>
      <p:ext uri="{BB962C8B-B14F-4D97-AF65-F5344CB8AC3E}">
        <p14:creationId xmlns:p14="http://schemas.microsoft.com/office/powerpoint/2010/main" val="3988338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41AC-EFE2-A0AB-6744-3685FB619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E83778F-8C3A-FF9A-9797-AE912D471D47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2FBB6F-FCCE-3DDE-9566-C62A1483C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0200AEAB-4D63-EEE4-B63D-7895B140DD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Scheduler watches for unassigned pods on the API server</a:t>
            </a:r>
          </a:p>
          <a:p>
            <a:r>
              <a:rPr lang="en-US" dirty="0"/>
              <a:t>Picks a suitable worker node for each pod</a:t>
            </a:r>
          </a:p>
          <a:p>
            <a:r>
              <a:rPr lang="en-US" dirty="0"/>
              <a:t>Pushes the assignment to the API server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2C4DF4-AE2F-F837-BC0E-83D8B3D98E85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7C95B30B-378F-B27F-BCB1-60683E5BB8E5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73F5FC-EED2-C9B5-972C-ACED4B4C28AE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91F447D-4F84-54DC-5978-A61CFCA1CEA1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FAF65C-20E0-A14F-23DA-F7511D4CB8FB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E9B4C61-79EB-F231-A828-BA0F2E5658F0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5EDDA25-8AD3-3E15-ED52-BCD29C67BABE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93195C0-5A0E-6C27-024B-D680827175A0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F9246645-61CD-AB2D-56FB-75F69E37B424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80B3DD-4AE0-B655-0EC8-F9CDE7DD92EC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DD71F5B-E801-83F7-FF72-253A41642658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7E8B69B-C895-A693-E50D-00D0BBA5EF74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FE87E8F-5358-D25A-E22A-274FA4B942F2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A25FE5-2C2C-87EC-83A2-6502C978F647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674CF2-1390-539A-11DD-429B2181FC93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2D7E33D-87B0-25EF-5AE7-B24A51D42232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63FDA45-18A3-6718-1841-25BD9B811471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E4E87B94-BF63-8F8A-D3F6-C9F88EF562BD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C912C02F-1D96-5D79-EAAB-4FBF4A87F0E2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8B29FD-2085-F893-D392-8B91880AB328}"/>
              </a:ext>
            </a:extLst>
          </p:cNvPr>
          <p:cNvSpPr txBox="1"/>
          <p:nvPr/>
        </p:nvSpPr>
        <p:spPr>
          <a:xfrm>
            <a:off x="5960457" y="1753300"/>
            <a:ext cx="2341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Pod-node assignments</a:t>
            </a:r>
          </a:p>
        </p:txBody>
      </p:sp>
    </p:spTree>
    <p:extLst>
      <p:ext uri="{BB962C8B-B14F-4D97-AF65-F5344CB8AC3E}">
        <p14:creationId xmlns:p14="http://schemas.microsoft.com/office/powerpoint/2010/main" val="14996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31DD2-3D95-869C-CFCA-0479D8B4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C8A05F6-DA15-9BF2-74EC-FDDBDB03D17C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A86E80-7F8A-84B8-8B15-993BA9114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66B58DD4-992E-BF73-5BBA-B1664A0C7FE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Kubelets</a:t>
            </a:r>
            <a:r>
              <a:rPr lang="en-US" dirty="0"/>
              <a:t> running on worker nodes request the API server for pods that are scheduled on their nodes</a:t>
            </a:r>
          </a:p>
          <a:p>
            <a:r>
              <a:rPr lang="en-US" dirty="0"/>
              <a:t>Instruct the container runtime (docker) to download and launch the containers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982973-307A-2D9B-873D-EF60BA4511D4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7C42F027-AB15-1418-8E20-AC8D88E96554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B4FBE5-027D-AEF8-DD06-FD0F39367CCA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35AEF3-2547-6203-1354-66B26F049229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7DCE8A-97E1-785F-9611-19F5093F4C0A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819A534-874A-E3C1-6E2A-0AB5F2FA031F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EED3386-453B-2919-1E73-115209CF90D8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D318CEA-0302-4A21-4C87-739993FAFF63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43B1582B-0247-AF3E-E9A0-FC68DF1AEB71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5EFF0E8-4190-5358-9208-99ABC60D1171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2217DD4-007E-0D41-3756-ED0AC803B239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C0D0F5C-01D3-71EF-B649-2E33E4767C03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600232A-FE82-D6B7-2B2A-67A73479CDA8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5D8E0B-DC54-719D-0F99-06D9CE124387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B9CE92-A33E-D266-8150-B9871163A449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A60A4A-71D0-109F-BFD6-D7666E4ED7FC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3467980-977F-5C1C-CC2C-1068B9C5FDEC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45371843-3B21-25AA-A9EB-BFB482B2B9D5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D6005E59-B404-BEEE-F6DD-C3FC0E192CD1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8E49A0EE-BE79-5957-E189-DDBDEA7ACDE8}"/>
              </a:ext>
            </a:extLst>
          </p:cNvPr>
          <p:cNvSpPr txBox="1"/>
          <p:nvPr/>
        </p:nvSpPr>
        <p:spPr>
          <a:xfrm>
            <a:off x="6477193" y="3046957"/>
            <a:ext cx="1080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Pod info?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9AF025-A565-E584-7BF4-70F157578C24}"/>
              </a:ext>
            </a:extLst>
          </p:cNvPr>
          <p:cNvSpPr txBox="1"/>
          <p:nvPr/>
        </p:nvSpPr>
        <p:spPr>
          <a:xfrm>
            <a:off x="6096000" y="4820507"/>
            <a:ext cx="1950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Docker commands</a:t>
            </a:r>
          </a:p>
        </p:txBody>
      </p:sp>
      <p:pic>
        <p:nvPicPr>
          <p:cNvPr id="1026" name="Picture 2" descr="Docker Icon SVG Vector &amp; PNG Free Download | UXWing">
            <a:extLst>
              <a:ext uri="{FF2B5EF4-FFF2-40B4-BE49-F238E27FC236}">
                <a16:creationId xmlns:a16="http://schemas.microsoft.com/office/drawing/2014/main" id="{423985CD-F86D-40F5-73F9-B5A6514C2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6596" y="5035124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Docker Icon SVG Vector &amp; PNG Free Download | UXWing">
            <a:extLst>
              <a:ext uri="{FF2B5EF4-FFF2-40B4-BE49-F238E27FC236}">
                <a16:creationId xmlns:a16="http://schemas.microsoft.com/office/drawing/2014/main" id="{D6A36F74-A22E-1396-894E-D1A87DF05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2586" y="5011866"/>
            <a:ext cx="755168" cy="755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806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A3FBC-F4B5-25B2-AA64-BDB2EAEE3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0BE5AEC-9D94-8B84-6F10-C3EDA2B0F75A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D8DD8C6-F747-6300-11AB-6D6420C9E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980"/>
            <a:ext cx="12192000" cy="696913"/>
          </a:xfrm>
        </p:spPr>
        <p:txBody>
          <a:bodyPr/>
          <a:lstStyle/>
          <a:p>
            <a:r>
              <a:rPr lang="en-US" dirty="0"/>
              <a:t>Pod lifecycle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AA47F8F5-2646-CA26-C362-0C063313EF6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91662" y="784794"/>
            <a:ext cx="5632450" cy="5046663"/>
          </a:xfrm>
        </p:spPr>
        <p:txBody>
          <a:bodyPr>
            <a:normAutofit/>
          </a:bodyPr>
          <a:lstStyle/>
          <a:p>
            <a:r>
              <a:rPr lang="en-US" dirty="0"/>
              <a:t>Key design points:</a:t>
            </a:r>
          </a:p>
          <a:p>
            <a:pPr lvl="1"/>
            <a:r>
              <a:rPr lang="en-US" dirty="0"/>
              <a:t>Kubernetes components communicate through each other via the API server</a:t>
            </a:r>
          </a:p>
          <a:p>
            <a:pPr lvl="1"/>
            <a:r>
              <a:rPr lang="en-US" dirty="0"/>
              <a:t>Each component </a:t>
            </a:r>
            <a:r>
              <a:rPr lang="en-US" b="1" i="1" dirty="0"/>
              <a:t>pulls </a:t>
            </a:r>
            <a:r>
              <a:rPr lang="en-US" dirty="0"/>
              <a:t>the updates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CFDC30-0540-F2C6-0741-D142F8FCBED4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5FE84520-6248-1F0A-56D7-842542F117D3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91524E-C3AE-7DE6-3711-0354A70FC0EB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4A6787-3FD0-2AA7-A9D1-BA6D39F4726E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A6408E-C206-BE3A-E70B-5B5984E97413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7E4D2E8-11DC-F5AA-5127-FEDF1010C9FA}"/>
              </a:ext>
            </a:extLst>
          </p:cNvPr>
          <p:cNvCxnSpPr>
            <a:cxnSpLocks/>
            <a:stCxn id="6" idx="1"/>
            <a:endCxn id="3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79083C7-D3B0-7D4F-5C64-442CDB25F7D6}"/>
              </a:ext>
            </a:extLst>
          </p:cNvPr>
          <p:cNvCxnSpPr>
            <a:cxnSpLocks/>
            <a:stCxn id="7" idx="0"/>
            <a:endCxn id="6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5F2D2FB-C08D-C1BB-1773-5C0E04B3D76C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D669CD-67FB-CBB1-EF94-33F569E01487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706A59F-F409-EAD1-9848-9430217EFF59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043F751-2107-0271-87C1-49F080B6472D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24477DC-BB57-B058-1923-FAE87BC9F34E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31DC13C-5676-199E-597F-57966C496FFB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80C866-9703-2CF9-D45F-25FF3B9AB558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DFAA4A-6663-45BB-2657-E88148D61D6F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3AEB9E-4F17-42CF-0866-B41A8D70BF16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565D469-D1B6-F097-3263-FCA91AFA9DBD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B72A5061-884A-0643-1D63-41A751A79924}"/>
              </a:ext>
            </a:extLst>
          </p:cNvPr>
          <p:cNvCxnSpPr>
            <a:cxnSpLocks/>
            <a:stCxn id="27" idx="1"/>
            <a:endCxn id="6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B9624815-5F09-4F59-235F-7C0D88262012}"/>
              </a:ext>
            </a:extLst>
          </p:cNvPr>
          <p:cNvCxnSpPr>
            <a:cxnSpLocks/>
            <a:stCxn id="28" idx="0"/>
            <a:endCxn id="6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965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7EDD5-4205-C5E1-301F-1475811F7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0C3304-F7C7-00C6-9507-4A23892C47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Automatically schedule services on nodes</a:t>
            </a:r>
          </a:p>
          <a:p>
            <a:pPr lvl="1"/>
            <a:r>
              <a:rPr lang="en-US" dirty="0"/>
              <a:t>Each service needs its own environment</a:t>
            </a:r>
          </a:p>
          <a:p>
            <a:r>
              <a:rPr lang="en-US" dirty="0"/>
              <a:t>Minimize communication overhead</a:t>
            </a:r>
          </a:p>
          <a:p>
            <a:pPr lvl="1"/>
            <a:r>
              <a:rPr lang="en-US" dirty="0"/>
              <a:t>Deploy ”chatty” microservices on the same node</a:t>
            </a:r>
          </a:p>
          <a:p>
            <a:r>
              <a:rPr lang="en-US" dirty="0"/>
              <a:t>Ensure the node is well-provisioned to handle the service scheduled on it</a:t>
            </a:r>
          </a:p>
          <a:p>
            <a:pPr lvl="1"/>
            <a:r>
              <a:rPr lang="en-US" dirty="0"/>
              <a:t>Heterogenous clusters might have nodes with different CPU/GPU/RAM/disk capabilities</a:t>
            </a:r>
          </a:p>
          <a:p>
            <a:r>
              <a:rPr lang="en-US" dirty="0"/>
              <a:t>Detect node failures to stop routing requests to the failed nodes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5BDA72-46B6-7FFD-11EC-E1D0D6880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Cluster management requirements</a:t>
            </a:r>
          </a:p>
        </p:txBody>
      </p:sp>
      <p:pic>
        <p:nvPicPr>
          <p:cNvPr id="12290" name="Picture 2" descr="Green checkmark icon - Free green check mark icons">
            <a:extLst>
              <a:ext uri="{FF2B5EF4-FFF2-40B4-BE49-F238E27FC236}">
                <a16:creationId xmlns:a16="http://schemas.microsoft.com/office/drawing/2014/main" id="{DBC7FB40-9232-692E-F7EF-17AF115AF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262" y="1101150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Green checkmark icon - Free green check mark icons">
            <a:extLst>
              <a:ext uri="{FF2B5EF4-FFF2-40B4-BE49-F238E27FC236}">
                <a16:creationId xmlns:a16="http://schemas.microsoft.com/office/drawing/2014/main" id="{F201717A-96E7-6A53-86E3-407025139C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261" y="2524450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7893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BEA42-F42F-64C0-CADB-10FA0C960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CF2E89-C651-BB79-0827-CED934A16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Kubernetes allows assigning labels to objects (pods, worker nodes)</a:t>
            </a:r>
          </a:p>
          <a:p>
            <a:r>
              <a:rPr lang="en-US" dirty="0"/>
              <a:t>Labels = key-value pairs attached to object (e.g., 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app=frontend</a:t>
            </a:r>
            <a:r>
              <a:rPr lang="en-US" dirty="0"/>
              <a:t>, 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env=production</a:t>
            </a:r>
            <a:r>
              <a:rPr lang="en-US" dirty="0"/>
              <a:t>)</a:t>
            </a:r>
          </a:p>
          <a:p>
            <a:r>
              <a:rPr lang="en-US" dirty="0"/>
              <a:t>Label selectors</a:t>
            </a:r>
          </a:p>
          <a:p>
            <a:pPr lvl="1"/>
            <a:r>
              <a:rPr lang="en-US" dirty="0"/>
              <a:t>Match on exact key-value: 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env=production</a:t>
            </a:r>
            <a:r>
              <a:rPr lang="en-US" dirty="0"/>
              <a:t>, 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app!=frontend</a:t>
            </a:r>
          </a:p>
          <a:p>
            <a:r>
              <a:rPr lang="en-US" dirty="0"/>
              <a:t>Scheduler assigns pod to a node that satisfies the selector constraints</a:t>
            </a:r>
          </a:p>
          <a:p>
            <a:r>
              <a:rPr lang="en-US" dirty="0"/>
              <a:t>Example: schedule GPU workloads only on 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gpu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=true </a:t>
            </a:r>
            <a:r>
              <a:rPr lang="en-US" dirty="0"/>
              <a:t>nodes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710657-BCE1-1BF7-DE7C-63E55A8FF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Label-based scheduling</a:t>
            </a:r>
          </a:p>
        </p:txBody>
      </p:sp>
    </p:spTree>
    <p:extLst>
      <p:ext uri="{BB962C8B-B14F-4D97-AF65-F5344CB8AC3E}">
        <p14:creationId xmlns:p14="http://schemas.microsoft.com/office/powerpoint/2010/main" val="2849651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E2C27-5735-7104-9732-75C6C5BE0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357737-F4B1-1C72-3B83-FFA801AB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Label-based scheduling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A563DD-2EE2-D248-BBAD-ADEF3BDCE4A7}"/>
              </a:ext>
            </a:extLst>
          </p:cNvPr>
          <p:cNvSpPr txBox="1"/>
          <p:nvPr/>
        </p:nvSpPr>
        <p:spPr>
          <a:xfrm>
            <a:off x="319022" y="1248964"/>
            <a:ext cx="5538081" cy="318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apiVersion</a:t>
            </a: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: apps/v1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metadata: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replicas: 2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template: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spec: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containers: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- name: order-service</a:t>
            </a:r>
          </a:p>
          <a:p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    image: your-registry/</a:t>
            </a:r>
            <a:r>
              <a:rPr lang="en-US" sz="1500" dirty="0" err="1">
                <a:latin typeface="Consolas" panose="020B0609020204030204" pitchFamily="49" charset="0"/>
                <a:cs typeface="Consolas" panose="020B0609020204030204" pitchFamily="49" charset="0"/>
              </a:rPr>
              <a:t>orderservice:latest</a:t>
            </a:r>
            <a:b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5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 err="1"/>
              <a:t>nodeSelector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      -   </a:t>
            </a:r>
            <a:r>
              <a:rPr lang="en-US" sz="1600" dirty="0" err="1"/>
              <a:t>gpu</a:t>
            </a:r>
            <a:r>
              <a:rPr lang="en-US" sz="1600" dirty="0"/>
              <a:t>: "true"</a:t>
            </a:r>
          </a:p>
          <a:p>
            <a:endParaRPr lang="en-US" sz="1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66DD90-B9BE-6B9B-708F-8F81430AF718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DA6A53-6DBF-ADF4-037F-B9CAC2B380DA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Can 7">
            <a:extLst>
              <a:ext uri="{FF2B5EF4-FFF2-40B4-BE49-F238E27FC236}">
                <a16:creationId xmlns:a16="http://schemas.microsoft.com/office/drawing/2014/main" id="{5FA92F16-E398-B77B-74AE-C7D5ABF4095D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522688-20E0-ED11-0456-CC0B1E5E2D54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125444B-A8F9-7884-9F2F-634566CBEA76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4FEE08-43A2-E94E-1552-091FA508262A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1A0B12B-56BB-997F-5B8F-68B152BAD267}"/>
              </a:ext>
            </a:extLst>
          </p:cNvPr>
          <p:cNvCxnSpPr>
            <a:cxnSpLocks/>
            <a:stCxn id="9" idx="1"/>
            <a:endCxn id="8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8D1EEA-5988-8307-4E21-777215263D97}"/>
              </a:ext>
            </a:extLst>
          </p:cNvPr>
          <p:cNvCxnSpPr>
            <a:cxnSpLocks/>
            <a:stCxn id="10" idx="0"/>
            <a:endCxn id="9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B85D382-5835-465F-D647-068AE055D22A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455B7EDB-0E91-C0B7-9A60-332458465310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F5B939-3C53-F8BC-2958-0CC6C2CF44FD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7505C13-4DBC-C37E-51DC-2238563867D9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DA12DC-369B-B5B6-0267-950335FC3A8C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640FF60-431B-B52B-6620-3343648D86AC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F1E786-5C5A-9D51-39A4-C60D93694B77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EEED84-08A5-BD59-22FF-3B451EE96632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0464FF-FEC2-D836-3E64-F2B63FE923D9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C94EB2-AAD6-2E0A-A55A-A6D4D54D237A}"/>
              </a:ext>
            </a:extLst>
          </p:cNvPr>
          <p:cNvCxnSpPr>
            <a:cxnSpLocks/>
            <a:stCxn id="18" idx="2"/>
            <a:endCxn id="20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E3522258-0B2D-E30B-FE03-4109746B99D7}"/>
              </a:ext>
            </a:extLst>
          </p:cNvPr>
          <p:cNvCxnSpPr>
            <a:cxnSpLocks/>
            <a:stCxn id="18" idx="1"/>
            <a:endCxn id="9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BC263F15-08E6-4F97-9D47-32AB6EABC091}"/>
              </a:ext>
            </a:extLst>
          </p:cNvPr>
          <p:cNvCxnSpPr>
            <a:cxnSpLocks/>
            <a:stCxn id="19" idx="0"/>
            <a:endCxn id="9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1DC4EC8-5E2E-9F83-F3A9-7782D011B603}"/>
              </a:ext>
            </a:extLst>
          </p:cNvPr>
          <p:cNvSpPr/>
          <p:nvPr/>
        </p:nvSpPr>
        <p:spPr>
          <a:xfrm>
            <a:off x="10738553" y="3510342"/>
            <a:ext cx="1272213" cy="3048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label=</a:t>
            </a:r>
            <a:r>
              <a:rPr lang="en-US" dirty="0" err="1"/>
              <a:t>gpu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7CEB256-D853-F93B-5089-1B09CD1712DC}"/>
              </a:ext>
            </a:extLst>
          </p:cNvPr>
          <p:cNvSpPr/>
          <p:nvPr/>
        </p:nvSpPr>
        <p:spPr>
          <a:xfrm>
            <a:off x="772000" y="3568694"/>
            <a:ext cx="4998606" cy="683748"/>
          </a:xfrm>
          <a:prstGeom prst="rect">
            <a:avLst/>
          </a:prstGeom>
          <a:noFill/>
          <a:ln w="254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458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4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15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0B380-168E-1C2F-7C42-F49BA7014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249BD3-1996-B6E8-9F83-6879E62E6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master node dies and reboots, it restores state from </a:t>
            </a:r>
            <a:r>
              <a:rPr lang="en-US" dirty="0" err="1"/>
              <a:t>etcd</a:t>
            </a:r>
            <a:endParaRPr lang="en-US" dirty="0"/>
          </a:p>
          <a:p>
            <a:r>
              <a:rPr lang="en-US" dirty="0"/>
              <a:t>When container crashes (e.g., OOM, unhandled exception), </a:t>
            </a:r>
            <a:r>
              <a:rPr lang="en-US" dirty="0" err="1"/>
              <a:t>Kubelet</a:t>
            </a:r>
            <a:r>
              <a:rPr lang="en-US" dirty="0"/>
              <a:t> automatically restarts it</a:t>
            </a:r>
          </a:p>
          <a:p>
            <a:r>
              <a:rPr lang="en-US" dirty="0"/>
              <a:t>When a node goes down, Controller Manager creates replacement pods on healthy nodes</a:t>
            </a:r>
          </a:p>
          <a:p>
            <a:r>
              <a:rPr lang="en-US" dirty="0"/>
              <a:t>What if container is running, but not responding?</a:t>
            </a:r>
          </a:p>
          <a:p>
            <a:pPr lvl="1"/>
            <a:r>
              <a:rPr lang="en-US" dirty="0"/>
              <a:t>Deadlocked, infinite loop, etc..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AAAF3E9-776E-5350-42E5-07A660BB2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Fault tolerance</a:t>
            </a:r>
          </a:p>
        </p:txBody>
      </p:sp>
    </p:spTree>
    <p:extLst>
      <p:ext uri="{BB962C8B-B14F-4D97-AF65-F5344CB8AC3E}">
        <p14:creationId xmlns:p14="http://schemas.microsoft.com/office/powerpoint/2010/main" val="1192296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2D39F-863E-1FB2-5549-F18A3C2B6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812A29-8A10-9DE0-2D74-812A2D439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45B526-A3C5-DBF2-D046-F28389A85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Liveness probes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B9BC37-05D0-D183-9423-D74606674A6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Can configure per-pod liveness probes</a:t>
            </a:r>
          </a:p>
          <a:p>
            <a:r>
              <a:rPr lang="en-US" dirty="0" err="1"/>
              <a:t>Kubelet</a:t>
            </a:r>
            <a:r>
              <a:rPr lang="en-US" dirty="0"/>
              <a:t> will probe the container for liveness signs</a:t>
            </a:r>
          </a:p>
          <a:p>
            <a:r>
              <a:rPr lang="en-US" dirty="0"/>
              <a:t>Liveness probes defines health checks</a:t>
            </a:r>
          </a:p>
          <a:p>
            <a:pPr lvl="1"/>
            <a:r>
              <a:rPr lang="en-US" dirty="0"/>
              <a:t>HTTP GET — hit an endpoint, expect 200</a:t>
            </a:r>
          </a:p>
          <a:p>
            <a:pPr lvl="1"/>
            <a:r>
              <a:rPr lang="en-US" dirty="0"/>
              <a:t>TCP socket — check if a port is open</a:t>
            </a:r>
          </a:p>
          <a:p>
            <a:pPr lvl="1"/>
            <a:r>
              <a:rPr lang="en-US" dirty="0"/>
              <a:t>Exec — run a command inside the container, expect exit code 0</a:t>
            </a:r>
          </a:p>
          <a:p>
            <a:r>
              <a:rPr lang="en-US" dirty="0"/>
              <a:t>If the probe fails repeatedly, </a:t>
            </a:r>
            <a:r>
              <a:rPr lang="en-US" dirty="0" err="1"/>
              <a:t>Kubelet</a:t>
            </a:r>
            <a:r>
              <a:rPr lang="en-US" dirty="0"/>
              <a:t> kills and restarts the container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4900B4-FBF3-8A55-E538-286DEC7CAC0D}"/>
              </a:ext>
            </a:extLst>
          </p:cNvPr>
          <p:cNvSpPr/>
          <p:nvPr/>
        </p:nvSpPr>
        <p:spPr>
          <a:xfrm>
            <a:off x="7216345" y="34162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0EF18C-1C35-C8D6-F12B-EBC4B7F243C6}"/>
              </a:ext>
            </a:extLst>
          </p:cNvPr>
          <p:cNvSpPr/>
          <p:nvPr/>
        </p:nvSpPr>
        <p:spPr>
          <a:xfrm>
            <a:off x="7216345" y="696277"/>
            <a:ext cx="3435179" cy="20865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an 8">
            <a:extLst>
              <a:ext uri="{FF2B5EF4-FFF2-40B4-BE49-F238E27FC236}">
                <a16:creationId xmlns:a16="http://schemas.microsoft.com/office/drawing/2014/main" id="{ED813742-E575-5537-83E8-FF3697E39F4F}"/>
              </a:ext>
            </a:extLst>
          </p:cNvPr>
          <p:cNvSpPr/>
          <p:nvPr/>
        </p:nvSpPr>
        <p:spPr>
          <a:xfrm>
            <a:off x="7641533" y="1139410"/>
            <a:ext cx="753762" cy="667265"/>
          </a:xfrm>
          <a:prstGeom prst="can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etcd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93B229-5E01-AC3D-5C24-789476477E95}"/>
              </a:ext>
            </a:extLst>
          </p:cNvPr>
          <p:cNvSpPr/>
          <p:nvPr/>
        </p:nvSpPr>
        <p:spPr>
          <a:xfrm>
            <a:off x="8993464" y="121046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API server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B9D064-BCC1-9B7A-34E7-4AC2458898E5}"/>
              </a:ext>
            </a:extLst>
          </p:cNvPr>
          <p:cNvSpPr/>
          <p:nvPr/>
        </p:nvSpPr>
        <p:spPr>
          <a:xfrm>
            <a:off x="7317058" y="2093445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Scheduler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6745C7-590E-E643-B4ED-A6C6E6C0B52F}"/>
              </a:ext>
            </a:extLst>
          </p:cNvPr>
          <p:cNvSpPr/>
          <p:nvPr/>
        </p:nvSpPr>
        <p:spPr>
          <a:xfrm>
            <a:off x="8993465" y="2093445"/>
            <a:ext cx="1519879" cy="559669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Controller Manager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B824975-A85C-46D8-8367-E8D12B232964}"/>
              </a:ext>
            </a:extLst>
          </p:cNvPr>
          <p:cNvCxnSpPr>
            <a:cxnSpLocks/>
            <a:stCxn id="10" idx="1"/>
            <a:endCxn id="9" idx="4"/>
          </p:cNvCxnSpPr>
          <p:nvPr/>
        </p:nvCxnSpPr>
        <p:spPr>
          <a:xfrm flipH="1">
            <a:off x="8395295" y="1473042"/>
            <a:ext cx="59816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A2F739-19BE-D585-2E60-097BF992D5A1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V="1">
            <a:off x="8076998" y="1735623"/>
            <a:ext cx="1676406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1FF998B-1666-FA28-2605-BF11724EF5AA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9749277" y="1735623"/>
            <a:ext cx="4128" cy="3578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A600FF02-0FE3-5E5C-D72E-E7D06470C841}"/>
              </a:ext>
            </a:extLst>
          </p:cNvPr>
          <p:cNvSpPr/>
          <p:nvPr/>
        </p:nvSpPr>
        <p:spPr>
          <a:xfrm>
            <a:off x="7368745" y="35686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BA84EB-C1F0-5E72-3011-10E5B55E5BA7}"/>
              </a:ext>
            </a:extLst>
          </p:cNvPr>
          <p:cNvSpPr/>
          <p:nvPr/>
        </p:nvSpPr>
        <p:spPr>
          <a:xfrm>
            <a:off x="7521145" y="3721094"/>
            <a:ext cx="3435179" cy="17546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C9F136-0221-034D-C6B0-608CB99AA332}"/>
              </a:ext>
            </a:extLst>
          </p:cNvPr>
          <p:cNvSpPr/>
          <p:nvPr/>
        </p:nvSpPr>
        <p:spPr>
          <a:xfrm>
            <a:off x="7673545" y="3873494"/>
            <a:ext cx="3435179" cy="193089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D4D0CE-D237-6F11-9675-958051AFBFF3}"/>
              </a:ext>
            </a:extLst>
          </p:cNvPr>
          <p:cNvSpPr/>
          <p:nvPr/>
        </p:nvSpPr>
        <p:spPr>
          <a:xfrm>
            <a:off x="7770139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885AC09-6F8C-30C4-BF98-C7443BDDD782}"/>
              </a:ext>
            </a:extLst>
          </p:cNvPr>
          <p:cNvSpPr/>
          <p:nvPr/>
        </p:nvSpPr>
        <p:spPr>
          <a:xfrm>
            <a:off x="9528194" y="4327610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9C5752-B3D8-DAA9-9F59-C24D7B28924F}"/>
              </a:ext>
            </a:extLst>
          </p:cNvPr>
          <p:cNvSpPr/>
          <p:nvPr/>
        </p:nvSpPr>
        <p:spPr>
          <a:xfrm>
            <a:off x="7771271" y="5170959"/>
            <a:ext cx="1519879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E61B33-3D89-5EA6-61E6-534CA8183BE3}"/>
              </a:ext>
            </a:extLst>
          </p:cNvPr>
          <p:cNvSpPr txBox="1"/>
          <p:nvPr/>
        </p:nvSpPr>
        <p:spPr>
          <a:xfrm>
            <a:off x="7862089" y="705893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Plane (master)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23B409-EE9C-E404-3E09-683CD99204E4}"/>
              </a:ext>
            </a:extLst>
          </p:cNvPr>
          <p:cNvSpPr txBox="1"/>
          <p:nvPr/>
        </p:nvSpPr>
        <p:spPr>
          <a:xfrm>
            <a:off x="8315172" y="3883110"/>
            <a:ext cx="24260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Worker node(s)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9C0D9C0-45B4-D032-2DC8-52D224A0A30B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>
            <a:off x="8530079" y="4852773"/>
            <a:ext cx="1132" cy="3181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34CEC818-960A-9BB6-9622-314667B694A7}"/>
              </a:ext>
            </a:extLst>
          </p:cNvPr>
          <p:cNvCxnSpPr>
            <a:cxnSpLocks/>
            <a:stCxn id="19" idx="1"/>
            <a:endCxn id="10" idx="3"/>
          </p:cNvCxnSpPr>
          <p:nvPr/>
        </p:nvCxnSpPr>
        <p:spPr>
          <a:xfrm rot="10800000" flipH="1">
            <a:off x="7770139" y="1473042"/>
            <a:ext cx="2743204" cy="3117150"/>
          </a:xfrm>
          <a:prstGeom prst="bentConnector5">
            <a:avLst>
              <a:gd name="adj1" fmla="val -8333"/>
              <a:gd name="adj2" fmla="val 50000"/>
              <a:gd name="adj3" fmla="val 12905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8C2844B8-9057-CD2D-008D-BBCB665B47EC}"/>
              </a:ext>
            </a:extLst>
          </p:cNvPr>
          <p:cNvCxnSpPr>
            <a:cxnSpLocks/>
            <a:stCxn id="20" idx="0"/>
            <a:endCxn id="10" idx="0"/>
          </p:cNvCxnSpPr>
          <p:nvPr/>
        </p:nvCxnSpPr>
        <p:spPr>
          <a:xfrm rot="16200000" flipV="1">
            <a:off x="8462194" y="2501670"/>
            <a:ext cx="3117150" cy="534730"/>
          </a:xfrm>
          <a:prstGeom prst="bentConnector5">
            <a:avLst>
              <a:gd name="adj1" fmla="val 34837"/>
              <a:gd name="adj2" fmla="val -285910"/>
              <a:gd name="adj3" fmla="val 10733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7" name="Picture 2" descr="Docker Icon SVG Vector &amp; PNG Free Download | UXWing">
            <a:extLst>
              <a:ext uri="{FF2B5EF4-FFF2-40B4-BE49-F238E27FC236}">
                <a16:creationId xmlns:a16="http://schemas.microsoft.com/office/drawing/2014/main" id="{78A9A194-AB2C-D0EA-3B3A-FA9168D5A1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8299" y="5087137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416BB25-233D-A679-F599-21C299FBF684}"/>
              </a:ext>
            </a:extLst>
          </p:cNvPr>
          <p:cNvCxnSpPr>
            <a:cxnSpLocks/>
            <a:stCxn id="21" idx="3"/>
            <a:endCxn id="27" idx="1"/>
          </p:cNvCxnSpPr>
          <p:nvPr/>
        </p:nvCxnSpPr>
        <p:spPr>
          <a:xfrm>
            <a:off x="9291150" y="5433541"/>
            <a:ext cx="647149" cy="343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36032A0-7228-5EA6-A198-F8918599812F}"/>
              </a:ext>
            </a:extLst>
          </p:cNvPr>
          <p:cNvSpPr txBox="1"/>
          <p:nvPr/>
        </p:nvSpPr>
        <p:spPr>
          <a:xfrm>
            <a:off x="9230326" y="4961044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Probe</a:t>
            </a:r>
          </a:p>
        </p:txBody>
      </p:sp>
    </p:spTree>
    <p:extLst>
      <p:ext uri="{BB962C8B-B14F-4D97-AF65-F5344CB8AC3E}">
        <p14:creationId xmlns:p14="http://schemas.microsoft.com/office/powerpoint/2010/main" val="3220805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F00A1-38E0-352D-709E-0888F6B2D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14A8FC-05DE-C8ED-5793-A9A928978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Automatically schedule services on nodes</a:t>
            </a:r>
          </a:p>
          <a:p>
            <a:pPr lvl="1"/>
            <a:r>
              <a:rPr lang="en-US" dirty="0"/>
              <a:t>Each service needs its own environment</a:t>
            </a:r>
          </a:p>
          <a:p>
            <a:r>
              <a:rPr lang="en-US" dirty="0"/>
              <a:t>Minimize communication overhead</a:t>
            </a:r>
          </a:p>
          <a:p>
            <a:pPr lvl="1"/>
            <a:r>
              <a:rPr lang="en-US" dirty="0"/>
              <a:t>Deploy ”chatty” microservices on the same node</a:t>
            </a:r>
          </a:p>
          <a:p>
            <a:r>
              <a:rPr lang="en-US" dirty="0"/>
              <a:t>Ensure the node is well-provisioned to handle the service scheduled on it</a:t>
            </a:r>
          </a:p>
          <a:p>
            <a:pPr lvl="1"/>
            <a:r>
              <a:rPr lang="en-US" dirty="0"/>
              <a:t>Heterogenous clusters might have nodes with different CPU/GPU/RAM/disk capabilities</a:t>
            </a:r>
          </a:p>
          <a:p>
            <a:r>
              <a:rPr lang="en-US" dirty="0"/>
              <a:t>Detect node failures to stop routing requests to the failed nodes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2DF8C0C-9A6F-7A56-B663-1B7C6DEB1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Cluster management requirements</a:t>
            </a:r>
          </a:p>
        </p:txBody>
      </p:sp>
      <p:pic>
        <p:nvPicPr>
          <p:cNvPr id="7" name="Picture 2" descr="Green checkmark icon - Free green check mark icons">
            <a:extLst>
              <a:ext uri="{FF2B5EF4-FFF2-40B4-BE49-F238E27FC236}">
                <a16:creationId xmlns:a16="http://schemas.microsoft.com/office/drawing/2014/main" id="{DD22D473-43D6-7D48-7718-BF70D84E8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262" y="1101150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Green checkmark icon - Free green check mark icons">
            <a:extLst>
              <a:ext uri="{FF2B5EF4-FFF2-40B4-BE49-F238E27FC236}">
                <a16:creationId xmlns:a16="http://schemas.microsoft.com/office/drawing/2014/main" id="{123CA5B8-91B6-8238-08ED-45D2A5DA8A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3261" y="2524450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Green checkmark icon - Free green check mark icons">
            <a:extLst>
              <a:ext uri="{FF2B5EF4-FFF2-40B4-BE49-F238E27FC236}">
                <a16:creationId xmlns:a16="http://schemas.microsoft.com/office/drawing/2014/main" id="{A04DF7BF-E7CD-4D3B-8E4D-A1B50A836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4592" y="3910253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Green checkmark icon - Free green check mark icons">
            <a:extLst>
              <a:ext uri="{FF2B5EF4-FFF2-40B4-BE49-F238E27FC236}">
                <a16:creationId xmlns:a16="http://schemas.microsoft.com/office/drawing/2014/main" id="{A7EFF97F-2818-1DAF-DAEB-B5BE16BAF7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4591" y="5333553"/>
            <a:ext cx="386664" cy="386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209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F989764-B749-7EA6-A996-01499C2A7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00ED79-32B6-406F-E09B-624FD7113C9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Services have a logical “Service IP”</a:t>
            </a:r>
          </a:p>
          <a:p>
            <a:r>
              <a:rPr lang="en-US" dirty="0"/>
              <a:t>All pod replicas share the same Service IP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FC9BBA-E325-B2AA-E21B-6EA020F69920}"/>
              </a:ext>
            </a:extLst>
          </p:cNvPr>
          <p:cNvSpPr/>
          <p:nvPr/>
        </p:nvSpPr>
        <p:spPr>
          <a:xfrm>
            <a:off x="7327556" y="852616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E98B53-3F93-F406-EE53-9A67153DD140}"/>
              </a:ext>
            </a:extLst>
          </p:cNvPr>
          <p:cNvSpPr/>
          <p:nvPr/>
        </p:nvSpPr>
        <p:spPr>
          <a:xfrm>
            <a:off x="7424207" y="1290339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73B7399-7F1E-F763-D237-745AC3076EA4}"/>
              </a:ext>
            </a:extLst>
          </p:cNvPr>
          <p:cNvSpPr/>
          <p:nvPr/>
        </p:nvSpPr>
        <p:spPr>
          <a:xfrm>
            <a:off x="8815444" y="129688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4CC5D0-D31B-2178-397E-F9FADF9C02EB}"/>
              </a:ext>
            </a:extLst>
          </p:cNvPr>
          <p:cNvSpPr/>
          <p:nvPr/>
        </p:nvSpPr>
        <p:spPr>
          <a:xfrm>
            <a:off x="7425283" y="1953305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13" name="Picture 2" descr="Docker Icon SVG Vector &amp; PNG Free Download | UXWing">
            <a:extLst>
              <a:ext uri="{FF2B5EF4-FFF2-40B4-BE49-F238E27FC236}">
                <a16:creationId xmlns:a16="http://schemas.microsoft.com/office/drawing/2014/main" id="{6B26BB53-7FDA-D576-A8EB-DA2A5EFE8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3218" y="1850618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E02FB01E-B861-4D94-B5C3-9AFE4880B5A4}"/>
              </a:ext>
            </a:extLst>
          </p:cNvPr>
          <p:cNvSpPr/>
          <p:nvPr/>
        </p:nvSpPr>
        <p:spPr>
          <a:xfrm>
            <a:off x="6096000" y="4097339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311682-E70E-FC63-02F0-893C50F37517}"/>
              </a:ext>
            </a:extLst>
          </p:cNvPr>
          <p:cNvSpPr/>
          <p:nvPr/>
        </p:nvSpPr>
        <p:spPr>
          <a:xfrm>
            <a:off x="6192651" y="4535062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905CC3-B1C3-D447-E810-835D2F3184A5}"/>
              </a:ext>
            </a:extLst>
          </p:cNvPr>
          <p:cNvSpPr/>
          <p:nvPr/>
        </p:nvSpPr>
        <p:spPr>
          <a:xfrm>
            <a:off x="7583888" y="4541609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752AFB-03DF-0B86-C07A-52F900B52974}"/>
              </a:ext>
            </a:extLst>
          </p:cNvPr>
          <p:cNvSpPr/>
          <p:nvPr/>
        </p:nvSpPr>
        <p:spPr>
          <a:xfrm>
            <a:off x="6193727" y="5198028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28" name="Picture 2" descr="Docker Icon SVG Vector &amp; PNG Free Download | UXWing">
            <a:extLst>
              <a:ext uri="{FF2B5EF4-FFF2-40B4-BE49-F238E27FC236}">
                <a16:creationId xmlns:a16="http://schemas.microsoft.com/office/drawing/2014/main" id="{38AAACBB-7B98-9AEB-F079-2D936E6F1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1662" y="5095341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20CCAFE4-F2B3-1A5A-B376-9295E9F564D2}"/>
              </a:ext>
            </a:extLst>
          </p:cNvPr>
          <p:cNvSpPr/>
          <p:nvPr/>
        </p:nvSpPr>
        <p:spPr>
          <a:xfrm>
            <a:off x="9151823" y="4106145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F9EAF7-3637-E2B2-D34F-EE80579DF710}"/>
              </a:ext>
            </a:extLst>
          </p:cNvPr>
          <p:cNvSpPr/>
          <p:nvPr/>
        </p:nvSpPr>
        <p:spPr>
          <a:xfrm>
            <a:off x="9248474" y="4543868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6835EC4-EFEC-751F-4957-B16329CD2EBC}"/>
              </a:ext>
            </a:extLst>
          </p:cNvPr>
          <p:cNvSpPr/>
          <p:nvPr/>
        </p:nvSpPr>
        <p:spPr>
          <a:xfrm>
            <a:off x="10639711" y="4550415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E74809A-BAA9-3E49-48C8-768933CB99DA}"/>
              </a:ext>
            </a:extLst>
          </p:cNvPr>
          <p:cNvSpPr/>
          <p:nvPr/>
        </p:nvSpPr>
        <p:spPr>
          <a:xfrm>
            <a:off x="9249550" y="5206834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33" name="Picture 2" descr="Docker Icon SVG Vector &amp; PNG Free Download | UXWing">
            <a:extLst>
              <a:ext uri="{FF2B5EF4-FFF2-40B4-BE49-F238E27FC236}">
                <a16:creationId xmlns:a16="http://schemas.microsoft.com/office/drawing/2014/main" id="{4710ED6F-7FE5-AD24-9754-294CB0118C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7485" y="5104147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B3CA40C-8E4E-F87A-CA36-BAD4ED230CCA}"/>
              </a:ext>
            </a:extLst>
          </p:cNvPr>
          <p:cNvSpPr txBox="1"/>
          <p:nvPr/>
        </p:nvSpPr>
        <p:spPr>
          <a:xfrm>
            <a:off x="8162807" y="876854"/>
            <a:ext cx="130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CustService</a:t>
            </a:r>
            <a:endParaRPr lang="en-US" b="1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08BB38-6FB8-F5EB-5919-CB32C781587F}"/>
              </a:ext>
            </a:extLst>
          </p:cNvPr>
          <p:cNvSpPr txBox="1"/>
          <p:nvPr/>
        </p:nvSpPr>
        <p:spPr>
          <a:xfrm>
            <a:off x="6792156" y="4121479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3A46B7-BC90-5D6A-54F0-05F3F429717D}"/>
              </a:ext>
            </a:extLst>
          </p:cNvPr>
          <p:cNvSpPr txBox="1"/>
          <p:nvPr/>
        </p:nvSpPr>
        <p:spPr>
          <a:xfrm>
            <a:off x="9896305" y="4112182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8E60E9B-B38F-785F-B228-B89B1FE926D9}"/>
              </a:ext>
            </a:extLst>
          </p:cNvPr>
          <p:cNvSpPr txBox="1"/>
          <p:nvPr/>
        </p:nvSpPr>
        <p:spPr>
          <a:xfrm>
            <a:off x="10065065" y="407036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10.2.2.1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192.168.1.3</a:t>
            </a:r>
          </a:p>
        </p:txBody>
      </p:sp>
      <p:pic>
        <p:nvPicPr>
          <p:cNvPr id="3076" name="Picture 4" descr="Router-icon icon 512x512px (ico, png, icns) - free download | Icons101.com">
            <a:extLst>
              <a:ext uri="{FF2B5EF4-FFF2-40B4-BE49-F238E27FC236}">
                <a16:creationId xmlns:a16="http://schemas.microsoft.com/office/drawing/2014/main" id="{0FC3CC9D-BD27-65E7-2F4F-BAC0E59606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0531" y="2994555"/>
            <a:ext cx="493173" cy="49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D3A733F-E1A4-02EB-2E37-01F0DF9780B0}"/>
              </a:ext>
            </a:extLst>
          </p:cNvPr>
          <p:cNvCxnSpPr>
            <a:stCxn id="9" idx="2"/>
            <a:endCxn id="3076" idx="0"/>
          </p:cNvCxnSpPr>
          <p:nvPr/>
        </p:nvCxnSpPr>
        <p:spPr>
          <a:xfrm flipH="1">
            <a:off x="8767118" y="2586734"/>
            <a:ext cx="1" cy="4078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25F9B-DEC4-7356-A67E-9FAB5B8AD4AE}"/>
              </a:ext>
            </a:extLst>
          </p:cNvPr>
          <p:cNvCxnSpPr>
            <a:cxnSpLocks/>
            <a:stCxn id="35" idx="0"/>
            <a:endCxn id="3076" idx="1"/>
          </p:cNvCxnSpPr>
          <p:nvPr/>
        </p:nvCxnSpPr>
        <p:spPr>
          <a:xfrm flipV="1">
            <a:off x="7535562" y="3241142"/>
            <a:ext cx="984969" cy="8803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1C897C5-E011-2676-C17B-75704F847992}"/>
              </a:ext>
            </a:extLst>
          </p:cNvPr>
          <p:cNvCxnSpPr>
            <a:cxnSpLocks/>
            <a:stCxn id="29" idx="0"/>
            <a:endCxn id="3076" idx="3"/>
          </p:cNvCxnSpPr>
          <p:nvPr/>
        </p:nvCxnSpPr>
        <p:spPr>
          <a:xfrm flipH="1" flipV="1">
            <a:off x="9013704" y="3241142"/>
            <a:ext cx="1577682" cy="86500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2EB2769-4773-7969-323F-02499B8A69E0}"/>
              </a:ext>
            </a:extLst>
          </p:cNvPr>
          <p:cNvSpPr txBox="1"/>
          <p:nvPr/>
        </p:nvSpPr>
        <p:spPr>
          <a:xfrm>
            <a:off x="5947197" y="3040770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6CB56A2-3573-753C-20B5-7C9D2CC432E5}"/>
              </a:ext>
            </a:extLst>
          </p:cNvPr>
          <p:cNvSpPr txBox="1"/>
          <p:nvPr/>
        </p:nvSpPr>
        <p:spPr>
          <a:xfrm>
            <a:off x="9896305" y="3024110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192.168.1.5</a:t>
            </a:r>
          </a:p>
        </p:txBody>
      </p:sp>
    </p:spTree>
    <p:extLst>
      <p:ext uri="{BB962C8B-B14F-4D97-AF65-F5344CB8AC3E}">
        <p14:creationId xmlns:p14="http://schemas.microsoft.com/office/powerpoint/2010/main" val="621503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58CC4-75B6-A50C-4151-164E25712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100462A-AE0E-2DDC-BAC0-5A13740C8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455B57-FD31-C0D1-0753-AA7252E3FDA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kube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-proxy</a:t>
            </a:r>
            <a:r>
              <a:rPr lang="en-US" dirty="0"/>
              <a:t> maintains a list of Service IP to pod IP mappings </a:t>
            </a:r>
          </a:p>
          <a:p>
            <a:r>
              <a:rPr lang="en-US" dirty="0"/>
              <a:t>Rewrites outgoing Service IPs to the pod IP</a:t>
            </a:r>
          </a:p>
          <a:p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94921E-64BB-AAAD-77A9-E66B34955BF0}"/>
              </a:ext>
            </a:extLst>
          </p:cNvPr>
          <p:cNvSpPr/>
          <p:nvPr/>
        </p:nvSpPr>
        <p:spPr>
          <a:xfrm>
            <a:off x="7327556" y="852616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2F5A44-BDA2-58C5-9572-003ED8690B30}"/>
              </a:ext>
            </a:extLst>
          </p:cNvPr>
          <p:cNvSpPr/>
          <p:nvPr/>
        </p:nvSpPr>
        <p:spPr>
          <a:xfrm>
            <a:off x="7424207" y="1290339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6D92FF-7D88-4F71-EFDA-153F93B7D146}"/>
              </a:ext>
            </a:extLst>
          </p:cNvPr>
          <p:cNvSpPr/>
          <p:nvPr/>
        </p:nvSpPr>
        <p:spPr>
          <a:xfrm>
            <a:off x="8815444" y="129688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7555B7-7CCF-72AB-4237-8CE2F825941A}"/>
              </a:ext>
            </a:extLst>
          </p:cNvPr>
          <p:cNvSpPr/>
          <p:nvPr/>
        </p:nvSpPr>
        <p:spPr>
          <a:xfrm>
            <a:off x="7425283" y="1953305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13" name="Picture 2" descr="Docker Icon SVG Vector &amp; PNG Free Download | UXWing">
            <a:extLst>
              <a:ext uri="{FF2B5EF4-FFF2-40B4-BE49-F238E27FC236}">
                <a16:creationId xmlns:a16="http://schemas.microsoft.com/office/drawing/2014/main" id="{A6CB4640-C4BE-4815-7297-1F8E38EF93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3218" y="1850618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EDD965F-A31F-9221-2F9F-10860EFF754E}"/>
              </a:ext>
            </a:extLst>
          </p:cNvPr>
          <p:cNvSpPr/>
          <p:nvPr/>
        </p:nvSpPr>
        <p:spPr>
          <a:xfrm>
            <a:off x="6096000" y="4097339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420A201-0446-7D00-172E-BFCA77AA4C30}"/>
              </a:ext>
            </a:extLst>
          </p:cNvPr>
          <p:cNvSpPr/>
          <p:nvPr/>
        </p:nvSpPr>
        <p:spPr>
          <a:xfrm>
            <a:off x="6192651" y="4535062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2E2EE15-A881-B3B4-FB5F-7C421AD6EB54}"/>
              </a:ext>
            </a:extLst>
          </p:cNvPr>
          <p:cNvSpPr/>
          <p:nvPr/>
        </p:nvSpPr>
        <p:spPr>
          <a:xfrm>
            <a:off x="7583888" y="4541609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370B49-4329-F018-4DB3-52D5A12F14D8}"/>
              </a:ext>
            </a:extLst>
          </p:cNvPr>
          <p:cNvSpPr/>
          <p:nvPr/>
        </p:nvSpPr>
        <p:spPr>
          <a:xfrm>
            <a:off x="6193727" y="5198028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28" name="Picture 2" descr="Docker Icon SVG Vector &amp; PNG Free Download | UXWing">
            <a:extLst>
              <a:ext uri="{FF2B5EF4-FFF2-40B4-BE49-F238E27FC236}">
                <a16:creationId xmlns:a16="http://schemas.microsoft.com/office/drawing/2014/main" id="{96A02A21-B4D4-1B02-DC9B-6F5CAFD580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1662" y="5095341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6A1E6E36-C81D-6DB6-3229-21A59FECE102}"/>
              </a:ext>
            </a:extLst>
          </p:cNvPr>
          <p:cNvSpPr/>
          <p:nvPr/>
        </p:nvSpPr>
        <p:spPr>
          <a:xfrm>
            <a:off x="9151823" y="4106145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7A9470B-880D-B349-7807-3DA9A57C9FDE}"/>
              </a:ext>
            </a:extLst>
          </p:cNvPr>
          <p:cNvSpPr/>
          <p:nvPr/>
        </p:nvSpPr>
        <p:spPr>
          <a:xfrm>
            <a:off x="9248474" y="4543868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912F297-9B24-E05E-BCE5-EBBF2D2B5679}"/>
              </a:ext>
            </a:extLst>
          </p:cNvPr>
          <p:cNvSpPr/>
          <p:nvPr/>
        </p:nvSpPr>
        <p:spPr>
          <a:xfrm>
            <a:off x="10639711" y="4550415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CB8057F-7C8D-A1B7-E46F-E1A5919EFDA4}"/>
              </a:ext>
            </a:extLst>
          </p:cNvPr>
          <p:cNvSpPr/>
          <p:nvPr/>
        </p:nvSpPr>
        <p:spPr>
          <a:xfrm>
            <a:off x="9249550" y="5206834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33" name="Picture 2" descr="Docker Icon SVG Vector &amp; PNG Free Download | UXWing">
            <a:extLst>
              <a:ext uri="{FF2B5EF4-FFF2-40B4-BE49-F238E27FC236}">
                <a16:creationId xmlns:a16="http://schemas.microsoft.com/office/drawing/2014/main" id="{962639C0-6174-C2B7-EE63-73C87EBD0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7485" y="5104147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B6479077-096B-79FB-BCDE-B56229AF5D57}"/>
              </a:ext>
            </a:extLst>
          </p:cNvPr>
          <p:cNvSpPr txBox="1"/>
          <p:nvPr/>
        </p:nvSpPr>
        <p:spPr>
          <a:xfrm>
            <a:off x="8162807" y="876854"/>
            <a:ext cx="130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CustService</a:t>
            </a:r>
            <a:endParaRPr lang="en-US" b="1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D7E302-F5FB-998D-1243-304ED41EF7CA}"/>
              </a:ext>
            </a:extLst>
          </p:cNvPr>
          <p:cNvSpPr txBox="1"/>
          <p:nvPr/>
        </p:nvSpPr>
        <p:spPr>
          <a:xfrm>
            <a:off x="6792156" y="4121479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BB4248F-8CB6-EF0B-4039-45D15E7B43C5}"/>
              </a:ext>
            </a:extLst>
          </p:cNvPr>
          <p:cNvSpPr txBox="1"/>
          <p:nvPr/>
        </p:nvSpPr>
        <p:spPr>
          <a:xfrm>
            <a:off x="9896305" y="4112182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48FB33-D396-F627-4B87-C31FECC848A1}"/>
              </a:ext>
            </a:extLst>
          </p:cNvPr>
          <p:cNvSpPr txBox="1"/>
          <p:nvPr/>
        </p:nvSpPr>
        <p:spPr>
          <a:xfrm>
            <a:off x="10065065" y="407036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10.2.2.1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192.168.1.3</a:t>
            </a:r>
          </a:p>
        </p:txBody>
      </p:sp>
      <p:pic>
        <p:nvPicPr>
          <p:cNvPr id="3076" name="Picture 4" descr="Router-icon icon 512x512px (ico, png, icns) - free download | Icons101.com">
            <a:extLst>
              <a:ext uri="{FF2B5EF4-FFF2-40B4-BE49-F238E27FC236}">
                <a16:creationId xmlns:a16="http://schemas.microsoft.com/office/drawing/2014/main" id="{E7E68A84-930E-2294-AD13-0899C557F2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0531" y="2994555"/>
            <a:ext cx="493173" cy="49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4B8C76B-7CD0-0CD4-40A0-11E40F031256}"/>
              </a:ext>
            </a:extLst>
          </p:cNvPr>
          <p:cNvCxnSpPr>
            <a:stCxn id="9" idx="2"/>
            <a:endCxn id="3076" idx="0"/>
          </p:cNvCxnSpPr>
          <p:nvPr/>
        </p:nvCxnSpPr>
        <p:spPr>
          <a:xfrm flipH="1">
            <a:off x="8767118" y="2586734"/>
            <a:ext cx="1" cy="4078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1EC7F65-CBEE-FDF7-A6E9-58B18006D949}"/>
              </a:ext>
            </a:extLst>
          </p:cNvPr>
          <p:cNvCxnSpPr>
            <a:cxnSpLocks/>
            <a:stCxn id="35" idx="0"/>
            <a:endCxn id="3076" idx="1"/>
          </p:cNvCxnSpPr>
          <p:nvPr/>
        </p:nvCxnSpPr>
        <p:spPr>
          <a:xfrm flipV="1">
            <a:off x="7535562" y="3241142"/>
            <a:ext cx="984969" cy="8803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CEEAE4D-9EFB-D63C-F98E-CD6DEB342F4F}"/>
              </a:ext>
            </a:extLst>
          </p:cNvPr>
          <p:cNvCxnSpPr>
            <a:cxnSpLocks/>
            <a:stCxn id="29" idx="0"/>
            <a:endCxn id="3076" idx="3"/>
          </p:cNvCxnSpPr>
          <p:nvPr/>
        </p:nvCxnSpPr>
        <p:spPr>
          <a:xfrm flipH="1" flipV="1">
            <a:off x="9013704" y="3241142"/>
            <a:ext cx="1577682" cy="86500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3455DA3-CA96-212C-0B6F-351316BEDA8C}"/>
              </a:ext>
            </a:extLst>
          </p:cNvPr>
          <p:cNvSpPr txBox="1"/>
          <p:nvPr/>
        </p:nvSpPr>
        <p:spPr>
          <a:xfrm>
            <a:off x="5947197" y="3040770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904083D-80C0-CC27-A42B-827CBB363D4A}"/>
              </a:ext>
            </a:extLst>
          </p:cNvPr>
          <p:cNvSpPr txBox="1"/>
          <p:nvPr/>
        </p:nvSpPr>
        <p:spPr>
          <a:xfrm>
            <a:off x="9896305" y="3024110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192.168.1.5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E69150C-37B4-A4AA-9351-4116D820B3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495411"/>
              </p:ext>
            </p:extLst>
          </p:nvPr>
        </p:nvGraphicFramePr>
        <p:xfrm>
          <a:off x="6517073" y="1573770"/>
          <a:ext cx="4006915" cy="74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41746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2565169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48708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7531F-0381-99B0-ACB9-1F086217F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92B6728-72D1-52FD-8FEE-95B654325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B4131D-1BDA-1F1C-402E-CC8E4A4ED890}"/>
              </a:ext>
            </a:extLst>
          </p:cNvPr>
          <p:cNvSpPr/>
          <p:nvPr/>
        </p:nvSpPr>
        <p:spPr>
          <a:xfrm>
            <a:off x="4505058" y="11164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5891C9A-D0EC-2EEB-F8DC-3C1A24874E90}"/>
              </a:ext>
            </a:extLst>
          </p:cNvPr>
          <p:cNvSpPr/>
          <p:nvPr/>
        </p:nvSpPr>
        <p:spPr>
          <a:xfrm>
            <a:off x="4601709" y="15541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603D8C-0DD1-F195-A695-7DA235A91CDB}"/>
              </a:ext>
            </a:extLst>
          </p:cNvPr>
          <p:cNvSpPr/>
          <p:nvPr/>
        </p:nvSpPr>
        <p:spPr>
          <a:xfrm>
            <a:off x="5992946" y="15606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DC9E2A-6339-7BF2-B200-0CE811357069}"/>
              </a:ext>
            </a:extLst>
          </p:cNvPr>
          <p:cNvSpPr/>
          <p:nvPr/>
        </p:nvSpPr>
        <p:spPr>
          <a:xfrm>
            <a:off x="4602785" y="22170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13" name="Picture 2" descr="Docker Icon SVG Vector &amp; PNG Free Download | UXWing">
            <a:extLst>
              <a:ext uri="{FF2B5EF4-FFF2-40B4-BE49-F238E27FC236}">
                <a16:creationId xmlns:a16="http://schemas.microsoft.com/office/drawing/2014/main" id="{BA5E8C86-00C0-F69B-EB09-54D58ED28C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0720" y="21144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1ADB68FA-96A1-5CCB-E9A6-452C9A33F749}"/>
              </a:ext>
            </a:extLst>
          </p:cNvPr>
          <p:cNvSpPr/>
          <p:nvPr/>
        </p:nvSpPr>
        <p:spPr>
          <a:xfrm>
            <a:off x="3242165" y="42209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E330A3-5831-5E4D-7AAA-4BC066E8D075}"/>
              </a:ext>
            </a:extLst>
          </p:cNvPr>
          <p:cNvSpPr/>
          <p:nvPr/>
        </p:nvSpPr>
        <p:spPr>
          <a:xfrm>
            <a:off x="3338816" y="46586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BCB511-3E2E-2FBC-AFFC-36CA05B64BA8}"/>
              </a:ext>
            </a:extLst>
          </p:cNvPr>
          <p:cNvSpPr/>
          <p:nvPr/>
        </p:nvSpPr>
        <p:spPr>
          <a:xfrm>
            <a:off x="4730053" y="46651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FB11506-FF36-4F1C-1C8C-1F45D434F945}"/>
              </a:ext>
            </a:extLst>
          </p:cNvPr>
          <p:cNvSpPr/>
          <p:nvPr/>
        </p:nvSpPr>
        <p:spPr>
          <a:xfrm>
            <a:off x="3339892" y="53215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28" name="Picture 2" descr="Docker Icon SVG Vector &amp; PNG Free Download | UXWing">
            <a:extLst>
              <a:ext uri="{FF2B5EF4-FFF2-40B4-BE49-F238E27FC236}">
                <a16:creationId xmlns:a16="http://schemas.microsoft.com/office/drawing/2014/main" id="{A88AC6F8-50A9-272B-E594-C47340567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7827" y="52189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DB44F0C7-BF9D-5F33-0138-0191A9D875EF}"/>
              </a:ext>
            </a:extLst>
          </p:cNvPr>
          <p:cNvSpPr/>
          <p:nvPr/>
        </p:nvSpPr>
        <p:spPr>
          <a:xfrm>
            <a:off x="6297988" y="4229713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F7F67A2-37F3-36D3-D65F-298D5EE1DA25}"/>
              </a:ext>
            </a:extLst>
          </p:cNvPr>
          <p:cNvSpPr/>
          <p:nvPr/>
        </p:nvSpPr>
        <p:spPr>
          <a:xfrm>
            <a:off x="6394639" y="466743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E5C1BB4-7072-DD90-7C57-94AC29015C6F}"/>
              </a:ext>
            </a:extLst>
          </p:cNvPr>
          <p:cNvSpPr/>
          <p:nvPr/>
        </p:nvSpPr>
        <p:spPr>
          <a:xfrm>
            <a:off x="7785876" y="4673983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8CE7AA2-4322-DC61-8AAC-B106F9B33396}"/>
              </a:ext>
            </a:extLst>
          </p:cNvPr>
          <p:cNvSpPr/>
          <p:nvPr/>
        </p:nvSpPr>
        <p:spPr>
          <a:xfrm>
            <a:off x="6395715" y="5330402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33" name="Picture 2" descr="Docker Icon SVG Vector &amp; PNG Free Download | UXWing">
            <a:extLst>
              <a:ext uri="{FF2B5EF4-FFF2-40B4-BE49-F238E27FC236}">
                <a16:creationId xmlns:a16="http://schemas.microsoft.com/office/drawing/2014/main" id="{5D9A7EEC-CEEF-04B5-8AD7-E67BFDC294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3650" y="5227715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0ED98C8-B43C-3A76-D819-A2A07E11DFED}"/>
              </a:ext>
            </a:extLst>
          </p:cNvPr>
          <p:cNvSpPr txBox="1"/>
          <p:nvPr/>
        </p:nvSpPr>
        <p:spPr>
          <a:xfrm>
            <a:off x="5340309" y="1140645"/>
            <a:ext cx="130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CustService</a:t>
            </a:r>
            <a:endParaRPr lang="en-US" b="1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F9DD6C0-303A-96E9-B02B-E9E06A4A2772}"/>
              </a:ext>
            </a:extLst>
          </p:cNvPr>
          <p:cNvSpPr txBox="1"/>
          <p:nvPr/>
        </p:nvSpPr>
        <p:spPr>
          <a:xfrm>
            <a:off x="3938321" y="4245047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CA151A-B81E-A4C8-E193-FCEE5EE39813}"/>
              </a:ext>
            </a:extLst>
          </p:cNvPr>
          <p:cNvSpPr txBox="1"/>
          <p:nvPr/>
        </p:nvSpPr>
        <p:spPr>
          <a:xfrm>
            <a:off x="7042470" y="4235750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B3A4D4-764D-EE9C-306B-DF25827AE57F}"/>
              </a:ext>
            </a:extLst>
          </p:cNvPr>
          <p:cNvSpPr txBox="1"/>
          <p:nvPr/>
        </p:nvSpPr>
        <p:spPr>
          <a:xfrm>
            <a:off x="7242567" y="670827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10.2.2.1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192.168.1.3</a:t>
            </a:r>
          </a:p>
        </p:txBody>
      </p:sp>
      <p:pic>
        <p:nvPicPr>
          <p:cNvPr id="3076" name="Picture 4" descr="Router-icon icon 512x512px (ico, png, icns) - free download | Icons101.com">
            <a:extLst>
              <a:ext uri="{FF2B5EF4-FFF2-40B4-BE49-F238E27FC236}">
                <a16:creationId xmlns:a16="http://schemas.microsoft.com/office/drawing/2014/main" id="{5FB1E7EF-0F61-5882-64AD-55E586B24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031" y="3407319"/>
            <a:ext cx="493173" cy="49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47F1538-B469-720C-B0AC-DA1AFF166950}"/>
              </a:ext>
            </a:extLst>
          </p:cNvPr>
          <p:cNvCxnSpPr>
            <a:stCxn id="9" idx="2"/>
            <a:endCxn id="3076" idx="0"/>
          </p:cNvCxnSpPr>
          <p:nvPr/>
        </p:nvCxnSpPr>
        <p:spPr>
          <a:xfrm flipH="1">
            <a:off x="5944618" y="2850525"/>
            <a:ext cx="3" cy="55679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025F7EE-FB40-4841-0AC4-D88B68BAF176}"/>
              </a:ext>
            </a:extLst>
          </p:cNvPr>
          <p:cNvCxnSpPr>
            <a:cxnSpLocks/>
            <a:stCxn id="35" idx="0"/>
            <a:endCxn id="3076" idx="1"/>
          </p:cNvCxnSpPr>
          <p:nvPr/>
        </p:nvCxnSpPr>
        <p:spPr>
          <a:xfrm flipV="1">
            <a:off x="4681727" y="3653906"/>
            <a:ext cx="1016304" cy="5911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A887EFD-207F-373B-2369-0CD9F417F9D7}"/>
              </a:ext>
            </a:extLst>
          </p:cNvPr>
          <p:cNvCxnSpPr>
            <a:cxnSpLocks/>
            <a:stCxn id="29" idx="0"/>
            <a:endCxn id="3076" idx="3"/>
          </p:cNvCxnSpPr>
          <p:nvPr/>
        </p:nvCxnSpPr>
        <p:spPr>
          <a:xfrm flipH="1" flipV="1">
            <a:off x="6191204" y="3653906"/>
            <a:ext cx="1546347" cy="5758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80DA8B3-6040-4A91-20D9-05DBEED6F39A}"/>
              </a:ext>
            </a:extLst>
          </p:cNvPr>
          <p:cNvSpPr txBox="1"/>
          <p:nvPr/>
        </p:nvSpPr>
        <p:spPr>
          <a:xfrm>
            <a:off x="3093362" y="316433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78A4E8-CE1C-BB0B-C85D-742D665BA2A2}"/>
              </a:ext>
            </a:extLst>
          </p:cNvPr>
          <p:cNvSpPr txBox="1"/>
          <p:nvPr/>
        </p:nvSpPr>
        <p:spPr>
          <a:xfrm>
            <a:off x="7042470" y="314767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192.168.1.5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DBEE362-04FA-328C-7A9F-0EBB717ADD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743675"/>
              </p:ext>
            </p:extLst>
          </p:nvPr>
        </p:nvGraphicFramePr>
        <p:xfrm>
          <a:off x="142321" y="4319482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0D501045-3180-23DB-FD9E-615B4F47DC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4524991"/>
              </p:ext>
            </p:extLst>
          </p:nvPr>
        </p:nvGraphicFramePr>
        <p:xfrm>
          <a:off x="8693490" y="1194047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16273FA-4CE6-8382-6F31-38B19F9244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9577169"/>
              </p:ext>
            </p:extLst>
          </p:nvPr>
        </p:nvGraphicFramePr>
        <p:xfrm>
          <a:off x="9273764" y="3916838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8027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1C5BE-F68A-52C3-B620-B5FA89A4D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50D0A0D-5AA9-24F9-473F-B007EEC01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774AC7-871A-B26E-5420-A3D94114EF4F}"/>
              </a:ext>
            </a:extLst>
          </p:cNvPr>
          <p:cNvSpPr/>
          <p:nvPr/>
        </p:nvSpPr>
        <p:spPr>
          <a:xfrm>
            <a:off x="4505058" y="11164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D08DA1-C3B1-B705-3337-533DACD2365B}"/>
              </a:ext>
            </a:extLst>
          </p:cNvPr>
          <p:cNvSpPr/>
          <p:nvPr/>
        </p:nvSpPr>
        <p:spPr>
          <a:xfrm>
            <a:off x="4601709" y="15541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C7706DB-CF12-6D80-7182-A4DB1E1DD0E1}"/>
              </a:ext>
            </a:extLst>
          </p:cNvPr>
          <p:cNvSpPr/>
          <p:nvPr/>
        </p:nvSpPr>
        <p:spPr>
          <a:xfrm>
            <a:off x="5992946" y="15606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5FEFB7-597F-BD74-1CE7-3D1B0F4E2A20}"/>
              </a:ext>
            </a:extLst>
          </p:cNvPr>
          <p:cNvSpPr/>
          <p:nvPr/>
        </p:nvSpPr>
        <p:spPr>
          <a:xfrm>
            <a:off x="4602785" y="22170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13" name="Picture 2" descr="Docker Icon SVG Vector &amp; PNG Free Download | UXWing">
            <a:extLst>
              <a:ext uri="{FF2B5EF4-FFF2-40B4-BE49-F238E27FC236}">
                <a16:creationId xmlns:a16="http://schemas.microsoft.com/office/drawing/2014/main" id="{A20F8E21-E892-56FA-A2B8-1224319632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0720" y="21144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C8DEFED-0C0E-E434-6A9F-C0786F8D594A}"/>
              </a:ext>
            </a:extLst>
          </p:cNvPr>
          <p:cNvSpPr/>
          <p:nvPr/>
        </p:nvSpPr>
        <p:spPr>
          <a:xfrm>
            <a:off x="3242165" y="42209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44337D0-D788-3A10-74A0-A2CC02AE5213}"/>
              </a:ext>
            </a:extLst>
          </p:cNvPr>
          <p:cNvSpPr/>
          <p:nvPr/>
        </p:nvSpPr>
        <p:spPr>
          <a:xfrm>
            <a:off x="3338816" y="46586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D91D4CE-A29B-1DB7-4847-D6168A74B0F0}"/>
              </a:ext>
            </a:extLst>
          </p:cNvPr>
          <p:cNvSpPr/>
          <p:nvPr/>
        </p:nvSpPr>
        <p:spPr>
          <a:xfrm>
            <a:off x="4730053" y="46651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37B3A3-AE1C-643B-7EC5-F12FEC4CA562}"/>
              </a:ext>
            </a:extLst>
          </p:cNvPr>
          <p:cNvSpPr/>
          <p:nvPr/>
        </p:nvSpPr>
        <p:spPr>
          <a:xfrm>
            <a:off x="3339892" y="53215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28" name="Picture 2" descr="Docker Icon SVG Vector &amp; PNG Free Download | UXWing">
            <a:extLst>
              <a:ext uri="{FF2B5EF4-FFF2-40B4-BE49-F238E27FC236}">
                <a16:creationId xmlns:a16="http://schemas.microsoft.com/office/drawing/2014/main" id="{4BEBE535-FE3F-BCB2-76E2-DA8BD174F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7827" y="52189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82BAE79-82F7-8675-7E19-1FF8A06A5F0B}"/>
              </a:ext>
            </a:extLst>
          </p:cNvPr>
          <p:cNvSpPr/>
          <p:nvPr/>
        </p:nvSpPr>
        <p:spPr>
          <a:xfrm>
            <a:off x="6297988" y="4229713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A11557F-6B75-4BD9-86CA-38520FF5D924}"/>
              </a:ext>
            </a:extLst>
          </p:cNvPr>
          <p:cNvSpPr/>
          <p:nvPr/>
        </p:nvSpPr>
        <p:spPr>
          <a:xfrm>
            <a:off x="6394639" y="466743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6CA0BB-2AAC-F041-21F8-B35F72CCDDC0}"/>
              </a:ext>
            </a:extLst>
          </p:cNvPr>
          <p:cNvSpPr/>
          <p:nvPr/>
        </p:nvSpPr>
        <p:spPr>
          <a:xfrm>
            <a:off x="7785876" y="4673983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1183DA6-3788-8E59-9E6F-F8898FB09A98}"/>
              </a:ext>
            </a:extLst>
          </p:cNvPr>
          <p:cNvSpPr/>
          <p:nvPr/>
        </p:nvSpPr>
        <p:spPr>
          <a:xfrm>
            <a:off x="6395715" y="5330402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33" name="Picture 2" descr="Docker Icon SVG Vector &amp; PNG Free Download | UXWing">
            <a:extLst>
              <a:ext uri="{FF2B5EF4-FFF2-40B4-BE49-F238E27FC236}">
                <a16:creationId xmlns:a16="http://schemas.microsoft.com/office/drawing/2014/main" id="{68CBE2AD-484C-F4EC-E192-267B58D6D5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3650" y="5227715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3F91BF87-DD19-7E52-13A2-525B4BBE6A0A}"/>
              </a:ext>
            </a:extLst>
          </p:cNvPr>
          <p:cNvSpPr txBox="1"/>
          <p:nvPr/>
        </p:nvSpPr>
        <p:spPr>
          <a:xfrm>
            <a:off x="5340309" y="1140645"/>
            <a:ext cx="130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CustService</a:t>
            </a:r>
            <a:endParaRPr lang="en-US" b="1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F88ABD-3FCA-88BB-A772-00C461757CAD}"/>
              </a:ext>
            </a:extLst>
          </p:cNvPr>
          <p:cNvSpPr txBox="1"/>
          <p:nvPr/>
        </p:nvSpPr>
        <p:spPr>
          <a:xfrm>
            <a:off x="3938321" y="4245047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FABB01A-72A0-70D5-270C-8F0CE80EE1A1}"/>
              </a:ext>
            </a:extLst>
          </p:cNvPr>
          <p:cNvSpPr txBox="1"/>
          <p:nvPr/>
        </p:nvSpPr>
        <p:spPr>
          <a:xfrm>
            <a:off x="7042470" y="4235750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F09AB1-DDD8-3F98-87C5-31FDED2B200A}"/>
              </a:ext>
            </a:extLst>
          </p:cNvPr>
          <p:cNvSpPr txBox="1"/>
          <p:nvPr/>
        </p:nvSpPr>
        <p:spPr>
          <a:xfrm>
            <a:off x="7242567" y="670827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10.2.2.1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192.168.1.3</a:t>
            </a:r>
          </a:p>
        </p:txBody>
      </p:sp>
      <p:pic>
        <p:nvPicPr>
          <p:cNvPr id="3076" name="Picture 4" descr="Router-icon icon 512x512px (ico, png, icns) - free download | Icons101.com">
            <a:extLst>
              <a:ext uri="{FF2B5EF4-FFF2-40B4-BE49-F238E27FC236}">
                <a16:creationId xmlns:a16="http://schemas.microsoft.com/office/drawing/2014/main" id="{3312C3DD-CD1E-4D62-5E52-6E80E8F183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031" y="3407319"/>
            <a:ext cx="493173" cy="49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5FC1336-54F6-A356-37CD-8B4B934E6EFD}"/>
              </a:ext>
            </a:extLst>
          </p:cNvPr>
          <p:cNvCxnSpPr>
            <a:stCxn id="9" idx="2"/>
            <a:endCxn id="3076" idx="0"/>
          </p:cNvCxnSpPr>
          <p:nvPr/>
        </p:nvCxnSpPr>
        <p:spPr>
          <a:xfrm flipH="1">
            <a:off x="5944618" y="2850525"/>
            <a:ext cx="3" cy="55679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3E1A5D8-C39D-4112-3436-654CF6B1C797}"/>
              </a:ext>
            </a:extLst>
          </p:cNvPr>
          <p:cNvCxnSpPr>
            <a:cxnSpLocks/>
            <a:stCxn id="35" idx="0"/>
            <a:endCxn id="3076" idx="1"/>
          </p:cNvCxnSpPr>
          <p:nvPr/>
        </p:nvCxnSpPr>
        <p:spPr>
          <a:xfrm flipV="1">
            <a:off x="4681727" y="3653906"/>
            <a:ext cx="1016304" cy="5911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AA62C4F-6F5F-FA31-835B-D1CCE7466626}"/>
              </a:ext>
            </a:extLst>
          </p:cNvPr>
          <p:cNvCxnSpPr>
            <a:cxnSpLocks/>
            <a:stCxn id="29" idx="0"/>
            <a:endCxn id="3076" idx="3"/>
          </p:cNvCxnSpPr>
          <p:nvPr/>
        </p:nvCxnSpPr>
        <p:spPr>
          <a:xfrm flipH="1" flipV="1">
            <a:off x="6191204" y="3653906"/>
            <a:ext cx="1546347" cy="5758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4A3EF97C-CE20-CD9B-C361-884EF51FEF62}"/>
              </a:ext>
            </a:extLst>
          </p:cNvPr>
          <p:cNvSpPr txBox="1"/>
          <p:nvPr/>
        </p:nvSpPr>
        <p:spPr>
          <a:xfrm>
            <a:off x="3093362" y="316433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5B6405-9F62-AEAF-5417-8552A6A74063}"/>
              </a:ext>
            </a:extLst>
          </p:cNvPr>
          <p:cNvSpPr txBox="1"/>
          <p:nvPr/>
        </p:nvSpPr>
        <p:spPr>
          <a:xfrm>
            <a:off x="7042470" y="314767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192.168.1.5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D39AD14-B751-ED29-EB63-B7C8CCB18BFC}"/>
              </a:ext>
            </a:extLst>
          </p:cNvPr>
          <p:cNvGraphicFramePr>
            <a:graphicFrameLocks noGrp="1"/>
          </p:cNvGraphicFramePr>
          <p:nvPr/>
        </p:nvGraphicFramePr>
        <p:xfrm>
          <a:off x="142321" y="4319482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C062F504-2F37-9840-8E0A-19B9687D958C}"/>
              </a:ext>
            </a:extLst>
          </p:cNvPr>
          <p:cNvGraphicFramePr>
            <a:graphicFrameLocks noGrp="1"/>
          </p:cNvGraphicFramePr>
          <p:nvPr/>
        </p:nvGraphicFramePr>
        <p:xfrm>
          <a:off x="8693490" y="1194047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74B3764-79C3-57DB-9A71-373D3426726C}"/>
              </a:ext>
            </a:extLst>
          </p:cNvPr>
          <p:cNvGraphicFramePr>
            <a:graphicFrameLocks noGrp="1"/>
          </p:cNvGraphicFramePr>
          <p:nvPr/>
        </p:nvGraphicFramePr>
        <p:xfrm>
          <a:off x="9273764" y="3916838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A3B9A01C-D548-2968-9162-5FC67C0E9687}"/>
              </a:ext>
            </a:extLst>
          </p:cNvPr>
          <p:cNvCxnSpPr>
            <a:endCxn id="11" idx="3"/>
          </p:cNvCxnSpPr>
          <p:nvPr/>
        </p:nvCxnSpPr>
        <p:spPr>
          <a:xfrm rot="5400000" flipH="1" flipV="1">
            <a:off x="6708053" y="1985594"/>
            <a:ext cx="685163" cy="360495"/>
          </a:xfrm>
          <a:prstGeom prst="bentConnector4">
            <a:avLst>
              <a:gd name="adj1" fmla="val -1625"/>
              <a:gd name="adj2" fmla="val 163413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954B213-BD5D-4666-2556-5A42DABD5DD0}"/>
              </a:ext>
            </a:extLst>
          </p:cNvPr>
          <p:cNvSpPr txBox="1"/>
          <p:nvPr/>
        </p:nvSpPr>
        <p:spPr>
          <a:xfrm>
            <a:off x="7481910" y="2371545"/>
            <a:ext cx="3097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Dest IP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addr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: 10.22.2.2</a:t>
            </a:r>
          </a:p>
        </p:txBody>
      </p:sp>
    </p:spTree>
    <p:extLst>
      <p:ext uri="{BB962C8B-B14F-4D97-AF65-F5344CB8AC3E}">
        <p14:creationId xmlns:p14="http://schemas.microsoft.com/office/powerpoint/2010/main" val="812644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C5794-2EB0-BE4C-BB46-7178EC1EB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5AFE904-A620-F206-BD22-301D68682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92DF01-FDDF-B9CD-BE3E-F3A08C75EE09}"/>
              </a:ext>
            </a:extLst>
          </p:cNvPr>
          <p:cNvSpPr/>
          <p:nvPr/>
        </p:nvSpPr>
        <p:spPr>
          <a:xfrm>
            <a:off x="4505058" y="11164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4FADA5-CDB7-89F8-AD1C-F17AA597F515}"/>
              </a:ext>
            </a:extLst>
          </p:cNvPr>
          <p:cNvSpPr/>
          <p:nvPr/>
        </p:nvSpPr>
        <p:spPr>
          <a:xfrm>
            <a:off x="4601709" y="15541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E5D798-A002-6F20-0E42-673D58B4747B}"/>
              </a:ext>
            </a:extLst>
          </p:cNvPr>
          <p:cNvSpPr/>
          <p:nvPr/>
        </p:nvSpPr>
        <p:spPr>
          <a:xfrm>
            <a:off x="5992946" y="15606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B0EC03-4941-8E03-FD7B-52C779DD94FF}"/>
              </a:ext>
            </a:extLst>
          </p:cNvPr>
          <p:cNvSpPr/>
          <p:nvPr/>
        </p:nvSpPr>
        <p:spPr>
          <a:xfrm>
            <a:off x="4602785" y="22170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13" name="Picture 2" descr="Docker Icon SVG Vector &amp; PNG Free Download | UXWing">
            <a:extLst>
              <a:ext uri="{FF2B5EF4-FFF2-40B4-BE49-F238E27FC236}">
                <a16:creationId xmlns:a16="http://schemas.microsoft.com/office/drawing/2014/main" id="{9199EE8D-B48C-EB95-01A2-123B74C40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0720" y="21144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632991C6-88EA-9A4C-3F1E-38F50360AD74}"/>
              </a:ext>
            </a:extLst>
          </p:cNvPr>
          <p:cNvSpPr/>
          <p:nvPr/>
        </p:nvSpPr>
        <p:spPr>
          <a:xfrm>
            <a:off x="3242165" y="42209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00974A-2E5D-5F4E-382F-DBDDE877BB78}"/>
              </a:ext>
            </a:extLst>
          </p:cNvPr>
          <p:cNvSpPr/>
          <p:nvPr/>
        </p:nvSpPr>
        <p:spPr>
          <a:xfrm>
            <a:off x="3338816" y="46586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2CB3B0-6E1C-FB1D-8D5C-655166F7F634}"/>
              </a:ext>
            </a:extLst>
          </p:cNvPr>
          <p:cNvSpPr/>
          <p:nvPr/>
        </p:nvSpPr>
        <p:spPr>
          <a:xfrm>
            <a:off x="4730053" y="46651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1C8A78-F453-E9FA-DADD-F48F14A1CF9A}"/>
              </a:ext>
            </a:extLst>
          </p:cNvPr>
          <p:cNvSpPr/>
          <p:nvPr/>
        </p:nvSpPr>
        <p:spPr>
          <a:xfrm>
            <a:off x="3339892" y="53215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28" name="Picture 2" descr="Docker Icon SVG Vector &amp; PNG Free Download | UXWing">
            <a:extLst>
              <a:ext uri="{FF2B5EF4-FFF2-40B4-BE49-F238E27FC236}">
                <a16:creationId xmlns:a16="http://schemas.microsoft.com/office/drawing/2014/main" id="{5B1E923C-77A3-6070-C4C1-CCC10E4A1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7827" y="52189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1C1F914-7EB1-AE3F-E487-AD8AD2045263}"/>
              </a:ext>
            </a:extLst>
          </p:cNvPr>
          <p:cNvSpPr/>
          <p:nvPr/>
        </p:nvSpPr>
        <p:spPr>
          <a:xfrm>
            <a:off x="6297988" y="4229713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B8BB808-4970-3615-7ADF-0B946F2C6967}"/>
              </a:ext>
            </a:extLst>
          </p:cNvPr>
          <p:cNvSpPr/>
          <p:nvPr/>
        </p:nvSpPr>
        <p:spPr>
          <a:xfrm>
            <a:off x="6394639" y="466743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B0D4E2-E859-57BE-B42A-6196B0FE4D98}"/>
              </a:ext>
            </a:extLst>
          </p:cNvPr>
          <p:cNvSpPr/>
          <p:nvPr/>
        </p:nvSpPr>
        <p:spPr>
          <a:xfrm>
            <a:off x="7785876" y="4673983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8507DA9-AAD4-2709-97EF-7BF15549E926}"/>
              </a:ext>
            </a:extLst>
          </p:cNvPr>
          <p:cNvSpPr/>
          <p:nvPr/>
        </p:nvSpPr>
        <p:spPr>
          <a:xfrm>
            <a:off x="6395715" y="5330402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33" name="Picture 2" descr="Docker Icon SVG Vector &amp; PNG Free Download | UXWing">
            <a:extLst>
              <a:ext uri="{FF2B5EF4-FFF2-40B4-BE49-F238E27FC236}">
                <a16:creationId xmlns:a16="http://schemas.microsoft.com/office/drawing/2014/main" id="{30DAD143-6360-7F24-E584-4AF92C90F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3650" y="5227715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70C2633-41D6-A05B-0850-63650A6F47CF}"/>
              </a:ext>
            </a:extLst>
          </p:cNvPr>
          <p:cNvSpPr txBox="1"/>
          <p:nvPr/>
        </p:nvSpPr>
        <p:spPr>
          <a:xfrm>
            <a:off x="5340309" y="1140645"/>
            <a:ext cx="130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CustService</a:t>
            </a:r>
            <a:endParaRPr lang="en-US" b="1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C102BE0-3F7C-78EB-19B2-3DE6550DFE4D}"/>
              </a:ext>
            </a:extLst>
          </p:cNvPr>
          <p:cNvSpPr txBox="1"/>
          <p:nvPr/>
        </p:nvSpPr>
        <p:spPr>
          <a:xfrm>
            <a:off x="3938321" y="4245047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181794-84A9-5157-0D67-20304452BC0E}"/>
              </a:ext>
            </a:extLst>
          </p:cNvPr>
          <p:cNvSpPr txBox="1"/>
          <p:nvPr/>
        </p:nvSpPr>
        <p:spPr>
          <a:xfrm>
            <a:off x="7042470" y="4235750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4D5028C-5C07-69AE-EA33-826E46A1E2A7}"/>
              </a:ext>
            </a:extLst>
          </p:cNvPr>
          <p:cNvSpPr txBox="1"/>
          <p:nvPr/>
        </p:nvSpPr>
        <p:spPr>
          <a:xfrm>
            <a:off x="7242567" y="670827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10.2.2.1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192.168.1.3</a:t>
            </a:r>
          </a:p>
        </p:txBody>
      </p:sp>
      <p:pic>
        <p:nvPicPr>
          <p:cNvPr id="3076" name="Picture 4" descr="Router-icon icon 512x512px (ico, png, icns) - free download | Icons101.com">
            <a:extLst>
              <a:ext uri="{FF2B5EF4-FFF2-40B4-BE49-F238E27FC236}">
                <a16:creationId xmlns:a16="http://schemas.microsoft.com/office/drawing/2014/main" id="{7506815D-5C81-1088-A39C-C11CE626A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031" y="3407319"/>
            <a:ext cx="493173" cy="49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FA4F704-A8EF-9F84-C1BA-10E4752F61D5}"/>
              </a:ext>
            </a:extLst>
          </p:cNvPr>
          <p:cNvCxnSpPr>
            <a:stCxn id="9" idx="2"/>
            <a:endCxn id="3076" idx="0"/>
          </p:cNvCxnSpPr>
          <p:nvPr/>
        </p:nvCxnSpPr>
        <p:spPr>
          <a:xfrm flipH="1">
            <a:off x="5944618" y="2850525"/>
            <a:ext cx="3" cy="55679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6AC974D-2DFB-ACF9-1B33-5237908E5501}"/>
              </a:ext>
            </a:extLst>
          </p:cNvPr>
          <p:cNvCxnSpPr>
            <a:cxnSpLocks/>
            <a:stCxn id="35" idx="0"/>
            <a:endCxn id="3076" idx="1"/>
          </p:cNvCxnSpPr>
          <p:nvPr/>
        </p:nvCxnSpPr>
        <p:spPr>
          <a:xfrm flipV="1">
            <a:off x="4681727" y="3653906"/>
            <a:ext cx="1016304" cy="5911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57E3B3D-6303-BD1F-5E4C-923B73EE8C29}"/>
              </a:ext>
            </a:extLst>
          </p:cNvPr>
          <p:cNvCxnSpPr>
            <a:cxnSpLocks/>
            <a:stCxn id="29" idx="0"/>
            <a:endCxn id="3076" idx="3"/>
          </p:cNvCxnSpPr>
          <p:nvPr/>
        </p:nvCxnSpPr>
        <p:spPr>
          <a:xfrm flipH="1" flipV="1">
            <a:off x="6191204" y="3653906"/>
            <a:ext cx="1546347" cy="5758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CB7FF06-4C6F-E537-C457-01A8DF65080E}"/>
              </a:ext>
            </a:extLst>
          </p:cNvPr>
          <p:cNvSpPr txBox="1"/>
          <p:nvPr/>
        </p:nvSpPr>
        <p:spPr>
          <a:xfrm>
            <a:off x="3093362" y="316433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51DB92-42AA-9D0F-9581-6F632B748E1D}"/>
              </a:ext>
            </a:extLst>
          </p:cNvPr>
          <p:cNvSpPr txBox="1"/>
          <p:nvPr/>
        </p:nvSpPr>
        <p:spPr>
          <a:xfrm>
            <a:off x="7042470" y="314767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192.168.1.5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BACB079-0798-9696-B9CE-50FCBE911FEE}"/>
              </a:ext>
            </a:extLst>
          </p:cNvPr>
          <p:cNvGraphicFramePr>
            <a:graphicFrameLocks noGrp="1"/>
          </p:cNvGraphicFramePr>
          <p:nvPr/>
        </p:nvGraphicFramePr>
        <p:xfrm>
          <a:off x="142321" y="4319482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FE53AF54-2900-1D3F-4502-5A0ED15F9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1290504"/>
              </p:ext>
            </p:extLst>
          </p:nvPr>
        </p:nvGraphicFramePr>
        <p:xfrm>
          <a:off x="8693490" y="1194047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878D2C-5FE2-7AFB-E066-08A6E0EEE4EF}"/>
              </a:ext>
            </a:extLst>
          </p:cNvPr>
          <p:cNvGraphicFramePr>
            <a:graphicFrameLocks noGrp="1"/>
          </p:cNvGraphicFramePr>
          <p:nvPr/>
        </p:nvGraphicFramePr>
        <p:xfrm>
          <a:off x="9273764" y="3916838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345F53A8-6ADD-366A-3F0B-9C4915EE0A4D}"/>
              </a:ext>
            </a:extLst>
          </p:cNvPr>
          <p:cNvCxnSpPr>
            <a:cxnSpLocks/>
            <a:stCxn id="11" idx="3"/>
            <a:endCxn id="17" idx="1"/>
          </p:cNvCxnSpPr>
          <p:nvPr/>
        </p:nvCxnSpPr>
        <p:spPr>
          <a:xfrm flipV="1">
            <a:off x="7230882" y="1699507"/>
            <a:ext cx="1462608" cy="123752"/>
          </a:xfrm>
          <a:prstGeom prst="bentConnector3">
            <a:avLst>
              <a:gd name="adj1" fmla="val 50000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F79B5C6-FB3B-2CF9-CDE7-50CB113953F3}"/>
              </a:ext>
            </a:extLst>
          </p:cNvPr>
          <p:cNvSpPr txBox="1"/>
          <p:nvPr/>
        </p:nvSpPr>
        <p:spPr>
          <a:xfrm>
            <a:off x="7461215" y="1876440"/>
            <a:ext cx="769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cs typeface="Calibri" panose="020F0502020204030204" pitchFamily="34" charset="0"/>
              </a:rPr>
              <a:t>Query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9082BA-C1BA-7AD4-236E-FED226E15FC0}"/>
              </a:ext>
            </a:extLst>
          </p:cNvPr>
          <p:cNvSpPr/>
          <p:nvPr/>
        </p:nvSpPr>
        <p:spPr>
          <a:xfrm>
            <a:off x="9700055" y="1560677"/>
            <a:ext cx="1322173" cy="366463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636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7E7A0-F0CF-8A23-0CF2-27C7BFB12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9A8E979-24C2-CC97-D87A-28E7719DE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networking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5813A7-6DF9-8330-2FF9-174F2644DFAF}"/>
              </a:ext>
            </a:extLst>
          </p:cNvPr>
          <p:cNvSpPr/>
          <p:nvPr/>
        </p:nvSpPr>
        <p:spPr>
          <a:xfrm>
            <a:off x="4505058" y="11164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C93E8C-1A5E-A299-6126-8313BA19F611}"/>
              </a:ext>
            </a:extLst>
          </p:cNvPr>
          <p:cNvSpPr/>
          <p:nvPr/>
        </p:nvSpPr>
        <p:spPr>
          <a:xfrm>
            <a:off x="4601709" y="15541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081A9A-9B6C-B25E-3A15-DF97467916D0}"/>
              </a:ext>
            </a:extLst>
          </p:cNvPr>
          <p:cNvSpPr/>
          <p:nvPr/>
        </p:nvSpPr>
        <p:spPr>
          <a:xfrm>
            <a:off x="5992946" y="15606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FF630D-D3CA-F822-F0DF-4321EFA4CD19}"/>
              </a:ext>
            </a:extLst>
          </p:cNvPr>
          <p:cNvSpPr/>
          <p:nvPr/>
        </p:nvSpPr>
        <p:spPr>
          <a:xfrm>
            <a:off x="4602785" y="22170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13" name="Picture 2" descr="Docker Icon SVG Vector &amp; PNG Free Download | UXWing">
            <a:extLst>
              <a:ext uri="{FF2B5EF4-FFF2-40B4-BE49-F238E27FC236}">
                <a16:creationId xmlns:a16="http://schemas.microsoft.com/office/drawing/2014/main" id="{7FA5B5E9-7C6D-A4B6-8612-87D1F6DB28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0720" y="21144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65CE316-F5F0-DE33-F750-9F69EB3D2B5E}"/>
              </a:ext>
            </a:extLst>
          </p:cNvPr>
          <p:cNvSpPr/>
          <p:nvPr/>
        </p:nvSpPr>
        <p:spPr>
          <a:xfrm>
            <a:off x="3242165" y="4220907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D0C3DC-C586-49C5-D242-BC750715DC3B}"/>
              </a:ext>
            </a:extLst>
          </p:cNvPr>
          <p:cNvSpPr/>
          <p:nvPr/>
        </p:nvSpPr>
        <p:spPr>
          <a:xfrm>
            <a:off x="3338816" y="4658630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71DFAFA-8C79-84F6-60E6-9AAB26E63563}"/>
              </a:ext>
            </a:extLst>
          </p:cNvPr>
          <p:cNvSpPr/>
          <p:nvPr/>
        </p:nvSpPr>
        <p:spPr>
          <a:xfrm>
            <a:off x="4730053" y="4665177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AB9F14-B75E-0A22-09E7-F502400D0CD1}"/>
              </a:ext>
            </a:extLst>
          </p:cNvPr>
          <p:cNvSpPr/>
          <p:nvPr/>
        </p:nvSpPr>
        <p:spPr>
          <a:xfrm>
            <a:off x="3339892" y="532159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28" name="Picture 2" descr="Docker Icon SVG Vector &amp; PNG Free Download | UXWing">
            <a:extLst>
              <a:ext uri="{FF2B5EF4-FFF2-40B4-BE49-F238E27FC236}">
                <a16:creationId xmlns:a16="http://schemas.microsoft.com/office/drawing/2014/main" id="{6BB72E20-65F9-52CD-0DC7-A4A7C093A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7827" y="5218909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E11A58E0-ECD8-162D-6E30-25FEFE4DDE33}"/>
              </a:ext>
            </a:extLst>
          </p:cNvPr>
          <p:cNvSpPr/>
          <p:nvPr/>
        </p:nvSpPr>
        <p:spPr>
          <a:xfrm>
            <a:off x="6297988" y="4229713"/>
            <a:ext cx="2879125" cy="17341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B8B8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AF57915-F730-A2D9-326A-7A3161A14BFB}"/>
              </a:ext>
            </a:extLst>
          </p:cNvPr>
          <p:cNvSpPr/>
          <p:nvPr/>
        </p:nvSpPr>
        <p:spPr>
          <a:xfrm>
            <a:off x="6394639" y="4667436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Kubelet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832399-3785-01A8-F058-A9DCFBB95CB2}"/>
              </a:ext>
            </a:extLst>
          </p:cNvPr>
          <p:cNvSpPr/>
          <p:nvPr/>
        </p:nvSpPr>
        <p:spPr>
          <a:xfrm>
            <a:off x="7785876" y="4673983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kube</a:t>
            </a:r>
            <a:r>
              <a:rPr lang="en-US" dirty="0">
                <a:solidFill>
                  <a:schemeClr val="bg1"/>
                </a:solidFill>
              </a:rPr>
              <a:t>-proxy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1CC0A8E-DDAE-EB5D-3A15-F827272581E4}"/>
              </a:ext>
            </a:extLst>
          </p:cNvPr>
          <p:cNvSpPr/>
          <p:nvPr/>
        </p:nvSpPr>
        <p:spPr>
          <a:xfrm>
            <a:off x="6395715" y="5330402"/>
            <a:ext cx="1237936" cy="525163"/>
          </a:xfrm>
          <a:prstGeom prst="rect">
            <a:avLst/>
          </a:prstGeom>
          <a:ln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Container Runtime</a:t>
            </a:r>
          </a:p>
        </p:txBody>
      </p:sp>
      <p:pic>
        <p:nvPicPr>
          <p:cNvPr id="33" name="Picture 2" descr="Docker Icon SVG Vector &amp; PNG Free Download | UXWing">
            <a:extLst>
              <a:ext uri="{FF2B5EF4-FFF2-40B4-BE49-F238E27FC236}">
                <a16:creationId xmlns:a16="http://schemas.microsoft.com/office/drawing/2014/main" id="{6B677D97-9E7D-9E3F-E2F1-7CD03CF7C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3650" y="5227715"/>
            <a:ext cx="699667" cy="699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1D9DF7F-E014-E295-EF6B-F6CFBC47FE59}"/>
              </a:ext>
            </a:extLst>
          </p:cNvPr>
          <p:cNvSpPr txBox="1"/>
          <p:nvPr/>
        </p:nvSpPr>
        <p:spPr>
          <a:xfrm>
            <a:off x="5340309" y="1140645"/>
            <a:ext cx="1305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CustService</a:t>
            </a:r>
            <a:endParaRPr lang="en-US" b="1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A23420-DD89-99E9-6217-B446542ED775}"/>
              </a:ext>
            </a:extLst>
          </p:cNvPr>
          <p:cNvSpPr txBox="1"/>
          <p:nvPr/>
        </p:nvSpPr>
        <p:spPr>
          <a:xfrm>
            <a:off x="3938321" y="4245047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FC8734-C4F9-9B86-DDFE-6DAB96C20C4F}"/>
              </a:ext>
            </a:extLst>
          </p:cNvPr>
          <p:cNvSpPr txBox="1"/>
          <p:nvPr/>
        </p:nvSpPr>
        <p:spPr>
          <a:xfrm>
            <a:off x="7042470" y="4235750"/>
            <a:ext cx="1486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err="1"/>
              <a:t>OrderService</a:t>
            </a:r>
            <a:endParaRPr lang="en-US" b="1" i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FA68BE-283C-3C91-7B1D-788E4D3FBF9B}"/>
              </a:ext>
            </a:extLst>
          </p:cNvPr>
          <p:cNvSpPr txBox="1"/>
          <p:nvPr/>
        </p:nvSpPr>
        <p:spPr>
          <a:xfrm>
            <a:off x="7242567" y="670827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10.2.2.1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192.168.1.3</a:t>
            </a:r>
          </a:p>
        </p:txBody>
      </p:sp>
      <p:pic>
        <p:nvPicPr>
          <p:cNvPr id="3076" name="Picture 4" descr="Router-icon icon 512x512px (ico, png, icns) - free download | Icons101.com">
            <a:extLst>
              <a:ext uri="{FF2B5EF4-FFF2-40B4-BE49-F238E27FC236}">
                <a16:creationId xmlns:a16="http://schemas.microsoft.com/office/drawing/2014/main" id="{8E6B2F90-57BA-0212-08FE-85C283D68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031" y="3407319"/>
            <a:ext cx="493173" cy="49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BE1FA44-5B37-ECB5-D5FC-5CDD3354B8F5}"/>
              </a:ext>
            </a:extLst>
          </p:cNvPr>
          <p:cNvCxnSpPr>
            <a:stCxn id="9" idx="2"/>
            <a:endCxn id="3076" idx="0"/>
          </p:cNvCxnSpPr>
          <p:nvPr/>
        </p:nvCxnSpPr>
        <p:spPr>
          <a:xfrm flipH="1">
            <a:off x="5944618" y="2850525"/>
            <a:ext cx="3" cy="55679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A1D3C69-1F76-CAE7-8975-EDDFB1C9F24D}"/>
              </a:ext>
            </a:extLst>
          </p:cNvPr>
          <p:cNvCxnSpPr>
            <a:cxnSpLocks/>
            <a:stCxn id="35" idx="0"/>
            <a:endCxn id="3076" idx="1"/>
          </p:cNvCxnSpPr>
          <p:nvPr/>
        </p:nvCxnSpPr>
        <p:spPr>
          <a:xfrm flipV="1">
            <a:off x="4681727" y="3653906"/>
            <a:ext cx="1016304" cy="59114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FA83E3-F84D-73A3-B2FC-EAEF42C42F3B}"/>
              </a:ext>
            </a:extLst>
          </p:cNvPr>
          <p:cNvCxnSpPr>
            <a:cxnSpLocks/>
            <a:stCxn id="29" idx="0"/>
            <a:endCxn id="3076" idx="3"/>
          </p:cNvCxnSpPr>
          <p:nvPr/>
        </p:nvCxnSpPr>
        <p:spPr>
          <a:xfrm flipH="1" flipV="1">
            <a:off x="6191204" y="3653906"/>
            <a:ext cx="1546347" cy="57580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BEC31F8-D723-D1C8-E09D-3718E6D8C925}"/>
              </a:ext>
            </a:extLst>
          </p:cNvPr>
          <p:cNvSpPr txBox="1"/>
          <p:nvPr/>
        </p:nvSpPr>
        <p:spPr>
          <a:xfrm>
            <a:off x="3093362" y="316433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3FBB1BC-A8A8-706E-AA5C-5FB5782E527D}"/>
              </a:ext>
            </a:extLst>
          </p:cNvPr>
          <p:cNvSpPr txBox="1"/>
          <p:nvPr/>
        </p:nvSpPr>
        <p:spPr>
          <a:xfrm>
            <a:off x="7042470" y="3147678"/>
            <a:ext cx="20730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 panose="020B0609020204030204" pitchFamily="49" charset="0"/>
                <a:cs typeface="Consolas" panose="020B0609020204030204" pitchFamily="49" charset="0"/>
              </a:rPr>
              <a:t>ServiceIP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: 10.2.2.2</a:t>
            </a:r>
            <a:b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Pod IP: 192.168.1.5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D66FBA1-10AE-2CA4-2C08-9CF4EFECE21D}"/>
              </a:ext>
            </a:extLst>
          </p:cNvPr>
          <p:cNvGraphicFramePr>
            <a:graphicFrameLocks noGrp="1"/>
          </p:cNvGraphicFramePr>
          <p:nvPr/>
        </p:nvGraphicFramePr>
        <p:xfrm>
          <a:off x="142321" y="4319482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59990B7-9876-700C-F919-D16BBB42D717}"/>
              </a:ext>
            </a:extLst>
          </p:cNvPr>
          <p:cNvGraphicFramePr>
            <a:graphicFrameLocks noGrp="1"/>
          </p:cNvGraphicFramePr>
          <p:nvPr/>
        </p:nvGraphicFramePr>
        <p:xfrm>
          <a:off x="8693490" y="1194047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F29CBEC-8B62-D2D6-91C6-732658579454}"/>
              </a:ext>
            </a:extLst>
          </p:cNvPr>
          <p:cNvGraphicFramePr>
            <a:graphicFrameLocks noGrp="1"/>
          </p:cNvGraphicFramePr>
          <p:nvPr/>
        </p:nvGraphicFramePr>
        <p:xfrm>
          <a:off x="9273764" y="3916838"/>
          <a:ext cx="2848417" cy="1010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63134">
                  <a:extLst>
                    <a:ext uri="{9D8B030D-6E8A-4147-A177-3AD203B41FA5}">
                      <a16:colId xmlns:a16="http://schemas.microsoft.com/office/drawing/2014/main" val="3748879729"/>
                    </a:ext>
                  </a:extLst>
                </a:gridCol>
                <a:gridCol w="1885283">
                  <a:extLst>
                    <a:ext uri="{9D8B030D-6E8A-4147-A177-3AD203B41FA5}">
                      <a16:colId xmlns:a16="http://schemas.microsoft.com/office/drawing/2014/main" val="20830362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10.2.2.1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192.168.1.3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955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10.2.2.2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192.168.1.4, 192.168.1.5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127359"/>
                  </a:ext>
                </a:extLst>
              </a:tr>
            </a:tbl>
          </a:graphicData>
        </a:graphic>
      </p:graphicFrame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E235CA10-5E07-C1FD-B41F-54BD9A79A19B}"/>
              </a:ext>
            </a:extLst>
          </p:cNvPr>
          <p:cNvCxnSpPr>
            <a:cxnSpLocks/>
            <a:stCxn id="11" idx="3"/>
            <a:endCxn id="3076" idx="0"/>
          </p:cNvCxnSpPr>
          <p:nvPr/>
        </p:nvCxnSpPr>
        <p:spPr>
          <a:xfrm flipH="1">
            <a:off x="5944618" y="1823259"/>
            <a:ext cx="1286264" cy="1584060"/>
          </a:xfrm>
          <a:prstGeom prst="bentConnector4">
            <a:avLst>
              <a:gd name="adj1" fmla="val -17772"/>
              <a:gd name="adj2" fmla="val 58288"/>
            </a:avLst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5C13A6B-6B8C-D755-991B-C94A6B937D1B}"/>
              </a:ext>
            </a:extLst>
          </p:cNvPr>
          <p:cNvSpPr txBox="1"/>
          <p:nvPr/>
        </p:nvSpPr>
        <p:spPr>
          <a:xfrm>
            <a:off x="7488080" y="2382993"/>
            <a:ext cx="3350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Dest IP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addr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: 192.168.1.4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4E8BBC9-F277-4FBB-7D68-2B6718A56861}"/>
              </a:ext>
            </a:extLst>
          </p:cNvPr>
          <p:cNvCxnSpPr>
            <a:cxnSpLocks/>
            <a:stCxn id="3076" idx="1"/>
            <a:endCxn id="35" idx="0"/>
          </p:cNvCxnSpPr>
          <p:nvPr/>
        </p:nvCxnSpPr>
        <p:spPr>
          <a:xfrm flipH="1">
            <a:off x="4681727" y="3653906"/>
            <a:ext cx="1016304" cy="591141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9596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562D3D-7850-6AE1-EA38-1AB33599B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Autoscaling: supports HPA (Horizontal Pod </a:t>
            </a:r>
            <a:r>
              <a:rPr lang="en-US" dirty="0" err="1"/>
              <a:t>Autoscaler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Monitors CPU/memory utilization</a:t>
            </a:r>
          </a:p>
          <a:p>
            <a:pPr lvl="1"/>
            <a:r>
              <a:rPr lang="en-US" dirty="0"/>
              <a:t>Increases the replica count when threshold reached</a:t>
            </a:r>
          </a:p>
          <a:p>
            <a:r>
              <a:rPr lang="en-US" dirty="0"/>
              <a:t>Custom network fast-paths</a:t>
            </a:r>
          </a:p>
          <a:p>
            <a:pPr lvl="1"/>
            <a:r>
              <a:rPr lang="en-US" dirty="0"/>
              <a:t>CNI controls pod networking + routing</a:t>
            </a:r>
          </a:p>
          <a:p>
            <a:pPr lvl="1"/>
            <a:r>
              <a:rPr lang="en-US" dirty="0" err="1"/>
              <a:t>eBPF</a:t>
            </a:r>
            <a:r>
              <a:rPr lang="en-US" dirty="0"/>
              <a:t>-based CNIs can avoid iptables for lower overhead</a:t>
            </a:r>
            <a:endParaRPr lang="en-US" b="1" i="1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BB0521-5496-5496-5DF0-B545E244E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features</a:t>
            </a:r>
          </a:p>
        </p:txBody>
      </p:sp>
    </p:spTree>
    <p:extLst>
      <p:ext uri="{BB962C8B-B14F-4D97-AF65-F5344CB8AC3E}">
        <p14:creationId xmlns:p14="http://schemas.microsoft.com/office/powerpoint/2010/main" val="36799614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EDF0E-3837-B1B5-157A-884B32C76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A8C2D8B-4A71-EE5B-7E0B-F31486C58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Kubernetes automates deployment, scaling, and management of containerized applications across clusters of machines</a:t>
            </a:r>
          </a:p>
          <a:p>
            <a:r>
              <a:rPr lang="en-US" dirty="0"/>
              <a:t>Pods are the unit of deployment and scaling</a:t>
            </a:r>
          </a:p>
          <a:p>
            <a:r>
              <a:rPr lang="en-US" dirty="0"/>
              <a:t>Control plane manages desired state, and the worker nodes execute them</a:t>
            </a:r>
          </a:p>
          <a:p>
            <a:r>
              <a:rPr lang="en-US" dirty="0"/>
              <a:t>Has built-in fault tolerance and resilience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8033963-3A43-3A7C-36F1-B6CBE5B1C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Kubernetes summary</a:t>
            </a:r>
          </a:p>
        </p:txBody>
      </p:sp>
    </p:spTree>
    <p:extLst>
      <p:ext uri="{BB962C8B-B14F-4D97-AF65-F5344CB8AC3E}">
        <p14:creationId xmlns:p14="http://schemas.microsoft.com/office/powerpoint/2010/main" val="1519308599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33077</TotalTime>
  <Words>2787</Words>
  <Application>Microsoft Macintosh PowerPoint</Application>
  <PresentationFormat>Widescreen</PresentationFormat>
  <Paragraphs>680</Paragraphs>
  <Slides>43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Modern application deployment</vt:lpstr>
      <vt:lpstr>Online shop microservices</vt:lpstr>
      <vt:lpstr>Automated cluster management</vt:lpstr>
      <vt:lpstr>Cluster management requirements</vt:lpstr>
      <vt:lpstr>Kubernetes: goal &amp; history</vt:lpstr>
      <vt:lpstr>PowerPoint Presentation</vt:lpstr>
      <vt:lpstr>What is a virtual machine?</vt:lpstr>
      <vt:lpstr>What is a virtual machine?</vt:lpstr>
      <vt:lpstr>What is a virtual machine?</vt:lpstr>
      <vt:lpstr>What is a container?</vt:lpstr>
      <vt:lpstr>What is a container?</vt:lpstr>
      <vt:lpstr>Tradeoffs</vt:lpstr>
      <vt:lpstr>Docker containers</vt:lpstr>
      <vt:lpstr>Sample Dockerfile</vt:lpstr>
      <vt:lpstr>Docker: the container runtime</vt:lpstr>
      <vt:lpstr>CI/CD</vt:lpstr>
      <vt:lpstr>PowerPoint Presentation</vt:lpstr>
      <vt:lpstr>Kubernetes overview</vt:lpstr>
      <vt:lpstr>App descriptor </vt:lpstr>
      <vt:lpstr>The pod abstraction</vt:lpstr>
      <vt:lpstr>The pod abstraction</vt:lpstr>
      <vt:lpstr>Kubernetes components</vt:lpstr>
      <vt:lpstr>Pod lifecycle</vt:lpstr>
      <vt:lpstr>Pod lifecycle</vt:lpstr>
      <vt:lpstr>Pod lifecycle</vt:lpstr>
      <vt:lpstr>Pod lifecycle</vt:lpstr>
      <vt:lpstr>Pod lifecycle</vt:lpstr>
      <vt:lpstr>Pod lifecycle</vt:lpstr>
      <vt:lpstr>Cluster management requirements</vt:lpstr>
      <vt:lpstr>Label-based scheduling</vt:lpstr>
      <vt:lpstr>Label-based scheduling</vt:lpstr>
      <vt:lpstr>Fault tolerance</vt:lpstr>
      <vt:lpstr>Liveness probes</vt:lpstr>
      <vt:lpstr>Cluster management requirements</vt:lpstr>
      <vt:lpstr>Kubernetes networking</vt:lpstr>
      <vt:lpstr>Kubernetes networking</vt:lpstr>
      <vt:lpstr>Kubernetes networking</vt:lpstr>
      <vt:lpstr>Kubernetes networking</vt:lpstr>
      <vt:lpstr>Kubernetes networking</vt:lpstr>
      <vt:lpstr>Kubernetes networking</vt:lpstr>
      <vt:lpstr>Additional features</vt:lpstr>
      <vt:lpstr>Kubernetes summary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3517</cp:revision>
  <dcterms:created xsi:type="dcterms:W3CDTF">2019-06-30T03:25:06Z</dcterms:created>
  <dcterms:modified xsi:type="dcterms:W3CDTF">2026-02-25T16:42:09Z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